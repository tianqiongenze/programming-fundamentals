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W07 · 第13次课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用容器装下整条产线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1.1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1859026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1859026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工业数据格式转换工具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287748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28774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本节（上）：基础实现 · 概念打底 + D/C层保底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车间数据格式混杂(报文/CSV/JSON)，上位系统无法使用。开发标准化转换工具（六步法启动周）。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课程定位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COURSE MAP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这门课站在哪：定位与出路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四年后你手里的证书与岗位，都从这门课出发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课程性质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专业核心基础课：零基础新生的编程第一课（模块0-2贯通）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371600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371600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6179" y="1517904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面向岗位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6179" y="1938528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工业数据采集技术员 / 边缘计算运维 / 平台运维员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" y="3456432"/>
            <a:ext cx="64008" cy="1920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对接证书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Python开发（工信部）· AI应用实践 · 企业应用实施工程师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0147" y="3456432"/>
            <a:ext cx="5506059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0147" y="3456432"/>
            <a:ext cx="64008" cy="1920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6179" y="3602736"/>
            <a:ext cx="50488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477D"/>
                </a:solidFill>
                <a:latin typeface="Microsoft YaHei"/>
                <a:ea typeface="Microsoft YaHei"/>
              </a:rPr>
              <a:t>课程衔接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6179" y="4023360"/>
            <a:ext cx="4993995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833"/>
                </a:solidFill>
                <a:latin typeface="Microsoft YaHei"/>
                <a:ea typeface="Microsoft YaHei"/>
              </a:rPr>
              <a:t>前：计算机文化基础 → 本课12周 → 后：AI应用基础/项目实战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5468112"/>
            <a:ext cx="1124071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4944" y="5559552"/>
            <a:ext cx="54864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本课程路线图（当前周高亮）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494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开发环境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95094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595094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条件判断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9524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9524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W3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循环结构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95395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5395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W4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类与对象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554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554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W5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继承与多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95696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95696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W6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异常处理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5847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5847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W7</a:t>
            </a:r>
            <a:r>
              <a:rPr sz="800" b="0">
                <a:solidFill>
                  <a:srgbClr val="F0E6D8"/>
                </a:solidFill>
                <a:latin typeface="Microsoft YaHei"/>
                <a:ea typeface="Microsoft YaHei"/>
              </a:rPr>
              <a:t>
容器与字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99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99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W8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文件I/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96148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96148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W9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jieb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79629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79629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W10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Pill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96449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96449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W11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网络编程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96600" y="5888736"/>
            <a:ext cx="863574" cy="365760"/>
          </a:xfrm>
          <a:prstGeom prst="roundRect">
            <a:avLst>
              <a:gd name="adj" fmla="val 18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6600" y="5888736"/>
            <a:ext cx="86357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W12</a:t>
            </a:r>
            <a:r>
              <a:rPr sz="800" b="0">
                <a:solidFill>
                  <a:srgbClr val="D8E1EC"/>
                </a:solidFill>
                <a:latin typeface="Microsoft YaHei"/>
                <a:ea typeface="Microsoft YaHei"/>
              </a:rPr>
              <a:t>
综合项目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剧情情境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738541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738541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SCENARIO · 两江智造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车间今天发生了什么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连续剧情 · 你（小郑）的第13次出场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34633"/>
            <a:ext cx="4261104" cy="3268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62065"/>
            <a:ext cx="4206240" cy="321383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910328" y="1417320"/>
            <a:ext cx="6805879" cy="2423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10328" y="1417320"/>
            <a:ext cx="6805879" cy="914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1691640"/>
            <a:ext cx="6257239" cy="1920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1C2833"/>
                </a:solidFill>
                <a:latin typeface="Microsoft YaHei"/>
                <a:ea typeface="Microsoft YaHei"/>
              </a:rPr>
              <a:t>车间数据格式混杂(报文/CSV/JSON)，上位系统无法使用。开发标准化转换工具（六步法启动周）。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10328" y="4005072"/>
            <a:ext cx="6805879" cy="16002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38928" y="4160520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38928" y="4160520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本课工单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133088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1.1 · 工业数据格式转换工具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8" y="4636008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4636008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608576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正则解析报文串DEV-01:temp=56.3C;...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8928" y="5111496"/>
            <a:ext cx="96012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38928" y="5111496"/>
            <a:ext cx="96012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交付要点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084064"/>
            <a:ext cx="520567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CSV行/JSON串解析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38928" y="5303520"/>
            <a:ext cx="1280160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5D6D7E"/>
                </a:solidFill>
                <a:latin typeface="Microsoft YaHei"/>
                <a:ea typeface="Microsoft YaHei"/>
              </a:rPr>
              <a:t>出场人物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8776" y="5266944"/>
            <a:ext cx="71475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08776" y="5266944"/>
            <a:ext cx="71475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王主任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3260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33260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李姐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3124" y="5266944"/>
            <a:ext cx="58013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3124" y="5266944"/>
            <a:ext cx="58013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小郑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掌握列表、字典、集合的特性和基本操作；掌握字符串常用方法与正则表达式基础语法。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能够使用正则从工业报文中提取关键信息并用容器组织数据；能够完成≥2种数据格式的转换；代码规范率≥75%。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体会“选择合适数据结构”对程序清晰度的影响，培养数据组织的设计意识。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1.正则解析报文串DE…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299006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29900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2.CSV行/JSON…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64632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64632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3.统一转标准字典结构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本章聚焦：容器与正则——重点： · 列表与字典的操作与遍历；正则表达式…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列表与字典选型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("列表按下标0,1,2…排队、字典按键哈希直达——要'顺序遍历一…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集合与元组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('集合是无序不重复容器（交并差集天然支持），元组是不可变序列（能…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正则八积木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('正则八积木：\\d数字 \\w字母数字 \\s空白 .任意 […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B01 列表与字典选型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列表=点名册(有序可重复)；字典=查号台(按键秒查O(1))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原理：列表按下标0,1,2…排队、字典按键哈希直达——要'顺序遍历一组'选列表，要'按名字秒查一台'选字典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设备清单用列表；'编号→温度'台账用字典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怎么判断：十台设备顺序巡检→列表；按设备号秒查状态→字典；只append不按下标改的流式记录→列表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devs=['PUMP-03','FAN-02']; t={'PUMP-03':78.5}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逐行看：devices.append(d) 队尾追加；by_id={'P3':d} 建索引；by_id['P3'] 一步直达O(1)——列表找'P3'要扫全队O(n)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选型口诀：按顺序用列表按名字找用字典——选错全程序别扭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进阶：集合set治去重（十万个报文号秒去重）；元组tuple做不可变配置；collections.Counter一行统计频次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列表与字典选型：一张图看懂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624889"/>
            <a:ext cx="7278624" cy="323331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6d8f7bb2c87d15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652321"/>
            <a:ext cx="7223760" cy="317845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四个名字四个值：换值即换型（动态类型）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贴标签顺序任意，但先用必先贴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追问：选型口诀：按顺序用列表按名字找用字典——选错全程序别扭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一句话：列表=点名册(有序可重复)；字典=查号台(按键秒查O(1))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何时用：设备清单用列表；'编号→温度'台账用字典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B02 集合与元组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集合=去重筐(无序)；元组=封条箱子(装好不许改)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原理：集合是无序不重复容器（交并差集天然支持），元组是不可变序列（能当字典键、能安全多处传递）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设备类型去重；坐标/配置等只读数据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怎么判断：去重、求两批工单号的交集/差集→集合；坐标点、配置常量这类'定了就不该变'的→元组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set(['PUMP','PUMP','FAN'])→{'PUMP','FAN'}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逐行看：set(a)&amp;set(b) 交集即两批共有；cfg=('192.168.1.10',502) 元组存配置防误改——元组没有append，改它就报错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误区：元组作字典键可以列表不行——可变对象不可哈希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进阶：frozenset可哈希能当字典键；namedtuple('Point','x y')给元组字段命名——兼得元组轻量与字典可读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集合与元组：一张图看懂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092" y="1362456"/>
            <a:ext cx="7014551" cy="37581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1617a6ec1c8db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24" y="1389888"/>
            <a:ext cx="6959687" cy="3703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一张图纸可造多台设备（实例化）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属性=铭牌；方法=操作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追问：误区：元组作字典键可以列表不行——可变对象不可哈希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一句话：集合=去重筐(无序)；元组=封条箱子(装好不许改)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何时用：设备类型去重；坐标/配置等只读数据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B03 正则八积木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正则=给文本画的'通缉画像'：\d数字\w字符+至少1 []任选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原理：正则八积木：\d数字 \w字母数字 \s空白 .任意 [abc]字符集 {m,n}重复 ^行首 $行尾——积木拼出模式串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从日志里抠设备编号/温度——字符串里的寻人启事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怎么判断：从杂乱报文里抠出温度/编号/时间这类'有形状的片段'——文本字段比JSON裸奔的现场日志就用它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r'DEV-\d+' 一眼匹配 DEV-001/DEV-002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逐行看：r'(\d+)℃' 抓'数字+℃'；r'PUMP-(\d{2})' 抓两位泵号；r'^\d{4}-\d{2}-\d{2}' 行首日期——括号()捕获组取出具体值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误区：想一次写出完美正则——先匹配简单版再逐步收紧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进阶：regex101.com在线可视化调试（课堂上现场演示）；预编译p=re.compile(pat)后p.findall复用更快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正则八积木：一张图看懂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e7f02144134be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追问：误区：想一次写出完美正则——先匹配简单版再逐步收紧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一句话：正则=给文本画的'通缉画像'：\d数字\w字符+至少1 []任选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何时用：从日志里抠设备编号/温度——字符串里的寻人启事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本章聚焦：容器与正则——重点： · 列表与字典的操作与遍历；正则表达式…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报文正则解析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import 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正则解析报文键值对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正则解析报文键值对——应用：见工单starter与教师参考实现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CSV/JSON双格式…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CSV/JSON双格式解析——应用：见工单starter与教师参考…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三格式统一映射标准结构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三格式统一映射标准结构——应用：见工单starter与教师参考实现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按决策矩阵完成容器选型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按决策矩阵完成容器选型——应用：见工单starter与教师参考实现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报文正则解析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已实跑验证 · 退出码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171907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示例 · 可跟打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5879299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import re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msg = "DEV-01:temp=56.3C;press=0.45MPa;status=RUN"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dev = re.match(r"([A-Z]+-\d+):", msg).group(1)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kv = re.findall(r"(\w+)=([\d.]+|\w+)", msg)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metrics = {k: float(v) if re.fullmatch(r"[\d.]+", v) else v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       for k, v in kv}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6851" y="1371600"/>
            <a:ext cx="4849355" cy="4754880"/>
          </a:xfrm>
          <a:prstGeom prst="roundRect">
            <a:avLst>
              <a:gd name="adj" fmla="val 45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994867" y="1463040"/>
            <a:ext cx="82296" cy="82296"/>
          </a:xfrm>
          <a:prstGeom prst="ellipse">
            <a:avLst/>
          </a:prstGeom>
          <a:solidFill>
            <a:srgbClr val="E06C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22883" y="1463040"/>
            <a:ext cx="82296" cy="82296"/>
          </a:xfrm>
          <a:prstGeom prst="ellipse">
            <a:avLst/>
          </a:prstGeom>
          <a:solidFill>
            <a:srgbClr val="E5C0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50899" y="1463040"/>
            <a:ext cx="82296" cy="82296"/>
          </a:xfrm>
          <a:prstGeom prst="ellipse">
            <a:avLst/>
          </a:prstGeom>
          <a:solidFill>
            <a:srgbClr val="98C3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779" y="1426464"/>
            <a:ext cx="3386315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98C379"/>
                </a:solidFill>
                <a:latin typeface="Consolas"/>
                <a:ea typeface="Microsoft YaHei"/>
              </a:rPr>
              <a:t>terminal — 真实运行输出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155" y="1755648"/>
            <a:ext cx="4556747" cy="43708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A8D4B7"/>
                </a:solidFill>
                <a:latin typeface="Consolas"/>
                <a:ea typeface="Microsoft YaHei"/>
              </a:rPr>
              <a:t>（无输出）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14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正则把整行吞了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贪婪.*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用[\d.]+限定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键名带空格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没strip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切分后strip()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str当float用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忘了转换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数值字段float()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本章聚焦：容器与正则——重点： · 列表与字典的操作与遍历；正则表达式…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1.1 · 工业数据格式转换工具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正则解析报文串DEV-01:temp=56.3C;...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CSV行/JSON串解析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统一转标准字典结构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≥2种格式+正则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≥3格式+容错(缺字段置None)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容错解析器+批量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73813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73813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达标：3格式+成功率统计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缺字段置None容错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批量转换文件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输出成功率统计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三格式全通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达标：结构统一无错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报文正则解析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CSV/JSON解析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统一{device_id,metrics}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双格式解析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达标：能出标准字典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报文解析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JSON解析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打印对照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正则体验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461897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461897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达标：能改模式匹配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运行示例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\d+改\d{2}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观察匹配变化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决策：容器选型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262729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数据形态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5395" y="1508760"/>
            <a:ext cx="262729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列表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5575" y="1508760"/>
            <a:ext cx="262729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字典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5755" y="1508760"/>
            <a:ext cx="262729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集合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" y="1947672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有序重复测点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3683" y="1947672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3863" y="1947672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34043" y="1947672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" y="3063240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设备→参数映射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3683" y="3063240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3863" y="3063240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043" y="3063240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4123944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3504" y="4178808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去重设备ID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3683" y="4178808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3863" y="4178808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34043" y="4178808"/>
            <a:ext cx="259072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5285232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5385816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决策纪律：决策结论写入工单，答辩必答；实施失误回溯决策复盘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正则八块积木：\d \w [] + * 分别匹配什么？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≥2种格式+正则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≥3格式+容错(缺字段置None)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58af8f5dde00c8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列表与字典选型：列表=点名册(有序可重复)；字典=查号台(按键…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集合与元组：集合=去重筐(无序)；元组=封条箱子(装好不许…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正则八积木：正则=给文本画的'通缉画像'：\d数字\w字符…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①工单1.1收尾跑绿并上传 ②错题本记1条 ③预习微课+导学单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21 / 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完成工单项目1.1《工业数据格式转换工具》：及格标准处理≥2种格式+使用正则；优秀标准≥3种格式+结构清晰+规范率≥90%；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完成10条报文解析练习；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预习文件读写操作。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学号_姓名_W07.py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从杂乱报文中提取信息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中台抽检打回上月数据：缺温度、类型错、还有135℃的'过热'记录。李姐委屈：'原始数据就这样。'——工单1.2：做数据清洗，还车间数据一个清白。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工单1.1跑绿并上传学习平台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从杂乱报文中提取信息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W07-13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用容器装下整条产线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