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8" r:id="rId29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6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07688"/>
            <a:ext cx="5029200" cy="384262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777240"/>
            <a:ext cx="2611282" cy="289559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777240"/>
            <a:ext cx="2611282" cy="28955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Python编程基础 · 12周·48课时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94360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670F"/>
                </a:solidFill>
                <a:latin typeface="Microsoft YaHei"/>
                <a:ea typeface="Microsoft YaHei"/>
              </a:rPr>
              <a:t>W06 · 第11次课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852160" cy="9144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程序生病了怎么办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905377" cy="27749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905377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工单 0.5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82617" y="3931920"/>
            <a:ext cx="2013839" cy="27749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82617" y="3931920"/>
            <a:ext cx="2013839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健壮的工业数据采集程序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43984"/>
            <a:ext cx="3287748" cy="253365"/>
          </a:xfrm>
          <a:prstGeom prst="roundRect">
            <a:avLst>
              <a:gd name="adj" fmla="val 50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443984"/>
            <a:ext cx="328774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本节（上）：基础实现 · 概念打底 + D/C层保底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56048"/>
            <a:ext cx="5669280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C9D4E4"/>
                </a:solidFill>
                <a:latin typeface="Microsoft YaHei"/>
                <a:ea typeface="Microsoft YaHei"/>
              </a:rPr>
              <a:t>采集程序现场常因文件缺失/格式错误崩溃。要求“出错不停机、留痕可追溯”；本课含中期诊断。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C99B5"/>
                </a:solidFill>
                <a:latin typeface="Microsoft YaHei"/>
                <a:ea typeface="Microsoft YaHei"/>
              </a:rPr>
              <a:t>重庆两江智造集团 · 双创中心302实训室 · V1重制版（easyslides规范）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课程定位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W06-11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02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COURSE 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这门课站在哪：定位与出路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四年后你手里的证书与岗位，都从这门课出发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192024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517904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477D"/>
                </a:solidFill>
                <a:latin typeface="Microsoft YaHei"/>
                <a:ea typeface="Microsoft YaHei"/>
              </a:rPr>
              <a:t>课程性质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1938528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833"/>
                </a:solidFill>
                <a:latin typeface="Microsoft YaHei"/>
                <a:ea typeface="Microsoft YaHei"/>
              </a:rPr>
              <a:t>专业核心基础课：零基础新生的编程第一课（模块0-2贯通）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0147" y="1371600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0147" y="1371600"/>
            <a:ext cx="64008" cy="19202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6179" y="1517904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477D"/>
                </a:solidFill>
                <a:latin typeface="Microsoft YaHei"/>
                <a:ea typeface="Microsoft YaHei"/>
              </a:rPr>
              <a:t>面向岗位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6179" y="1938528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833"/>
                </a:solidFill>
                <a:latin typeface="Microsoft YaHei"/>
                <a:ea typeface="Microsoft YaHei"/>
              </a:rPr>
              <a:t>工业数据采集技术员 / 边缘计算运维 / 平台运维员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3456432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5488" y="3456432"/>
            <a:ext cx="64008" cy="192024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602736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477D"/>
                </a:solidFill>
                <a:latin typeface="Microsoft YaHei"/>
                <a:ea typeface="Microsoft YaHei"/>
              </a:rPr>
              <a:t>对接证书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023360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833"/>
                </a:solidFill>
                <a:latin typeface="Microsoft YaHei"/>
                <a:ea typeface="Microsoft YaHei"/>
              </a:rPr>
              <a:t>Python开发（工信部）· AI应用实践 · 企业应用实施工程师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0147" y="3456432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0147" y="3456432"/>
            <a:ext cx="64008" cy="19202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6179" y="3602736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477D"/>
                </a:solidFill>
                <a:latin typeface="Microsoft YaHei"/>
                <a:ea typeface="Microsoft YaHei"/>
              </a:rPr>
              <a:t>课程衔接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6179" y="4023360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833"/>
                </a:solidFill>
                <a:latin typeface="Microsoft YaHei"/>
                <a:ea typeface="Microsoft YaHei"/>
              </a:rPr>
              <a:t>前：计算机文化基础 → 本课12周 → 后：AI应用基础/项目实战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5468112"/>
            <a:ext cx="1124071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4944" y="5559552"/>
            <a:ext cx="54864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本课程路线图（当前周高亮）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4944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944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开发环境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95094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95094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W2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条件判断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95245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95245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W3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循环结构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95395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95395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W4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类与对象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5546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95546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W5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继承与多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195696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95696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W6</a:t>
            </a:r>
            <a:r>
              <a:rPr sz="800" b="0">
                <a:solidFill>
                  <a:srgbClr val="F0E6D8"/>
                </a:solidFill>
                <a:latin typeface="Microsoft YaHei"/>
                <a:ea typeface="Microsoft YaHei"/>
              </a:rPr>
              <a:t>
异常处理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095847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95847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W7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容器与字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995998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95998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W8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文件I/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96148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96148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W9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jieb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796299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796299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W10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Pill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696449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96449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W11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网络编程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596600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96600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W12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综合项目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剧情情境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W06-11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03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738541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738541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SCENARIO · 两江智造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车间今天发生了什么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连续剧情 · 你（小郑）的第11次出场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634633"/>
            <a:ext cx="4261104" cy="3268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6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662065"/>
            <a:ext cx="4206240" cy="321383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910328" y="1417320"/>
            <a:ext cx="6805879" cy="2423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10328" y="1417320"/>
            <a:ext cx="6805879" cy="914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84648" y="1691640"/>
            <a:ext cx="6257239" cy="1920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1C2833"/>
                </a:solidFill>
                <a:latin typeface="Microsoft YaHei"/>
                <a:ea typeface="Microsoft YaHei"/>
              </a:rPr>
              <a:t>采集程序现场常因文件缺失/格式错误崩溃。要求“出错不停机、留痕可追溯”；本课含中期诊断。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10328" y="4005072"/>
            <a:ext cx="6805879" cy="160020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38928" y="4160520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38928" y="4160520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本课工单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4133088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0.5 · 健壮的工业数据采集程序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8" y="4636008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4636008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交付要点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608576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logging三级日志(INFO/WARN/ERROR)配置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38928" y="5111496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38928" y="5111496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交付要点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084064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捕获FileNotFoundError/ValueError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38928" y="5303520"/>
            <a:ext cx="1280160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D6D7E"/>
                </a:solidFill>
                <a:latin typeface="Microsoft YaHei"/>
                <a:ea typeface="Microsoft YaHei"/>
              </a:rPr>
              <a:t>出场人物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08776" y="5266944"/>
            <a:ext cx="71475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08776" y="5266944"/>
            <a:ext cx="71475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王主任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33260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33260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李姐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23124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23124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小郑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W06-11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04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GOALS &amp;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这节课结束时，你能做到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目标可测量：及格线/优秀线写在工单上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3612794" cy="82296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知识目标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掌握try/except/finally异常处理结构；掌握logging日志模块的基本使用；了解程序调试的常用方法。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检验：口头复述+快答2题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9450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9450" y="1389888"/>
            <a:ext cx="3612794" cy="82296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8906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能力目标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8906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能够编写捕获≥3种异常并记录日志的健壮采集程序；能够使用日志定位问题；代码规范率≥80%。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4042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3770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检验：工单运行通过+截图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3412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3412" y="1389888"/>
            <a:ext cx="3612794" cy="82296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2868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素质目标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2868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树立“程序会出错”的工程危机意识，培养防患于未然的健壮性设计习惯。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68004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7732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检验：同桌互查代码规范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3950208"/>
            <a:ext cx="11240719" cy="159105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078224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4477D"/>
                </a:solidFill>
                <a:latin typeface="Microsoft YaHei"/>
                <a:ea typeface="Microsoft YaHei"/>
              </a:rPr>
              <a:t>课堂节奏（80分钟）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4535424"/>
            <a:ext cx="1220927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535424"/>
            <a:ext cx="1220927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1.logging三级…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13834" y="4535424"/>
            <a:ext cx="1210157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13834" y="4535424"/>
            <a:ext cx="1210157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2.捕获FileNot…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77860" y="4535424"/>
            <a:ext cx="1156309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77860" y="4535424"/>
            <a:ext cx="1156309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3.finally完整…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5084064"/>
            <a:ext cx="106920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节奏纪律：讲10分钟必须动手一次；实操环节教师只答疑不代写——卡住先查《报错翻译对照表》，再举手。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知识精讲 · 讲透每个概念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本章聚焦：异常与日志——重点： · try/except/finall…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异常是对象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('异常是对象：Python出错时不静默崩溃，而是抛出携带类型/消…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try/except/e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('try是警戒区、except是处置区、else是无事发生的奖励…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精确捕获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('精确捕获=except后面写明异常类型：FileNotFoun…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W06-11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W06-11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06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B01 异常是对象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异常=程序出错时扔出的'事故报告单'，类型名即线索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原理：异常是对象：Python出错时不静默崩溃，而是抛出携带类型/消息/回溯(Traceback)的异常对象沿调用栈向上找处理者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读文件失败/除零——崩溃前的最后信号，接住就能救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怎么判断：程序'摔了能爬起来'的前提是接住异常对象——读懂Traceback是排错第一技能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ZeroDivisionError/ValueError/FileNotFoundError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逐行看：Traceback自下而上读：最后一行是异常类型+原因，往上是出错调用链——NameError: name 'temp' is not defined 精确到行号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误区：从最后一行往上读栈——错误类型→说明→行号倒着看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进阶：自定义异常class TempError(Exception)给业务语义；异常链raise ... from e保留原始现场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W06-11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07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异常是对象：一张图看懂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80092" y="1362456"/>
            <a:ext cx="7014551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6d60a9ef982317d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24" y="1389888"/>
            <a:ext cx="6959687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一张图纸可造多台设备（实例化）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属性=铭牌；方法=操作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追问：误区：从最后一行往上读栈——错误类型→说明→行号倒着看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一句话：异常=程序出错时扔出的'事故报告单'，类型名即线索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何时用：读文件失败/除零——崩溃前的最后信号，接住就能救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W06-11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08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B02 try/except/else/finally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try=试做/except=出事接住/else=没出事才做/finally=必做收尾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原理：try是警戒区、except是处置区、else是无事发生的奖励区、finally是无论如何都走的收尾区——四段各司其职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采集主循环的防护壳——单点出错不能停整条产线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怎么判断：读文件/连设备/解析报文等'可能失败'的IO全部包try；except只接预期的类型，else放'成功才做'的后续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try: read() except FileNotFoundError: 默认值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逐行看：try: data=f.read() 可能炸；except FileNotFoundError: 兜底处置；else: parse(data) 成功才解析；finally: f.close(…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误区：把大段代码塞进try——只包会出错的那几句，窄包才好查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进阶：Python 3.10可except (A|B)逗号改竖线；上下文管理器with能替代finally关资源——下一课细讲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W06-11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09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try/except/else/finally：一张图看懂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899701"/>
            <a:ext cx="7278624" cy="2683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5b6c1e5000b76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27133"/>
            <a:ext cx="7223760" cy="26288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漏更新条件变量 → 死循环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break 提前跳出 / continue 跳过本轮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追问：误区：把大段代码塞进try——只包会出错的那几句，窄包才好查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一句话：try=试做/except=出事接住/else=没出事才做/finally=必做收尾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何时用：采集主循环的防护壳——单点出错不能停整条产线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W06-11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10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B03 精确捕获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except接具体类型=对症下药——一个except管一种病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原理：精确捕获=except后面写明异常类型：FileNotFoundError/M ValueError/IndexError——对症下药，别一网打尽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缺文件用默认值/类型错提示重输——不同错误不同对策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怎么判断：文件不存在与数据格式错是两种病：分开捕获分开处置——缺文件给默认配置，格式错记坏行跳过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except FileNotFoundError: … except ValueError: …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逐行看：except FileNotFoundError: print('用默认配置') 文件病；except ValueError: log_bad(line) 数据病——类型即分诊台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误区：父类异常写前面会截胡后面所有——从小到大排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进阶：except Exception as e捕获变量e可打e.args看详情；但except Exception仍是宽网——生产代码按业务列明类型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W06-11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11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精确捕获：一张图看懂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80092" y="1362456"/>
            <a:ext cx="7014551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897715ee647b54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24" y="1389888"/>
            <a:ext cx="6959687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一张图纸可造多台设备（实例化）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属性=铭牌；方法=操作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追问：误区：父类异常写前面会截胡后面所有——从小到大排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一句话：except接具体类型=对症下药——一个except管一种病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何时用：缺文件用默认值/类型错提示重输——不同错误不同对策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技能实操 · 代码跑起来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本章聚焦：异常与日志——重点： · try/except/finall…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384048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3840480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840480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健壮读取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840480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try: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33425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33425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33425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配置双输出日志(控制台…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33425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配置双输出日志(控制台+文件)——应用：见工单starter与教师…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482803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482803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82803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捕获多类型异常并分级记录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2803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捕获多类型异常并分级记录——应用：见工单starter与教师参考实现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32180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32180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532180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输出采集统计(成功/跳…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2180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输出采集统计(成功/跳过/失败)——应用：见工单starter与教…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0" y="5815584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5815584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5815584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脏数据写入bad_re…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815584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脏数据写入bad_records备查——应用：见工单starter…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本章产出：四要素详解页×5 · 图解页×3 · 可跟打代码页×2 · 工单与分层工单各1份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W06-11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W06-11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13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健壮读取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0F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try: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t, p = line.split(","); float(t); float(p)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log.info("第%d条成功:%s", i, line); ok += 1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except ValueError: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log.warning("脏数据跳过:%r", line); skip += 1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finally: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pass                       # 收尾:写统计/关资源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避坑指南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W06-11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14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DEBUG · 常见报错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报错翻译：程序'说'了什么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报错是程序在说话——先读最后一行，再往上找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11240719" cy="457200"/>
          </a:xfrm>
          <a:prstGeom prst="roundRect">
            <a:avLst>
              <a:gd name="adj" fmla="val 55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1463040"/>
            <a:ext cx="278892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报错/现象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1463040"/>
            <a:ext cx="37490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为什么会这样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8" y="1463040"/>
            <a:ext cx="39776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怎么修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47088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1938528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裸except吞异常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8728" y="1938528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连Ctrl+C都拦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1938528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写明异常类型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80360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971800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日志中文乱码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2971800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编码缺省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8" y="2971800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FileHandler(encoding='utf-8')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9136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005072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except里pass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8728" y="4005072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错误被掩盖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8" y="4005072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至少log.error记录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992624"/>
            <a:ext cx="11240719" cy="71323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① 读最后一行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报错类型+行号都在这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② 定位变量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NameError=没定义/拼错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③ 最小复现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注释一半再跑，二分找错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工单实战 · 按单交付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本章聚焦：异常与日志——重点： · try/except/finall…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按工单步骤逐项打勾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及格/优秀线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D/C保底 · B/A冲刺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A/B/C/D分层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按当前水平选起点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W06-11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工单实战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W06-11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16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WORK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工单 0.5 · 健壮的工业数据采集程序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按单交付：及格线保底，优秀线冲刺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583680" cy="4709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499616"/>
            <a:ext cx="603504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92024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2024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1901952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logging三级日志(INFO/WARN/ERROR)配置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2505456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505456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2487168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捕获FileNotFoundError/ValueError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0906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0906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6" y="3072384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finally完整结构1处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526280"/>
            <a:ext cx="6035040" cy="1389888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976" y="4617720"/>
            <a:ext cx="566928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验收清单（教师按此打分）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0976" y="4992624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928616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程序运行无报错，输出与示例一致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976" y="5303520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88720" y="5239512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截图含完整运行结果与文件名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0976" y="5614416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88720" y="5550408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变量命名规范率达标（snake_case）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87768" y="1371600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25512" y="1499616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4A63"/>
                </a:solidFill>
                <a:latin typeface="Microsoft YaHei"/>
                <a:ea typeface="Microsoft YaHei"/>
              </a:rPr>
              <a:t>及格线 · D/C层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25512" y="1865376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≥2种异常+基本日志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25512" y="2779776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检查方式：运行+截图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287768" y="3246119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25512" y="3374135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670F"/>
                </a:solidFill>
                <a:latin typeface="Microsoft YaHei"/>
                <a:ea typeface="Microsoft YaHei"/>
              </a:rPr>
              <a:t>优秀线 · B/A层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3739895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≥3种异常+日志可定位到行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25512" y="4654295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检查方式：运行+规范+答辩追问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287768" y="5138928"/>
            <a:ext cx="4428439" cy="941832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25512" y="5257800"/>
            <a:ext cx="3971239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提交物</a:t>
            </a: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
代码文件+运行截图+工单决策记录（上传学习平台）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分层任务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W06-11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17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58666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58666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A/B/C/D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同一工单，四条爬梯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按当前水平选起点，D层保底人人可交付，A层给足挑战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2686735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A 层 · 挑战层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304288"/>
            <a:ext cx="2320975" cy="841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断点续采+bad_records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236976"/>
            <a:ext cx="1738137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36976"/>
            <a:ext cx="1738137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达标：3异常+可定位日志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脏数据写csv备查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异常后从断点继续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日志带行号定位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0392B"/>
                </a:solidFill>
                <a:latin typeface="Microsoft YaHei"/>
                <a:ea typeface="Microsoft YaHei"/>
              </a:rPr>
              <a:t>卡壳&gt;10分钟→降B层，先拿过程分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26815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26815" y="1389888"/>
            <a:ext cx="2686735" cy="7772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09695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B 层 · 进阶层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09695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完整健壮程序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09695" y="3236976"/>
            <a:ext cx="1459339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09695" y="3236976"/>
            <a:ext cx="1459339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达标：3异常+finally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09695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日志双输出配置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9695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try/except/finally完整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9695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统计输出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9695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F5670F"/>
                </a:solidFill>
                <a:latin typeface="Microsoft YaHei"/>
                <a:ea typeface="Microsoft YaHei"/>
              </a:rPr>
              <a:t>完成C层后冲刺：先跑通再优化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8143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1389888"/>
            <a:ext cx="2686735" cy="77724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C 层 · 基础层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基础捕获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61023" y="3236976"/>
            <a:ext cx="1610248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1023" y="3236976"/>
            <a:ext cx="1610248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达标：2异常+基本日志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1023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捕获文件缺失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1023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捕获转换错误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1023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WARNING记录跳过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1023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14477D"/>
                </a:solidFill>
                <a:latin typeface="Microsoft YaHei"/>
                <a:ea typeface="Microsoft YaHei"/>
              </a:rPr>
              <a:t>照示例改参数，跑通即得分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29471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29471" y="1389888"/>
            <a:ext cx="2686735" cy="777240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12351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D 层 · 保底层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12351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故障注入体验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212351" y="3236976"/>
            <a:ext cx="1461897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12351" y="3236976"/>
            <a:ext cx="1461897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达标：能读日志定位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12351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删数据文件触发异常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12351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看日志ERROR行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12351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恢复文件再跑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12351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A4A63"/>
                </a:solidFill>
                <a:latin typeface="Microsoft YaHei"/>
                <a:ea typeface="Microsoft YaHei"/>
              </a:rPr>
              <a:t>逐行跟打示例，跑通就是胜利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方案决策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W06-11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18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80227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8022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DECISION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课堂教法：四步法（第1-6周）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工程不是选最好的，是选当前约束下最划算的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11240719" cy="475488"/>
          </a:xfrm>
          <a:prstGeom prst="roundRect">
            <a:avLst>
              <a:gd name="adj" fmla="val 55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步骤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时长/课时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79028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要点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92808"/>
            <a:ext cx="11240719" cy="87096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" y="1947672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50410" y="1947672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10min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7316" y="1947672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>原理+工业背景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27782"/>
            <a:ext cx="11240719" cy="870966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2882646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50410" y="2882646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10min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7316" y="2882646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>实时代码演示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762756"/>
            <a:ext cx="11240719" cy="87096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817620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模仿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50410" y="3817620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10min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7316" y="3817620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>跟做保底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697730"/>
            <a:ext cx="11240719" cy="870966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504" y="4752594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练习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50410" y="4752594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10min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7316" y="4752594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>独立+小步成功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5488" y="5678424"/>
            <a:ext cx="11240719" cy="68580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088" y="5779008"/>
            <a:ext cx="107835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14477D"/>
                </a:solidFill>
                <a:latin typeface="Microsoft YaHei"/>
                <a:ea typeface="Microsoft YaHei"/>
              </a:rPr>
              <a:t>决策纪律：第7周起切换为完整六步法（资讯·计划课前线上）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课堂检查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W06-11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19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CHECK · 当堂验收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做完不算完，验过才算数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教师抽查 + 同桌互查 + 运行截图三选二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" y="1545336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45336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856232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1C2833"/>
                </a:solidFill>
                <a:latin typeface="Microsoft YaHei"/>
                <a:ea typeface="Microsoft YaHei"/>
              </a:rPr>
              <a:t>finally块无论是否异常都执行吗？裸except为什么禁止？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423160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59168" y="1417320"/>
            <a:ext cx="4657039" cy="2615184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96912" y="1536192"/>
            <a:ext cx="4199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4477D"/>
                </a:solidFill>
                <a:latin typeface="Microsoft YaHei"/>
                <a:ea typeface="Microsoft YaHei"/>
              </a:rPr>
              <a:t>当堂评分构成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96912" y="19933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96912" y="1993392"/>
            <a:ext cx="768096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45168" y="19476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运行通过 40%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96912" y="24505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296912" y="24505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45168" y="2404872"/>
            <a:ext cx="209671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规范与注释 20%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96912" y="29077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96912" y="29077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45168" y="28620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决策记录 20%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96912" y="33649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33649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45168" y="33192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互查反馈 20%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96912" y="3840480"/>
            <a:ext cx="4199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未过怎么办：当堂改→教师复核→记录到错题本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5488" y="43708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498848"/>
            <a:ext cx="10881360" cy="7132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及格线：</a:t>
            </a: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≥2种异常+基本日志</a:t>
            </a: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
优秀线：</a:t>
            </a:r>
            <a:r>
              <a:rPr sz="1250" b="0">
                <a:solidFill>
                  <a:srgbClr val="F5C08A"/>
                </a:solidFill>
                <a:latin typeface="Microsoft YaHei"/>
                <a:ea typeface="Microsoft YaHei"/>
              </a:rPr>
              <a:t>≥3种异常+日志可定位到行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W06-11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20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2435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2435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一张图带走本课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讲给自己听一遍，才算真的学会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4939" y="1389888"/>
            <a:ext cx="7450618" cy="39867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6c76ca9f104674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71" y="1417320"/>
            <a:ext cx="7395754" cy="393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93608" y="1481328"/>
            <a:ext cx="342259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三句话总结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93608" y="1920240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3991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2011680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异常是对象：异常=程序出错时扔出的'事故报告单'，类型名即…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93608" y="2907792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39912" y="301752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301752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999232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try/except/else/finally：try=试做/except=出事接住/else…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608" y="3895344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39912" y="40050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912" y="40050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986784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精确捕获：except接具体类型=对症下药——一个exc…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93608" y="4882896"/>
            <a:ext cx="3422599" cy="1005840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6488" y="4974336"/>
            <a:ext cx="305683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下一步行动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6488" y="5285232"/>
            <a:ext cx="305683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①工单0.5收尾跑绿并上传 ②错题本记1条 ③预习微课+导学单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课后与预告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W06-11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21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23687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2368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NEXT &amp; HOMEWORK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下课之后，上课之前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作业当堂布置当堂记：写进工单本，别靠脑子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5852160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517904"/>
            <a:ext cx="53035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今日作业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956816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56816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1938528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1C2833"/>
                </a:solidFill>
                <a:latin typeface="Microsoft YaHei"/>
                <a:ea typeface="Microsoft YaHei"/>
              </a:rPr>
              <a:t>1. 完成工单项目0.5《健壮的工业数据采集程序》：及格标准处理≥2种异常+基本日志；优秀标准≥3种异常+try/except/finally完整+日志可追踪；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523744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523744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1288" y="2505456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2. 完成中期自评表与学习计划修订；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090672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090672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1288" y="3072384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3. 预习列表与字典容器。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526280"/>
            <a:ext cx="5349240" cy="749808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617720"/>
            <a:ext cx="50292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提交物：</a:t>
            </a: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学号_姓名_W06.py + 运行截图（含文件名）+ 工单决策记录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56248" y="1389888"/>
            <a:ext cx="5159959" cy="3977639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30568" y="1536192"/>
            <a:ext cx="46113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下次课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30568" y="1956816"/>
            <a:ext cx="4611319" cy="9144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给程序写病历本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30568" y="3017520"/>
            <a:ext cx="461131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为什么接下来学它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30568" y="3364992"/>
            <a:ext cx="4611319" cy="12344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D8E1EC"/>
                </a:solidFill>
                <a:latin typeface="Microsoft YaHei"/>
                <a:ea typeface="Microsoft YaHei"/>
              </a:rPr>
              <a:t>车间数据三张皮：设备报文、CSV台账、JSON配置互不相认。集团数据中台来函要求统一格式上报——工单1.1：写一个格式转换器，让三种方言说普通话。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0568" y="4663440"/>
            <a:ext cx="4611319" cy="6035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9D4E4"/>
                </a:solidFill>
                <a:latin typeface="Microsoft YaHei"/>
                <a:ea typeface="Microsoft YaHei"/>
              </a:rPr>
              <a:t>预习动作：微课视频 + 导学单先行；带着一个问题上考场。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5488" y="5596128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5705856"/>
            <a:ext cx="108813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4477D"/>
                </a:solidFill>
                <a:latin typeface="Microsoft YaHei"/>
                <a:ea typeface="Microsoft YaHei"/>
              </a:rPr>
              <a:t>工具链：PyCharm CE（主编辑器） · Jupyter（实训） · Git/GitHub（每周提交） · conda环境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报错了？先查《报错翻译对照表》，再看微课'排错三步法'。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41648" y="1920240"/>
            <a:ext cx="4114800" cy="82296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2240280"/>
            <a:ext cx="9235440" cy="10058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感谢垂听 · 动手出真知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310128"/>
            <a:ext cx="92354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C9D4E4"/>
                </a:solidFill>
                <a:latin typeface="Microsoft YaHei"/>
                <a:ea typeface="Microsoft YaHei"/>
              </a:rPr>
              <a:t>把今天的工单跑绿，就是给下周的自己铺路。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160520"/>
            <a:ext cx="6858000" cy="1417320"/>
          </a:xfrm>
          <a:prstGeom prst="roundRect">
            <a:avLst>
              <a:gd name="adj" fmla="val 55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0360" y="4279392"/>
            <a:ext cx="640080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课后三件事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4626864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1. 工单0.5跑绿并上传学习平台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4956048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2. 错题本记1条今天踩的坑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5285232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3. 预习微课+导学单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779008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下次课 → 给程序写病历本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6419088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W06-11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程序生病了怎么办</dc:title>
  <dc:subject/>
  <dc:creator>两江智造教学组</dc:creator>
  <cp:keywords/>
  <dc:description>V1.1 · easyslides 规范重制（页面充实版）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