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W5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507688"/>
            <a:ext cx="5029200" cy="3842623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40080" y="777240"/>
            <a:ext cx="2611282" cy="289559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777240"/>
            <a:ext cx="2611282" cy="289559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Python编程基础 · 12周·48课时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81328"/>
            <a:ext cx="594360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5670F"/>
                </a:solidFill>
                <a:latin typeface="Microsoft YaHei"/>
                <a:ea typeface="Microsoft YaHei"/>
              </a:rPr>
              <a:t>W05 · 第10次课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29968"/>
            <a:ext cx="5852160" cy="9144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一套接口，多种设备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931920"/>
            <a:ext cx="905377" cy="277495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931920"/>
            <a:ext cx="905377" cy="27749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Microsoft YaHei"/>
                <a:ea typeface="Microsoft YaHei"/>
              </a:rPr>
              <a:t>工单 0.4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82617" y="3931920"/>
            <a:ext cx="1549400" cy="277495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82617" y="3931920"/>
            <a:ext cx="1549400" cy="27749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Microsoft YaHei"/>
                <a:ea typeface="Microsoft YaHei"/>
              </a:rPr>
              <a:t>工业设备继承体系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443984"/>
            <a:ext cx="3318845" cy="253365"/>
          </a:xfrm>
          <a:prstGeom prst="roundRect">
            <a:avLst>
              <a:gd name="adj" fmla="val 50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4443984"/>
            <a:ext cx="3318845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本节（下）：优化与评价 · 复盘冲刺 + 三层质检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956048"/>
            <a:ext cx="5669280" cy="9601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C9D4E4"/>
                </a:solidFill>
                <a:latin typeface="Microsoft YaHei"/>
                <a:ea typeface="Microsoft YaHei"/>
              </a:rPr>
              <a:t>设备类型多样：共性(编号启停)+个性(PLC扫描周期/变频器频率)。构建基类+子类继承体系。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989320"/>
            <a:ext cx="1088136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C99B5"/>
                </a:solidFill>
                <a:latin typeface="Microsoft YaHei"/>
                <a:ea typeface="Microsoft YaHei"/>
              </a:rPr>
              <a:t>重庆两江智造集团 · 双创中心302实训室 · V1重制版（easyslides规范）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课前回顾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W05-10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02 / 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616979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616979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RECAP · 课前五分钟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上次课你带走了什么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先测后讲：两道口头快答，答不上就翻回上节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444752"/>
            <a:ext cx="6035040" cy="12984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76656" y="1572768"/>
            <a:ext cx="777240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6656" y="1572768"/>
            <a:ext cx="777240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快答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656" y="1865376"/>
            <a:ext cx="5623560" cy="56692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‘车间’应该继承Device吗？为什么？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6" y="2414016"/>
            <a:ext cx="562356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提示：回看上节'四要素详解'页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739128" y="1444752"/>
            <a:ext cx="4977079" cy="1417320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58584" y="1554480"/>
            <a:ext cx="4538167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4477D"/>
                </a:solidFill>
                <a:latin typeface="Microsoft YaHei"/>
                <a:ea typeface="Microsoft YaHei"/>
              </a:rPr>
              <a:t>本周重点回顾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58584" y="1920240"/>
            <a:ext cx="4538167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C2833"/>
                </a:solidFill>
                <a:latin typeface="Microsoft YaHei"/>
                <a:ea typeface="Microsoft YaHei"/>
              </a:rPr>
              <a:t>· 继承与多态——重点：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58584" y="2359152"/>
            <a:ext cx="4538167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C2833"/>
                </a:solidFill>
                <a:latin typeface="Microsoft YaHei"/>
                <a:ea typeface="Microsoft YaHei"/>
              </a:rPr>
              <a:t>· 继承语法与方法覆盖；super()的使用时机；多态调用的统…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739128" y="2999232"/>
            <a:ext cx="4977079" cy="1207008"/>
          </a:xfrm>
          <a:prstGeom prst="roundRect">
            <a:avLst>
              <a:gd name="adj" fmla="val 5500"/>
            </a:avLst>
          </a:prstGeom>
          <a:solidFill>
            <a:srgbClr val="FDF6E9"/>
          </a:solidFill>
          <a:ln w="9525">
            <a:solidFill>
              <a:srgbClr val="E5C9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58584" y="3108960"/>
            <a:ext cx="4538167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8A6D1D"/>
                </a:solidFill>
                <a:latin typeface="Microsoft YaHei"/>
                <a:ea typeface="Microsoft YaHei"/>
              </a:rPr>
              <a:t>上节最容易踩的坑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58584" y="3456432"/>
            <a:ext cx="4538167" cy="67665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1">
                <a:solidFill>
                  <a:srgbClr val="8A6D1D"/>
                </a:solidFill>
                <a:latin typeface="Microsoft YaHei"/>
                <a:ea typeface="Microsoft YaHei"/>
              </a:rPr>
              <a:t>漏self：调用报参数多一个
</a:t>
            </a:r>
            <a:r>
              <a:rPr sz="1100" b="0">
                <a:solidFill>
                  <a:srgbClr val="17855A"/>
                </a:solidFill>
                <a:latin typeface="Microsoft YaHei"/>
                <a:ea typeface="Microsoft YaHei"/>
              </a:rPr>
              <a:t>修法：方法第一参数写self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75488" y="4443984"/>
            <a:ext cx="11240719" cy="1097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9808" y="4562856"/>
            <a:ext cx="10881360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本节（下）：优化与评价——错误复盘 + B/A层冲刺 + 三层质检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4983480"/>
            <a:ext cx="10881360" cy="47548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5D6D7E"/>
                </a:solidFill>
                <a:latin typeface="Microsoft YaHei"/>
                <a:ea typeface="Microsoft YaHei"/>
              </a:rPr>
              <a:t>本节主线：继承：子类复用父类成员(is-a关系)——应用：见工单st… / super().__init__()先完成父类初始化 / 覆盖：子类同名方法优先执行——应用：见工单starter与…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W05-10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03 / 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260774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26077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GOALS &amp; FLOW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这节课结束时，你能做到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目标可测量：及格线/优秀线写在工单上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89888"/>
            <a:ext cx="3612794" cy="22128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89888"/>
            <a:ext cx="3612794" cy="82296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4944" y="1554480"/>
            <a:ext cx="3173882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知识目标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" y="1956816"/>
            <a:ext cx="3173882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掌握继承的基本语法与方法覆盖；理解多态的实现机制；了解封装与访问控制约定。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163824"/>
            <a:ext cx="3283610" cy="365760"/>
          </a:xfrm>
          <a:prstGeom prst="roundRect">
            <a:avLst>
              <a:gd name="adj" fmla="val 22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3163824"/>
            <a:ext cx="306415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D6D7E"/>
                </a:solidFill>
                <a:latin typeface="Microsoft YaHei"/>
                <a:ea typeface="Microsoft YaHei"/>
              </a:rPr>
              <a:t>检验：口头复述+快答2题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89450" y="1389888"/>
            <a:ext cx="3612794" cy="22128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89450" y="1389888"/>
            <a:ext cx="3612794" cy="82296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08906" y="1554480"/>
            <a:ext cx="3173882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能力目标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08906" y="1956816"/>
            <a:ext cx="3173882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能够设计基类与子类继承体系并演示多态调用；能够编写含docstring的规范代码；代码规范率≥80%。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54042" y="3163824"/>
            <a:ext cx="3283610" cy="365760"/>
          </a:xfrm>
          <a:prstGeom prst="roundRect">
            <a:avLst>
              <a:gd name="adj" fmla="val 22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63770" y="3163824"/>
            <a:ext cx="306415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D6D7E"/>
                </a:solidFill>
                <a:latin typeface="Microsoft YaHei"/>
                <a:ea typeface="Microsoft YaHei"/>
              </a:rPr>
              <a:t>检验：工单运行通过+截图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03412" y="1389888"/>
            <a:ext cx="3612794" cy="22128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103412" y="1389888"/>
            <a:ext cx="3612794" cy="82296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22868" y="1554480"/>
            <a:ext cx="3173882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素质目标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2868" y="1956816"/>
            <a:ext cx="3173882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理解“复用与扩展”的系统思维，认识代码复用在大型工业系统中的维护价值。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68004" y="3163824"/>
            <a:ext cx="3283610" cy="365760"/>
          </a:xfrm>
          <a:prstGeom prst="roundRect">
            <a:avLst>
              <a:gd name="adj" fmla="val 22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77732" y="3163824"/>
            <a:ext cx="306415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D6D7E"/>
                </a:solidFill>
                <a:latin typeface="Microsoft YaHei"/>
                <a:ea typeface="Microsoft YaHei"/>
              </a:rPr>
              <a:t>检验：同桌互查代码规范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75488" y="3950208"/>
            <a:ext cx="11240719" cy="159105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9808" y="4078224"/>
            <a:ext cx="548640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4477D"/>
                </a:solidFill>
                <a:latin typeface="Microsoft YaHei"/>
                <a:ea typeface="Microsoft YaHei"/>
              </a:rPr>
              <a:t>课堂节奏（80分钟）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49808" y="4535424"/>
            <a:ext cx="1530553" cy="241300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4535424"/>
            <a:ext cx="1530553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1.多态演练: 循环调…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13834" y="4535424"/>
            <a:ext cx="1064768" cy="241300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313834" y="4535424"/>
            <a:ext cx="1064768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2.isinstanc…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877860" y="4535424"/>
            <a:ext cx="1511706" cy="241300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877860" y="4535424"/>
            <a:ext cx="151170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3.绘制继承体系类图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9808" y="5084064"/>
            <a:ext cx="10692079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节奏纪律：讲10分钟必须动手一次；实操环节教师只答疑不代写——卡住先查《报错翻译对照表》，再举手。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118872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822960"/>
            <a:ext cx="2377440" cy="1463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F5670F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51760" y="2560320"/>
            <a:ext cx="877824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知识精讲 · 讲透每个概念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0" y="1572768"/>
            <a:ext cx="896112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C9D4E4"/>
                </a:solidFill>
                <a:latin typeface="Microsoft YaHei"/>
                <a:ea typeface="Microsoft YaHei"/>
              </a:rPr>
              <a:t>本章聚焦：继承与多态——重点： · 继承语法与方法覆盖；super()… · 难点：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4059936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88920" y="4059936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4059936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多态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059936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('多态=调用方不关心具体类型，统一接口各自响应：for d in…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51760" y="4553712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26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88920" y="4553712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4553712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isinstance判断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553712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("isinstance(obj,cls)判断对象是否属于某类家族…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51760" y="5047488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88920" y="5047488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5047488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docstring文档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5047488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('docstring是写在函数/类体第一行的文档字符串：help…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651760" y="5989320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88920" y="5989320"/>
            <a:ext cx="85039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F5670F"/>
                </a:solidFill>
                <a:latin typeface="Microsoft YaHei"/>
                <a:ea typeface="Microsoft YaHei"/>
              </a:rPr>
              <a:t>本章产出：四要素详解页×3 · 图解页×3 · 可跟打代码页×2 · 工单与分层工单各1份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" y="6473952"/>
            <a:ext cx="10515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C99B5"/>
                </a:solidFill>
                <a:latin typeface="Microsoft YaHei"/>
                <a:ea typeface="Microsoft YaHei"/>
              </a:rPr>
              <a:t>Python编程基础 · V1 · W05-10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知识精讲 · 四要素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W05-10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05 / 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04952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04952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KNOWLEDGE B04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B04 多态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定义 → 场景 → 实例 → 误区：一次讲透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71600"/>
            <a:ext cx="64008" cy="2395728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94944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定义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多态=一句口令各自执行：喊start()泵泵抽水风扇扇风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原理：多态=调用方不关心具体类型，统一接口各自响应：for d in devices: d.stop() 十台设备各停各的——新增设备类型零改调用方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5575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05575" y="1371600"/>
            <a:ext cx="64008" cy="2395728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25031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5031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使用场景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3319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巡检循环不认设备类型——统一接口全启动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怎么判断：中控屏'一键全停'按钮就是多态：设备列表混装PLC/泵/机械手，都响应stop()各自执行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5488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75488" y="3931920"/>
            <a:ext cx="64008" cy="2395728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94944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应用实例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Consolas"/>
                <a:ea typeface="Microsoft YaHei"/>
              </a:rPr>
              <a:t>for d in devices: d.start() 各跑各的start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Consolas"/>
                <a:ea typeface="Microsoft YaHei"/>
              </a:rPr>
              <a:t>逐行看：devices=[plc,pump,robot] 混装；for d in devices: d.stop() 一句循环——Python按实际类型动态找到各自的stop实现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05575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05575" y="3931920"/>
            <a:ext cx="64008" cy="2395728"/>
          </a:xfrm>
          <a:prstGeom prst="rect">
            <a:avLst/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25031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25031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扩展与误区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3319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误区：新增Motor不用改巡检循环——这就是'扩展开放'的开闭原则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进阶：Python多态靠鸭子类型（有stop方法就能进列表），不像Java要显式接口；进阶用abc.ABC定义抽象基类强制子类实现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知识精讲 · 图解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W05-10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06 / 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260774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26077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VISUAL · B04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多态：一张图看懂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图优先：先看图再回头读代码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48056" y="1899701"/>
            <a:ext cx="7278624" cy="268369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67edaad461a742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1927133"/>
            <a:ext cx="7223760" cy="262883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927848" y="1463040"/>
            <a:ext cx="3788359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四个观察点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27848" y="1920240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74152" y="202996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74152" y="202996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2011680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漏更新条件变量 → 死循环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27848" y="2736342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74152" y="284607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74152" y="284607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2827782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break 提前跳出 / continue 跳过本轮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27848" y="3552444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074152" y="36621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74152" y="36621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3643884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追问：误区：新增Motor不用改巡检循环——这就是'扩展开放'的开闭原则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5488" y="5230368"/>
            <a:ext cx="7223760" cy="89611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6656" y="5330952"/>
            <a:ext cx="685800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1">
                <a:solidFill>
                  <a:srgbClr val="1C2833"/>
                </a:solidFill>
                <a:latin typeface="Microsoft YaHei"/>
                <a:ea typeface="Microsoft YaHei"/>
              </a:rPr>
              <a:t>一句话：多态=一句口令各自执行：喊start()泵泵抽水风扇扇风</a:t>
            </a: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
何时用：巡检循环不认设备类型——统一接口全启动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知识精讲 · 四要素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W05-10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07 / 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04952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04952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KNOWLEDGE B05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B05 isinstance判断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定义 → 场景 → 实例 → 误区：一次讲透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71600"/>
            <a:ext cx="64008" cy="2395728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94944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定义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isinstance=查工牌：这台设备是不是泵家族的人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原理：isinstance(obj,cls)判断对象是否属于某类家族（含子类）——类型分流时给对象'验明正身'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5575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05575" y="1371600"/>
            <a:ext cx="64008" cy="2395728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25031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5031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使用场景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3319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巡检时对Pump特殊处理、其他走通用流程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怎么判断：告警策略按设备类型分流：if isinstance(d,PLC)走PLC策略；比type()==精确比较更宽容（子类也算）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5488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75488" y="3931920"/>
            <a:ext cx="64008" cy="2395728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94944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应用实例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Consolas"/>
                <a:ea typeface="Microsoft YaHei"/>
              </a:rPr>
              <a:t>if isinstance(d, Pump): d.check_flow()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Consolas"/>
                <a:ea typeface="Microsoft YaHei"/>
              </a:rPr>
              <a:t>逐行看：isinstance(pump,Pump)→True；isinstance(pump,Device)→True（子类实例也是父类家族成员）——这是继承的身份证明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05575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05575" y="3931920"/>
            <a:ext cx="64008" cy="2395728"/>
          </a:xfrm>
          <a:prstGeom prst="rect">
            <a:avLst/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25031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25031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扩展与误区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3319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误区：满屏isinstance=多态白学——先想能否统一接口替代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进阶：isinstance接受元组一次多判isinstance(x,(int,float))；滥用类型判断不如用多态——'问到类型再分支'常是设计坏味道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知识精讲 · 图解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W05-10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08 / 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260774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26077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VISUAL · B05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isinstance判断：一张图看懂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图优先：先看图再回头读代码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92968" y="1362456"/>
            <a:ext cx="7188800" cy="375818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d440f2852736a8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400" y="1389888"/>
            <a:ext cx="7133936" cy="37033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927848" y="1463040"/>
            <a:ext cx="3788359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四个观察点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27848" y="1920240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74152" y="202996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74152" y="202996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2011680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elif 顺序就是优先级：先判危险再判警告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27848" y="2736342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74152" y="284607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74152" y="284607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2827782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边界值 79.9/80/80.1 三测法必做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27848" y="3552444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074152" y="36621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74152" y="36621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3643884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追问：误区：满屏isinstance=多态白学——先想能否统一接口替代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5488" y="5230368"/>
            <a:ext cx="7223760" cy="89611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6656" y="5330952"/>
            <a:ext cx="685800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1">
                <a:solidFill>
                  <a:srgbClr val="1C2833"/>
                </a:solidFill>
                <a:latin typeface="Microsoft YaHei"/>
                <a:ea typeface="Microsoft YaHei"/>
              </a:rPr>
              <a:t>一句话：isinstance=查工牌：这台设备是不是泵家族的人</a:t>
            </a: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
何时用：巡检时对Pump特殊处理、其他走通用流程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知识精讲 · 四要素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W05-10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09 / 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04952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04952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KNOWLEDGE B06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B06 docstring文档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定义 → 场景 → 实例 → 误区：一次讲透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71600"/>
            <a:ext cx="64008" cy="2395728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94944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定义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docstring=技能说明书：三引号一行，help()可查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原理：docstring是写在函数/类体第一行的文档字符串：help()和IDE悬浮提示都读它——代码的自带说明书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5575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05575" y="1371600"/>
            <a:ext cx="64008" cy="2395728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25031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5031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使用场景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3319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团队协作规范——别人不读代码就知道怎么用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怎么判断：所有工单交付的类与公开函数必写docstring——三个月后的你和接手的同事全靠它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5488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75488" y="3931920"/>
            <a:ext cx="64008" cy="2395728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94944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应用实例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Consolas"/>
                <a:ea typeface="Microsoft YaHei"/>
              </a:rPr>
              <a:t>def start(self): """启动设备并写日志"""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Consolas"/>
                <a:ea typeface="Microsoft YaHei"/>
              </a:rPr>
              <a:t>逐行看：def stop(self): '''安全停机：先泄压后断电，返回True''' —— 三引号文档写清做什么+参数+返回值；help(Device.stop)随时查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05575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05575" y="3931920"/>
            <a:ext cx="64008" cy="2395728"/>
          </a:xfrm>
          <a:prstGeom prst="rect">
            <a:avLst/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25031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25031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扩展与误区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3319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误区：注释#是给自己看，docstring是给调用者看——别混用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进阶：docstring里写doctest可运行示例（&gt;&gt;&gt; 行）成为可执行文档；进阶Sphinx自动生成项目手册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知识精讲 · 图解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W05-10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10 / 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260774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26077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VISUAL · B06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docstring文档：一张图看懂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图优先：先看图再回头读代码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48056" y="1624889"/>
            <a:ext cx="7278624" cy="3233318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56c2787252dba0e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1652321"/>
            <a:ext cx="7223760" cy="317845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927848" y="1463040"/>
            <a:ext cx="3788359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四个观察点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27848" y="1920240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74152" y="202996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74152" y="202996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2011680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四个名字四个值：换值即换型（动态类型）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27848" y="2736342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74152" y="284607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74152" y="284607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2827782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贴标签顺序任意，但先用必先贴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27848" y="3552444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074152" y="36621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74152" y="36621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3643884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追问：误区：注释#是给自己看，docstring是给调用者看——别混用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5488" y="5230368"/>
            <a:ext cx="7223760" cy="89611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6656" y="5330952"/>
            <a:ext cx="685800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1">
                <a:solidFill>
                  <a:srgbClr val="1C2833"/>
                </a:solidFill>
                <a:latin typeface="Microsoft YaHei"/>
                <a:ea typeface="Microsoft YaHei"/>
              </a:rPr>
              <a:t>一句话：docstring=技能说明书：三引号一行，help()可查</a:t>
            </a: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
何时用：团队协作规范——别人不读代码就知道怎么用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118872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822960"/>
            <a:ext cx="2377440" cy="1463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F5670F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51760" y="2560320"/>
            <a:ext cx="877824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技能实操 · 代码跑起来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0" y="1572768"/>
            <a:ext cx="896112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C9D4E4"/>
                </a:solidFill>
                <a:latin typeface="Microsoft YaHei"/>
                <a:ea typeface="Microsoft YaHei"/>
              </a:rPr>
              <a:t>本章聚焦：继承与多态——重点： · 继承语法与方法覆盖；super()… · 难点：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3840480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88920" y="3840480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3840480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继承+覆盖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3840480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class PLC(Device):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51760" y="4334256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26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88920" y="4334256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4334256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技能 · 构建基类+两子类继承体系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334256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构建基类+两子类继承体系——应用：见工单starter与教师参考实现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51760" y="4828032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88920" y="4828032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4828032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技能 · 覆盖start并调用s…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4828032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覆盖start并调用super协作——应用：见工单starter与…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651760" y="5321808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26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88920" y="5321808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46120" y="5321808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技能 · 循环统一调用演示多态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5321808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循环统一调用演示多态——应用：见工单starter与教师参考实现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651760" y="5815584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88920" y="5815584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46120" y="5815584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技能 · 绘制继承体系类图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5815584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绘制继承体系类图——应用：见工单starter与教师参考实现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51760" y="5989320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788920" y="5989320"/>
            <a:ext cx="85039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F5670F"/>
                </a:solidFill>
                <a:latin typeface="Microsoft YaHei"/>
                <a:ea typeface="Microsoft YaHei"/>
              </a:rPr>
              <a:t>本章产出：四要素详解页×5 · 图解页×3 · 可跟打代码页×2 · 工单与分层工单各1份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5488" y="6473952"/>
            <a:ext cx="10515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C99B5"/>
                </a:solidFill>
                <a:latin typeface="Microsoft YaHei"/>
                <a:ea typeface="Microsoft YaHei"/>
              </a:rPr>
              <a:t>Python编程基础 · V1 · W05-10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技能实操 · 可执行代码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W05-10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12 / 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966764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96676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CODE LAB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继承+覆盖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已实跑验证 · 退出码 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6171907" cy="4754880"/>
          </a:xfrm>
          <a:prstGeom prst="roundRect">
            <a:avLst>
              <a:gd name="adj" fmla="val 4500"/>
            </a:avLst>
          </a:prstGeom>
          <a:solidFill>
            <a:srgbClr val="0F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03504" y="1453896"/>
            <a:ext cx="2103120" cy="237744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3504" y="1453896"/>
            <a:ext cx="2103120" cy="23774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 示例 · 可跟打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1764792"/>
            <a:ext cx="5879299" cy="42702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0">
                <a:solidFill>
                  <a:srgbClr val="D8E1EC"/>
                </a:solidFill>
                <a:latin typeface="Consolas"/>
                <a:ea typeface="Microsoft YaHei"/>
              </a:rPr>
              <a:t>class PLC(Device):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8E1EC"/>
                </a:solidFill>
                <a:latin typeface="Consolas"/>
                <a:ea typeface="Microsoft YaHei"/>
              </a:rPr>
              <a:t>    def __init__(self, dev_id, name, scan_ms=10):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8E1EC"/>
                </a:solidFill>
                <a:latin typeface="Consolas"/>
                <a:ea typeface="Microsoft YaHei"/>
              </a:rPr>
              <a:t>        super().__init__(dev_id, name)   # 父类先初始化!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8E1EC"/>
                </a:solidFill>
                <a:latin typeface="Consolas"/>
                <a:ea typeface="Microsoft YaHei"/>
              </a:rPr>
              <a:t>        self.scan_ms = scan_ms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8E1EC"/>
                </a:solidFill>
                <a:latin typeface="Consolas"/>
                <a:ea typeface="Microsoft YaHei"/>
              </a:rPr>
              <a:t>    def start(self):                     # 覆盖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8E1EC"/>
                </a:solidFill>
                <a:latin typeface="Consolas"/>
                <a:ea typeface="Microsoft YaHei"/>
              </a:rPr>
              <a:t>        super().start()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8E1EC"/>
                </a:solidFill>
                <a:latin typeface="Consolas"/>
                <a:ea typeface="Microsoft YaHei"/>
              </a:rPr>
              <a:t>        print(f"  扫描周期:{self.scan_ms}ms")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66851" y="1371600"/>
            <a:ext cx="4849355" cy="4754880"/>
          </a:xfrm>
          <a:prstGeom prst="roundRect">
            <a:avLst>
              <a:gd name="adj" fmla="val 4500"/>
            </a:avLst>
          </a:prstGeom>
          <a:solidFill>
            <a:srgbClr val="10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994867" y="1463040"/>
            <a:ext cx="82296" cy="82296"/>
          </a:xfrm>
          <a:prstGeom prst="ellipse">
            <a:avLst/>
          </a:prstGeom>
          <a:solidFill>
            <a:srgbClr val="E06C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122883" y="1463040"/>
            <a:ext cx="82296" cy="82296"/>
          </a:xfrm>
          <a:prstGeom prst="ellipse">
            <a:avLst/>
          </a:prstGeom>
          <a:solidFill>
            <a:srgbClr val="E5C0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250899" y="1463040"/>
            <a:ext cx="82296" cy="82296"/>
          </a:xfrm>
          <a:prstGeom prst="ellipse">
            <a:avLst/>
          </a:prstGeom>
          <a:solidFill>
            <a:srgbClr val="98C3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33779" y="1426464"/>
            <a:ext cx="3386315" cy="23774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98C379"/>
                </a:solidFill>
                <a:latin typeface="Consolas"/>
                <a:ea typeface="Microsoft YaHei"/>
              </a:rPr>
              <a:t>terminal — 真实运行输出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13155" y="1755648"/>
            <a:ext cx="4556747" cy="437083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A8D4B7"/>
                </a:solidFill>
                <a:latin typeface="Consolas"/>
                <a:ea typeface="Microsoft YaHei"/>
              </a:rPr>
              <a:t>（无输出）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避坑指南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W05-10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13 / 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75628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75628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DEBUG · 常见报错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报错翻译：程序'说'了什么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报错是程序在说话——先读最后一行，再往上找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89888"/>
            <a:ext cx="11240719" cy="457200"/>
          </a:xfrm>
          <a:prstGeom prst="roundRect">
            <a:avLst>
              <a:gd name="adj" fmla="val 55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" y="1463040"/>
            <a:ext cx="2788920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报错/现象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38728" y="1463040"/>
            <a:ext cx="3749039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为什么会这样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24928" y="1463040"/>
            <a:ext cx="3977639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怎么修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" y="1847088"/>
            <a:ext cx="11240719" cy="9601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2648" y="1938528"/>
            <a:ext cx="2697480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C0392B"/>
                </a:solidFill>
                <a:latin typeface="Microsoft YaHei"/>
                <a:ea typeface="Microsoft YaHei"/>
              </a:rPr>
              <a:t>父类属性丢失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38728" y="1938528"/>
            <a:ext cx="36575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忘调super().__init__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24928" y="1938528"/>
            <a:ext cx="38861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补上super调用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75488" y="2880360"/>
            <a:ext cx="11240719" cy="960120"/>
          </a:xfrm>
          <a:prstGeom prst="roundRect">
            <a:avLst>
              <a:gd name="adj" fmla="val 5500"/>
            </a:avLst>
          </a:prstGeom>
          <a:solidFill>
            <a:srgbClr val="F4F7FB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2648" y="2971800"/>
            <a:ext cx="2697480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C0392B"/>
                </a:solidFill>
                <a:latin typeface="Microsoft YaHei"/>
                <a:ea typeface="Microsoft YaHei"/>
              </a:rPr>
              <a:t>多态失效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38728" y="2971800"/>
            <a:ext cx="36575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方法名大小写不一致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24928" y="2971800"/>
            <a:ext cx="38861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与父类完全同名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75488" y="3913632"/>
            <a:ext cx="11240719" cy="9601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2648" y="4005072"/>
            <a:ext cx="2697480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C0392B"/>
                </a:solidFill>
                <a:latin typeface="Microsoft YaHei"/>
                <a:ea typeface="Microsoft YaHei"/>
              </a:rPr>
              <a:t>为继承而继承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38728" y="4005072"/>
            <a:ext cx="36575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车间不是设备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24928" y="4005072"/>
            <a:ext cx="38861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is-a不成立就不继承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75488" y="4992624"/>
            <a:ext cx="11240719" cy="713232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4088" y="5102352"/>
            <a:ext cx="3566160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4477D"/>
                </a:solidFill>
                <a:latin typeface="Microsoft YaHei"/>
                <a:ea typeface="Microsoft YaHei"/>
              </a:rPr>
              <a:t>① 读最后一行  </a:t>
            </a: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报错类型+行号都在这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61688" y="5102352"/>
            <a:ext cx="3566160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4477D"/>
                </a:solidFill>
                <a:latin typeface="Microsoft YaHei"/>
                <a:ea typeface="Microsoft YaHei"/>
              </a:rPr>
              <a:t>② 定位变量  </a:t>
            </a: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NameError=没定义/拼错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19288" y="5102352"/>
            <a:ext cx="3566160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4477D"/>
                </a:solidFill>
                <a:latin typeface="Microsoft YaHei"/>
                <a:ea typeface="Microsoft YaHei"/>
              </a:rPr>
              <a:t>③ 最小复现  </a:t>
            </a: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注释一半再跑，二分找错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118872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822960"/>
            <a:ext cx="2377440" cy="1463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F5670F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51760" y="2560320"/>
            <a:ext cx="877824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工单实战 · 按单交付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0" y="1572768"/>
            <a:ext cx="896112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C9D4E4"/>
                </a:solidFill>
                <a:latin typeface="Microsoft YaHei"/>
                <a:ea typeface="Microsoft YaHei"/>
              </a:rPr>
              <a:t>本章聚焦：继承与多态——重点： · 继承语法与方法覆盖；super()… · 难点：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4059936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88920" y="4059936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4059936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交付清单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059936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按工单步骤逐项打勾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51760" y="4553712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26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88920" y="4553712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4553712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及格/优秀线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553712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D/C保底 · B/A冲刺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51760" y="5047488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88920" y="5047488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5047488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A/B/C/D分层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5047488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按当前水平选起点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651760" y="5989320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88920" y="5989320"/>
            <a:ext cx="85039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F5670F"/>
                </a:solidFill>
                <a:latin typeface="Microsoft YaHei"/>
                <a:ea typeface="Microsoft YaHei"/>
              </a:rPr>
              <a:t>本章产出：四要素详解页×3 · 图解页×3 · 可跟打代码页×2 · 工单与分层工单各1份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" y="6473952"/>
            <a:ext cx="10515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C99B5"/>
                </a:solidFill>
                <a:latin typeface="Microsoft YaHei"/>
                <a:ea typeface="Microsoft YaHei"/>
              </a:rPr>
              <a:t>Python编程基础 · V1 · W05-10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工单实战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W05-10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15 / 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142039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142039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WORK ORDER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工单 0.4 · 工业设备继承体系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按单交付：及格线保底，优秀线冲刺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6583680" cy="4709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1499616"/>
            <a:ext cx="6035040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交付清单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9808" y="192024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192024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25296" y="1901952"/>
            <a:ext cx="566928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多态演练: 循环调用所有设备start()观察差异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9808" y="2505456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2505456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25296" y="2487168"/>
            <a:ext cx="566928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isinstance/issubclass类型判断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8" y="30906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9808" y="30906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25296" y="3072384"/>
            <a:ext cx="5669280" cy="53035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绘制继承体系类图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9808" y="4526280"/>
            <a:ext cx="6035040" cy="1389888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50976" y="4617720"/>
            <a:ext cx="5669280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4477D"/>
                </a:solidFill>
                <a:latin typeface="Microsoft YaHei"/>
                <a:ea typeface="Microsoft YaHei"/>
              </a:rPr>
              <a:t>验收清单（教师按此打分）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50976" y="4992624"/>
            <a:ext cx="146304" cy="146304"/>
          </a:xfrm>
          <a:prstGeom prst="rect">
            <a:avLst/>
          </a:prstGeom>
          <a:noFill/>
          <a:ln w="15240">
            <a:solidFill>
              <a:srgbClr val="144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88720" y="4928616"/>
            <a:ext cx="548640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C2833"/>
                </a:solidFill>
                <a:latin typeface="Microsoft YaHei"/>
                <a:ea typeface="Microsoft YaHei"/>
              </a:rPr>
              <a:t>程序运行无报错，输出与示例一致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50976" y="5303520"/>
            <a:ext cx="146304" cy="146304"/>
          </a:xfrm>
          <a:prstGeom prst="rect">
            <a:avLst/>
          </a:prstGeom>
          <a:noFill/>
          <a:ln w="15240">
            <a:solidFill>
              <a:srgbClr val="144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88720" y="5239512"/>
            <a:ext cx="548640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C2833"/>
                </a:solidFill>
                <a:latin typeface="Microsoft YaHei"/>
                <a:ea typeface="Microsoft YaHei"/>
              </a:rPr>
              <a:t>截图含完整运行结果与文件名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50976" y="5614416"/>
            <a:ext cx="146304" cy="146304"/>
          </a:xfrm>
          <a:prstGeom prst="rect">
            <a:avLst/>
          </a:prstGeom>
          <a:noFill/>
          <a:ln w="15240">
            <a:solidFill>
              <a:srgbClr val="144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88720" y="5550408"/>
            <a:ext cx="548640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C2833"/>
                </a:solidFill>
                <a:latin typeface="Microsoft YaHei"/>
                <a:ea typeface="Microsoft YaHei"/>
              </a:rPr>
              <a:t>变量命名规范率达标（snake_case）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287768" y="1371600"/>
            <a:ext cx="4428439" cy="1691640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525512" y="1499616"/>
            <a:ext cx="397123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3A4A63"/>
                </a:solidFill>
                <a:latin typeface="Microsoft YaHei"/>
                <a:ea typeface="Microsoft YaHei"/>
              </a:rPr>
              <a:t>及格线 · D/C层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25512" y="1865376"/>
            <a:ext cx="3925519" cy="9601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0">
                <a:solidFill>
                  <a:srgbClr val="1C2833"/>
                </a:solidFill>
                <a:latin typeface="Microsoft YaHei"/>
                <a:ea typeface="Microsoft YaHei"/>
              </a:rPr>
              <a:t>1基类+2子类+覆盖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25512" y="2779776"/>
            <a:ext cx="397123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D6D7E"/>
                </a:solidFill>
                <a:latin typeface="Microsoft YaHei"/>
                <a:ea typeface="Microsoft YaHei"/>
              </a:rPr>
              <a:t>检查方式：运行+截图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287768" y="3246119"/>
            <a:ext cx="4428439" cy="1691640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525512" y="3374135"/>
            <a:ext cx="397123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5670F"/>
                </a:solidFill>
                <a:latin typeface="Microsoft YaHei"/>
                <a:ea typeface="Microsoft YaHei"/>
              </a:rPr>
              <a:t>优秀线 · B/A层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25512" y="3739895"/>
            <a:ext cx="3925519" cy="9601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0">
                <a:solidFill>
                  <a:srgbClr val="1C2833"/>
                </a:solidFill>
                <a:latin typeface="Microsoft YaHei"/>
                <a:ea typeface="Microsoft YaHei"/>
              </a:rPr>
              <a:t>多态演示清晰；is-a判断正确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25512" y="4654295"/>
            <a:ext cx="397123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D6D7E"/>
                </a:solidFill>
                <a:latin typeface="Microsoft YaHei"/>
                <a:ea typeface="Microsoft YaHei"/>
              </a:rPr>
              <a:t>检查方式：运行+规范+答辩追问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287768" y="5138928"/>
            <a:ext cx="4428439" cy="941832"/>
          </a:xfrm>
          <a:prstGeom prst="roundRect">
            <a:avLst>
              <a:gd name="adj" fmla="val 5500"/>
            </a:avLst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525512" y="5257800"/>
            <a:ext cx="3971239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5670F"/>
                </a:solidFill>
                <a:latin typeface="Microsoft YaHei"/>
                <a:ea typeface="Microsoft YaHei"/>
              </a:rPr>
              <a:t>提交物</a:t>
            </a:r>
            <a:r>
              <a:rPr sz="1050" b="0">
                <a:solidFill>
                  <a:srgbClr val="D8E1EC"/>
                </a:solidFill>
                <a:latin typeface="Microsoft YaHei"/>
                <a:ea typeface="Microsoft YaHei"/>
              </a:rPr>
              <a:t>
代码文件+运行截图+工单决策记录（上传学习平台）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分层任务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W05-10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16 / 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58666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58666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A/B/C/D LAYERS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同一工单，四条爬梯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按当前水平选起点，D层保底人人可交付，A层给足挑战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89888"/>
            <a:ext cx="2686735" cy="4663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89888"/>
            <a:ext cx="2686735" cy="7772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1481328"/>
            <a:ext cx="2320975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A 层 · 挑战层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304288"/>
            <a:ext cx="2320975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三子类+类图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3236976"/>
            <a:ext cx="1776503" cy="229235"/>
          </a:xfrm>
          <a:prstGeom prst="roundRect">
            <a:avLst>
              <a:gd name="adj" fmla="val 50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236976"/>
            <a:ext cx="1776503" cy="22923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C2833"/>
                </a:solidFill>
                <a:latin typeface="Microsoft YaHei"/>
                <a:ea typeface="Microsoft YaHei"/>
              </a:rPr>
              <a:t>达标：多态清晰+is-a判断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3730752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加Sensor子类calibrate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4297680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总控台统一启停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4864608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类图绘制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5577840"/>
            <a:ext cx="2320975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C0392B"/>
                </a:solidFill>
                <a:latin typeface="Microsoft YaHei"/>
                <a:ea typeface="Microsoft YaHei"/>
              </a:rPr>
              <a:t>卡壳&gt;10分钟→降B层，先拿过程分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326815" y="1389888"/>
            <a:ext cx="2686735" cy="4663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326815" y="1389888"/>
            <a:ext cx="2686735" cy="77724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09695" y="1481328"/>
            <a:ext cx="2320975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B 层 · 进阶层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09695" y="2304288"/>
            <a:ext cx="2320975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两子类覆盖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509695" y="3236976"/>
            <a:ext cx="1479801" cy="229235"/>
          </a:xfrm>
          <a:prstGeom prst="roundRect">
            <a:avLst>
              <a:gd name="adj" fmla="val 50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09695" y="3236976"/>
            <a:ext cx="1479801" cy="22923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C2833"/>
                </a:solidFill>
                <a:latin typeface="Microsoft YaHei"/>
                <a:ea typeface="Microsoft YaHei"/>
              </a:rPr>
              <a:t>达标：docstring齐全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09695" y="3730752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PLC子类+scan_ms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09695" y="4297680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覆盖start带扫描周期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09695" y="4864608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循环调用看多态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09695" y="5577840"/>
            <a:ext cx="2320975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F5670F"/>
                </a:solidFill>
                <a:latin typeface="Microsoft YaHei"/>
                <a:ea typeface="Microsoft YaHei"/>
              </a:rPr>
              <a:t>完成C层后冲刺：先跑通再优化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178143" y="1389888"/>
            <a:ext cx="2686735" cy="4663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78143" y="1389888"/>
            <a:ext cx="2686735" cy="77724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61023" y="1481328"/>
            <a:ext cx="2320975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C 层 · 基础层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61023" y="2304288"/>
            <a:ext cx="2320975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单子类继承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361023" y="3236976"/>
            <a:ext cx="1648614" cy="229235"/>
          </a:xfrm>
          <a:prstGeom prst="roundRect">
            <a:avLst>
              <a:gd name="adj" fmla="val 50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61023" y="3236976"/>
            <a:ext cx="1648614" cy="22923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C2833"/>
                </a:solidFill>
                <a:latin typeface="Microsoft YaHei"/>
                <a:ea typeface="Microsoft YaHei"/>
              </a:rPr>
              <a:t>达标：继承与super正确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61023" y="3730752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PLC继承Device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61023" y="4297680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super().__init__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61023" y="4864608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新增一个属性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61023" y="5577840"/>
            <a:ext cx="2320975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14477D"/>
                </a:solidFill>
                <a:latin typeface="Microsoft YaHei"/>
                <a:ea typeface="Microsoft YaHei"/>
              </a:rPr>
              <a:t>照示例改参数，跑通即得分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029471" y="1389888"/>
            <a:ext cx="2686735" cy="4663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029471" y="1389888"/>
            <a:ext cx="2686735" cy="777240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212351" y="1481328"/>
            <a:ext cx="2320975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D 层 · 保底层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12351" y="2304288"/>
            <a:ext cx="2320975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继承体验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212351" y="3236976"/>
            <a:ext cx="1323776" cy="229235"/>
          </a:xfrm>
          <a:prstGeom prst="roundRect">
            <a:avLst>
              <a:gd name="adj" fmla="val 50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212351" y="3236976"/>
            <a:ext cx="1323776" cy="22923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C2833"/>
                </a:solidFill>
                <a:latin typeface="Microsoft YaHei"/>
                <a:ea typeface="Microsoft YaHei"/>
              </a:rPr>
              <a:t>达标：能复述is-a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212351" y="3730752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运行多态示例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12351" y="4297680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换一种设备再跑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12351" y="4864608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口述谁继承谁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212351" y="5577840"/>
            <a:ext cx="2320975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3A4A63"/>
                </a:solidFill>
                <a:latin typeface="Microsoft YaHei"/>
                <a:ea typeface="Microsoft YaHei"/>
              </a:rPr>
              <a:t>逐行跟打示例，跑通就是胜利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方案决策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W05-10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17 / 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580227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580227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DECISION MATRIX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课堂教法：四步法（第1-6周）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工程不是选最好的，是选当前约束下最划算的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417320"/>
            <a:ext cx="11240719" cy="475488"/>
          </a:xfrm>
          <a:prstGeom prst="roundRect">
            <a:avLst>
              <a:gd name="adj" fmla="val 55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16" y="1508760"/>
            <a:ext cx="3564026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步骤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1508760"/>
            <a:ext cx="3564026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时长/课时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79028" y="1508760"/>
            <a:ext cx="3564026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要点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" y="1892808"/>
            <a:ext cx="11240719" cy="87096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3504" y="1947672"/>
            <a:ext cx="3527450" cy="76123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C2833"/>
                </a:solidFill>
                <a:latin typeface="Microsoft YaHei"/>
                <a:ea typeface="Microsoft YaHei"/>
              </a:rPr>
              <a:t>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50410" y="1947672"/>
            <a:ext cx="3527450" cy="76123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C2833"/>
                </a:solidFill>
                <a:latin typeface="Microsoft YaHei"/>
                <a:ea typeface="Microsoft YaHei"/>
              </a:rPr>
              <a:t>10min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97316" y="1947672"/>
            <a:ext cx="3527450" cy="76123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5670F"/>
                </a:solidFill>
                <a:latin typeface="Microsoft YaHei"/>
                <a:ea typeface="Microsoft YaHei"/>
              </a:rPr>
              <a:t>原理+工业背景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75488" y="2827782"/>
            <a:ext cx="11240719" cy="870966"/>
          </a:xfrm>
          <a:prstGeom prst="roundRect">
            <a:avLst>
              <a:gd name="adj" fmla="val 5500"/>
            </a:avLst>
          </a:prstGeom>
          <a:solidFill>
            <a:srgbClr val="F4F7FB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3504" y="2882646"/>
            <a:ext cx="3527450" cy="76123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C2833"/>
                </a:solidFill>
                <a:latin typeface="Microsoft YaHei"/>
                <a:ea typeface="Microsoft YaHei"/>
              </a:rPr>
              <a:t>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50410" y="2882646"/>
            <a:ext cx="3527450" cy="76123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C2833"/>
                </a:solidFill>
                <a:latin typeface="Microsoft YaHei"/>
                <a:ea typeface="Microsoft YaHei"/>
              </a:rPr>
              <a:t>10min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97316" y="2882646"/>
            <a:ext cx="3527450" cy="76123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5670F"/>
                </a:solidFill>
                <a:latin typeface="Microsoft YaHei"/>
                <a:ea typeface="Microsoft YaHei"/>
              </a:rPr>
              <a:t>实时代码演示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75488" y="3762756"/>
            <a:ext cx="11240719" cy="87096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3504" y="3817620"/>
            <a:ext cx="3527450" cy="76123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C2833"/>
                </a:solidFill>
                <a:latin typeface="Microsoft YaHei"/>
                <a:ea typeface="Microsoft YaHei"/>
              </a:rPr>
              <a:t>模仿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50410" y="3817620"/>
            <a:ext cx="3527450" cy="76123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C2833"/>
                </a:solidFill>
                <a:latin typeface="Microsoft YaHei"/>
                <a:ea typeface="Microsoft YaHei"/>
              </a:rPr>
              <a:t>10min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97316" y="3817620"/>
            <a:ext cx="3527450" cy="76123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5670F"/>
                </a:solidFill>
                <a:latin typeface="Microsoft YaHei"/>
                <a:ea typeface="Microsoft YaHei"/>
              </a:rPr>
              <a:t>跟做保底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75488" y="4697730"/>
            <a:ext cx="11240719" cy="870966"/>
          </a:xfrm>
          <a:prstGeom prst="roundRect">
            <a:avLst>
              <a:gd name="adj" fmla="val 5500"/>
            </a:avLst>
          </a:prstGeom>
          <a:solidFill>
            <a:srgbClr val="F4F7FB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3504" y="4752594"/>
            <a:ext cx="3527450" cy="76123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C2833"/>
                </a:solidFill>
                <a:latin typeface="Microsoft YaHei"/>
                <a:ea typeface="Microsoft YaHei"/>
              </a:rPr>
              <a:t>练习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50410" y="4752594"/>
            <a:ext cx="3527450" cy="76123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C2833"/>
                </a:solidFill>
                <a:latin typeface="Microsoft YaHei"/>
                <a:ea typeface="Microsoft YaHei"/>
              </a:rPr>
              <a:t>10min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97316" y="4752594"/>
            <a:ext cx="3527450" cy="76123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5670F"/>
                </a:solidFill>
                <a:latin typeface="Microsoft YaHei"/>
                <a:ea typeface="Microsoft YaHei"/>
              </a:rPr>
              <a:t>独立+小步成功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75488" y="5678424"/>
            <a:ext cx="11240719" cy="685800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04088" y="5779008"/>
            <a:ext cx="107835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14477D"/>
                </a:solidFill>
                <a:latin typeface="Microsoft YaHei"/>
                <a:ea typeface="Microsoft YaHei"/>
              </a:rPr>
              <a:t>决策纪律：第7周起切换为完整六步法（资讯·计划课前线上）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课堂检查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W05-10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18 / 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75628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75628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CHECK · 当堂验收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做完不算完，验过才算数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教师抽查 + 同桌互查 + 运行截图三选二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417320"/>
            <a:ext cx="6309360" cy="12984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94944" y="1545336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4944" y="1545336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检查点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" y="1856232"/>
            <a:ext cx="585216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1C2833"/>
                </a:solidFill>
                <a:latin typeface="Microsoft YaHei"/>
                <a:ea typeface="Microsoft YaHei"/>
              </a:rPr>
              <a:t>‘车间’应该继承Device吗？为什么？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" y="2423160"/>
            <a:ext cx="58521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提示：答案都在本节'四要素详解'页——翻回去指给同桌看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059168" y="1417320"/>
            <a:ext cx="4657039" cy="2615184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96912" y="1536192"/>
            <a:ext cx="419983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4477D"/>
                </a:solidFill>
                <a:latin typeface="Microsoft YaHei"/>
                <a:ea typeface="Microsoft YaHei"/>
              </a:rPr>
              <a:t>当堂评分构成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296912" y="1993392"/>
            <a:ext cx="1920240" cy="274320"/>
          </a:xfrm>
          <a:prstGeom prst="rect">
            <a:avLst/>
          </a:prstGeom>
          <a:solidFill>
            <a:srgbClr val="D8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296912" y="1993392"/>
            <a:ext cx="768096" cy="27432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45168" y="1947672"/>
            <a:ext cx="209671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C2833"/>
                </a:solidFill>
                <a:latin typeface="Microsoft YaHei"/>
                <a:ea typeface="Microsoft YaHei"/>
              </a:rPr>
              <a:t>运行通过 40%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296912" y="2450592"/>
            <a:ext cx="1920240" cy="274320"/>
          </a:xfrm>
          <a:prstGeom prst="rect">
            <a:avLst/>
          </a:prstGeom>
          <a:solidFill>
            <a:srgbClr val="D8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296912" y="2450592"/>
            <a:ext cx="384048" cy="27432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45168" y="2404872"/>
            <a:ext cx="209671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C2833"/>
                </a:solidFill>
                <a:latin typeface="Microsoft YaHei"/>
                <a:ea typeface="Microsoft YaHei"/>
              </a:rPr>
              <a:t>规范与注释 20%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296912" y="2907792"/>
            <a:ext cx="1920240" cy="274320"/>
          </a:xfrm>
          <a:prstGeom prst="rect">
            <a:avLst/>
          </a:prstGeom>
          <a:solidFill>
            <a:srgbClr val="D8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296912" y="2907792"/>
            <a:ext cx="384048" cy="27432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45168" y="2862072"/>
            <a:ext cx="209671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C2833"/>
                </a:solidFill>
                <a:latin typeface="Microsoft YaHei"/>
                <a:ea typeface="Microsoft YaHei"/>
              </a:rPr>
              <a:t>决策记录 20%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296912" y="3364992"/>
            <a:ext cx="1920240" cy="274320"/>
          </a:xfrm>
          <a:prstGeom prst="rect">
            <a:avLst/>
          </a:prstGeom>
          <a:solidFill>
            <a:srgbClr val="D8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296912" y="3364992"/>
            <a:ext cx="384048" cy="27432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45168" y="3319272"/>
            <a:ext cx="209671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C2833"/>
                </a:solidFill>
                <a:latin typeface="Microsoft YaHei"/>
                <a:ea typeface="Microsoft YaHei"/>
              </a:rPr>
              <a:t>互查反馈 20%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96912" y="3840480"/>
            <a:ext cx="419983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D6D7E"/>
                </a:solidFill>
                <a:latin typeface="Microsoft YaHei"/>
                <a:ea typeface="Microsoft YaHei"/>
              </a:rPr>
              <a:t>未过怎么办：当堂改→教师复核→记录到错题本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75488" y="4370832"/>
            <a:ext cx="11240719" cy="960120"/>
          </a:xfrm>
          <a:prstGeom prst="roundRect">
            <a:avLst>
              <a:gd name="adj" fmla="val 5500"/>
            </a:avLst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4498848"/>
            <a:ext cx="10881360" cy="71323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>
                <a:solidFill>
                  <a:srgbClr val="D8E1EC"/>
                </a:solidFill>
                <a:latin typeface="Microsoft YaHei"/>
                <a:ea typeface="Microsoft YaHei"/>
              </a:rPr>
              <a:t>及格线：</a:t>
            </a:r>
            <a:r>
              <a:rPr sz="1250" b="0">
                <a:solidFill>
                  <a:srgbClr val="FFFFFF"/>
                </a:solidFill>
                <a:latin typeface="Microsoft YaHei"/>
                <a:ea typeface="Microsoft YaHei"/>
              </a:rPr>
              <a:t>1基类+2子类+覆盖</a:t>
            </a:r>
            <a:r>
              <a:rPr sz="1250" b="1">
                <a:solidFill>
                  <a:srgbClr val="D8E1EC"/>
                </a:solidFill>
                <a:latin typeface="Microsoft YaHei"/>
                <a:ea typeface="Microsoft YaHei"/>
              </a:rPr>
              <a:t>
优秀线：</a:t>
            </a:r>
            <a:r>
              <a:rPr sz="1250" b="0">
                <a:solidFill>
                  <a:srgbClr val="F5C08A"/>
                </a:solidFill>
                <a:latin typeface="Microsoft YaHei"/>
                <a:ea typeface="Microsoft YaHei"/>
              </a:rPr>
              <a:t>多态演示清晰；is-a判断正确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W05-10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19 / 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924359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924359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SUMMARY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一张图带走本课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讲给自己听一遍，才算真的学会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4939" y="1389888"/>
            <a:ext cx="7450618" cy="398678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e2f76f8ffbbf719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371" y="1417320"/>
            <a:ext cx="7395754" cy="3931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293608" y="1481328"/>
            <a:ext cx="3422599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三句话总结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93608" y="1920240"/>
            <a:ext cx="3422599" cy="896112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439912" y="202996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9912" y="202996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23960" y="2011680"/>
            <a:ext cx="2709367" cy="6400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多态：多态=一句口令各自执行：喊start()泵泵抽…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93608" y="2907792"/>
            <a:ext cx="3422599" cy="896112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439912" y="301752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39912" y="301752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23960" y="2999232"/>
            <a:ext cx="2709367" cy="6400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isinstance判断：isinstance=查工牌：这台设备是不是泵…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93608" y="3895344"/>
            <a:ext cx="3422599" cy="896112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439912" y="40050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39912" y="40050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23960" y="3986784"/>
            <a:ext cx="2709367" cy="6400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docstring文档：docstring=技能说明书：三引号一行，h…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293608" y="4882896"/>
            <a:ext cx="3422599" cy="1005840"/>
          </a:xfrm>
          <a:prstGeom prst="roundRect">
            <a:avLst>
              <a:gd name="adj" fmla="val 5500"/>
            </a:avLst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76488" y="4974336"/>
            <a:ext cx="3056839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670F"/>
                </a:solidFill>
                <a:latin typeface="Microsoft YaHei"/>
                <a:ea typeface="Microsoft YaHei"/>
              </a:rPr>
              <a:t>下一步行动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76488" y="5285232"/>
            <a:ext cx="3056839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D8E1EC"/>
                </a:solidFill>
                <a:latin typeface="Microsoft YaHei"/>
                <a:ea typeface="Microsoft YaHei"/>
              </a:rPr>
              <a:t>①工单0.4收尾跑绿并上传 ②错题本记1条 ③预习微课+导学单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课后与预告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W05-10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20 / 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523687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523687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NEXT &amp; HOMEWORK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下课之后，上课之前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作业当堂布置当堂记：写进工单本，别靠脑子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89888"/>
            <a:ext cx="5852160" cy="397763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517904"/>
            <a:ext cx="5303520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今日作业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1956816"/>
            <a:ext cx="292608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1956816"/>
            <a:ext cx="292608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61288" y="1938528"/>
            <a:ext cx="493776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>
                <a:solidFill>
                  <a:srgbClr val="1C2833"/>
                </a:solidFill>
                <a:latin typeface="Microsoft YaHei"/>
                <a:ea typeface="Microsoft YaHei"/>
              </a:rPr>
              <a:t>1. 完成工单项目0.4《工业设备继承体系》：及格标准1基类+2子类+继承覆盖；优秀标准≥3子类、多态演示清晰、含docstring、规范率≥90%；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2523744"/>
            <a:ext cx="292608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2523744"/>
            <a:ext cx="292608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61288" y="2505456"/>
            <a:ext cx="493776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2. 绘制本周设备继承体系类图；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3090672"/>
            <a:ext cx="292608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3090672"/>
            <a:ext cx="292608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61288" y="3072384"/>
            <a:ext cx="493776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3. 预习异常处理机制。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4526280"/>
            <a:ext cx="5349240" cy="749808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4617720"/>
            <a:ext cx="5029200" cy="56692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提交物：</a:t>
            </a:r>
            <a:r>
              <a:rPr sz="1050" b="0">
                <a:solidFill>
                  <a:srgbClr val="1C2833"/>
                </a:solidFill>
                <a:latin typeface="Microsoft YaHei"/>
                <a:ea typeface="Microsoft YaHei"/>
              </a:rPr>
              <a:t>学号_姓名_W05.py + 运行截图（含文件名）+ 工单决策记录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56248" y="1389888"/>
            <a:ext cx="5159959" cy="3977639"/>
          </a:xfrm>
          <a:prstGeom prst="roundRect">
            <a:avLst>
              <a:gd name="adj" fmla="val 5500"/>
            </a:avLst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30568" y="1536192"/>
            <a:ext cx="461131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下次课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30568" y="1956816"/>
            <a:ext cx="4611319" cy="9144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</a:rPr>
              <a:t>程序生病了怎么办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30568" y="3017520"/>
            <a:ext cx="4611319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670F"/>
                </a:solidFill>
                <a:latin typeface="Microsoft YaHei"/>
                <a:ea typeface="Microsoft YaHei"/>
              </a:rPr>
              <a:t>为什么接下来学它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30568" y="3364992"/>
            <a:ext cx="4611319" cy="12344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D8E1EC"/>
                </a:solidFill>
                <a:latin typeface="Microsoft YaHei"/>
                <a:ea typeface="Microsoft YaHei"/>
              </a:rPr>
              <a:t>凌晨的断电让采集程序崩在中途，丢了半小时数据。王主任发火：'程序不能一摔就死。'——工单0.5：异常处理+日志，让程序'摔了能爬起来还留下案发记录'（本周中期诊断）。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30568" y="4663440"/>
            <a:ext cx="4611319" cy="60350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C9D4E4"/>
                </a:solidFill>
                <a:latin typeface="Microsoft YaHei"/>
                <a:ea typeface="Microsoft YaHei"/>
              </a:rPr>
              <a:t>预习动作：微课视频 + 导学单先行；带着一个问题上考场。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75488" y="5596128"/>
            <a:ext cx="11240719" cy="777240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9808" y="5705856"/>
            <a:ext cx="10881360" cy="56692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14477D"/>
                </a:solidFill>
                <a:latin typeface="Microsoft YaHei"/>
                <a:ea typeface="Microsoft YaHei"/>
              </a:rPr>
              <a:t>工具链：PyCharm CE（主编辑器） · Jupyter（实训） · Git/GitHub（每周提交） · conda环境</a:t>
            </a: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
报错了？先查《报错翻译对照表》，再看微课'排错三步法'。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041648" y="1920240"/>
            <a:ext cx="4114800" cy="82296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463040" y="2240280"/>
            <a:ext cx="9235440" cy="10058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FFFFFF"/>
                </a:solidFill>
                <a:latin typeface="Microsoft YaHei"/>
                <a:ea typeface="Microsoft YaHei"/>
              </a:rPr>
              <a:t>感谢垂听 · 动手出真知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40" y="3310128"/>
            <a:ext cx="923544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C9D4E4"/>
                </a:solidFill>
                <a:latin typeface="Microsoft YaHei"/>
                <a:ea typeface="Microsoft YaHei"/>
              </a:rPr>
              <a:t>把今天的工单跑绿，就是给下周的自己铺路。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0" y="4160520"/>
            <a:ext cx="6858000" cy="1417320"/>
          </a:xfrm>
          <a:prstGeom prst="roundRect">
            <a:avLst>
              <a:gd name="adj" fmla="val 55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880360" y="4279392"/>
            <a:ext cx="6400800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课后三件事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80360" y="4626864"/>
            <a:ext cx="64008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D8E1EC"/>
                </a:solidFill>
                <a:latin typeface="Microsoft YaHei"/>
                <a:ea typeface="Microsoft YaHei"/>
              </a:rPr>
              <a:t>1. 工单0.4跑绿并上传学习平台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0360" y="4956048"/>
            <a:ext cx="64008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D8E1EC"/>
                </a:solidFill>
                <a:latin typeface="Microsoft YaHei"/>
                <a:ea typeface="Microsoft YaHei"/>
              </a:rPr>
              <a:t>2. 错题本记1条今天踩的坑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80360" y="5285232"/>
            <a:ext cx="64008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D8E1EC"/>
                </a:solidFill>
                <a:latin typeface="Microsoft YaHei"/>
                <a:ea typeface="Microsoft YaHei"/>
              </a:rPr>
              <a:t>3. 预习微课+导学单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60" y="5779008"/>
            <a:ext cx="685800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670F"/>
                </a:solidFill>
                <a:latin typeface="Microsoft YaHei"/>
                <a:ea typeface="Microsoft YaHei"/>
              </a:rPr>
              <a:t>下次课 → 程序生病了怎么办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" y="6419088"/>
            <a:ext cx="10515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8C99B5"/>
                </a:solidFill>
                <a:latin typeface="Microsoft YaHei"/>
                <a:ea typeface="Microsoft YaHei"/>
              </a:rPr>
              <a:t>Python编程基础 · V1 · W05-10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一套接口，多种设备</dc:title>
  <dc:subject/>
  <dc:creator>两江智造教学组</dc:creator>
  <cp:keywords/>
  <dc:description>V1.1 · easyslides 规范重制（页面充实版）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