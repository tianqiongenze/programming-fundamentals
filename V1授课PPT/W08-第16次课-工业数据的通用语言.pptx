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6" r:id="rId2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8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07688"/>
            <a:ext cx="5029200" cy="384262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777240"/>
            <a:ext cx="2611282" cy="289559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777240"/>
            <a:ext cx="2611282" cy="289559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Python编程基础 · 12周·48课时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594360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670F"/>
                </a:solidFill>
                <a:latin typeface="Microsoft YaHei"/>
                <a:ea typeface="Microsoft YaHei"/>
              </a:rPr>
              <a:t>W08 · 第16次课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85216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工业数据的通用语言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931920"/>
            <a:ext cx="905377" cy="27749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905377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工单 1.2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82617" y="3931920"/>
            <a:ext cx="1859026" cy="27749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82617" y="3931920"/>
            <a:ext cx="1859026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工业数据文件处理系统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443984"/>
            <a:ext cx="3318845" cy="253365"/>
          </a:xfrm>
          <a:prstGeom prst="roundRect">
            <a:avLst>
              <a:gd name="adj" fmla="val 50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443984"/>
            <a:ext cx="3318845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本节（下）：优化与评价 · 复盘冲刺 + 三层质检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956048"/>
            <a:ext cx="5669280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C9D4E4"/>
                </a:solidFill>
                <a:latin typeface="Microsoft YaHei"/>
                <a:ea typeface="Microsoft YaHei"/>
              </a:rPr>
              <a:t>历史数据集中清洗入库：剔缺失、修类型、查越界，输出可信数据集与清洗报告。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C99B5"/>
                </a:solidFill>
                <a:latin typeface="Microsoft YaHei"/>
                <a:ea typeface="Microsoft YaHei"/>
              </a:rPr>
              <a:t>重庆两江智造集团 · 双创中心302实训室 · V1重制版（easyslides规范）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课前回顾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W08-16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02 / 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616979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61697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RECAP · 课前五分钟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上次课你带走了什么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先测后讲：两道口头快答，答不上就翻回上节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44752"/>
            <a:ext cx="603504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76656" y="1572768"/>
            <a:ext cx="777240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" y="1572768"/>
            <a:ext cx="77724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快答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" y="1865376"/>
            <a:ext cx="56235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温度135℃该剔除还是保留？(业务讨论)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" y="2414016"/>
            <a:ext cx="562356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提示：回看上节'四要素详解'页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39128" y="1444752"/>
            <a:ext cx="4977079" cy="141732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58584" y="1554480"/>
            <a:ext cx="4538167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4477D"/>
                </a:solidFill>
                <a:latin typeface="Microsoft YaHei"/>
                <a:ea typeface="Microsoft YaHei"/>
              </a:rPr>
              <a:t>本周重点回顾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58584" y="1920240"/>
            <a:ext cx="4538167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2833"/>
                </a:solidFill>
                <a:latin typeface="Microsoft YaHei"/>
                <a:ea typeface="Microsoft YaHei"/>
              </a:rPr>
              <a:t>· 文件与数据——重点：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58584" y="2359152"/>
            <a:ext cx="4538167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2833"/>
                </a:solidFill>
                <a:latin typeface="Microsoft YaHei"/>
                <a:ea typeface="Microsoft YaHei"/>
              </a:rPr>
              <a:t>· with open的规范用法；JSON与CSV的读写流程；…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39128" y="2999232"/>
            <a:ext cx="4977079" cy="1207008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58584" y="3108960"/>
            <a:ext cx="4538167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8A6D1D"/>
                </a:solidFill>
                <a:latin typeface="Microsoft YaHei"/>
                <a:ea typeface="Microsoft YaHei"/>
              </a:rPr>
              <a:t>上节最容易踩的坑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58584" y="3456432"/>
            <a:ext cx="4538167" cy="67665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8A6D1D"/>
                </a:solidFill>
                <a:latin typeface="Microsoft YaHei"/>
                <a:ea typeface="Microsoft YaHei"/>
              </a:rPr>
              <a:t>正则把整行吞了：贪婪.*
</a:t>
            </a:r>
            <a:r>
              <a:rPr sz="1100" b="0">
                <a:solidFill>
                  <a:srgbClr val="17855A"/>
                </a:solidFill>
                <a:latin typeface="Microsoft YaHei"/>
                <a:ea typeface="Microsoft YaHei"/>
              </a:rPr>
              <a:t>修法：用[\d.]+限定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4443984"/>
            <a:ext cx="11240719" cy="1097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4562856"/>
            <a:ext cx="10881360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本节（下）：优化与评价——错误复盘 + B/A层冲刺 + 三层质检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983480"/>
            <a:ext cx="10881360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5D6D7E"/>
                </a:solidFill>
                <a:latin typeface="Microsoft YaHei"/>
                <a:ea typeface="Microsoft YaHei"/>
              </a:rPr>
              <a:t>本节主线：with open自动关闭；encoding='utf-8… / csv.DictReader按表头取列——应用：见工单st… / json.loads/dumps解析与序列化——应用：见工…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W08-16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03 / 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GOALS &amp; 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这节课结束时，你能做到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目标可测量：及格线/优秀线写在工单上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3612794" cy="82296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知识目标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掌握文件读写与with语句的使用；掌握JSON/CSV两种格式的解析与生成方法；理解数据验证与清洗的基本策略。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检验：口头复述+快答2题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89450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89450" y="1389888"/>
            <a:ext cx="3612794" cy="82296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8906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能力目标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8906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能够正确读写≥2种文件格式并进行基本数据验证；能够输出标准化数据文件；代码规范率≥80%。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54042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63770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检验：工单运行通过+截图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3412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3412" y="1389888"/>
            <a:ext cx="3612794" cy="82296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2868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素质目标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2868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树立数据质量意识（脏数据进、垃圾出），养成文件操作及时关闭的资源管理习惯。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68004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77732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检验：同桌互查代码规范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3950208"/>
            <a:ext cx="11240719" cy="159105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078224"/>
            <a:ext cx="54864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4477D"/>
                </a:solidFill>
                <a:latin typeface="Microsoft YaHei"/>
                <a:ea typeface="Microsoft YaHei"/>
              </a:rPr>
              <a:t>课堂节奏（80分钟）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9808" y="4535424"/>
            <a:ext cx="1220927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535424"/>
            <a:ext cx="1220927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1.输出clean.c…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13834" y="4535424"/>
            <a:ext cx="1565554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13834" y="4535424"/>
            <a:ext cx="1565554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2.135℃业务决策记录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77860" y="4535424"/>
            <a:ext cx="1719021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77860" y="4535424"/>
            <a:ext cx="1719021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3.支持命令行参数选输…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5084064"/>
            <a:ext cx="1069207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节奏纪律：讲10分钟必须动手一次；实操环节教师只答疑不代写——卡住先查《报错翻译对照表》，再举手。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知识精讲 · 讲透每个概念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本章聚焦：文件与数据——重点： · with open的规范用法；JS… · 难点：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三维验证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('三维验证=格式(能不能解析)+字段(键齐不齐)+值域(温度-2…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问题行策略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('问题行三策略：丢弃(记日志)、修复(有依据才修)、隔离(进ba…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newline=''防C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("Windows的CSV换行是\\r\\n，默认open会多翻译…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5670F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W08-16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W08-16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05 / 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B04 三维验证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三道闸=查户口：键在不在/类型对不对/数值合不合理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原理：三维验证=格式(能不能解析)+字段(键齐不齐)+值域(温度-20~200合理吗)——三关连过才算干净数据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脏数据进门三道闸——W5清洗三招的文件版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怎么判断：外部数据进门必过三关：json能loads只是及格，键全不全、值合不合理才是质量核心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Consolas"/>
                <a:ea typeface="Microsoft YaHei"/>
              </a:rPr>
              <a:t>if 'temp' not in row: 跳过并记录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Consolas"/>
                <a:ea typeface="Microsoft YaHei"/>
              </a:rPr>
              <a:t>逐行看：try: obj=json.loads(s) 第一关格式；REQUIRED键逐个in检查第二关；-20&lt;temp&lt;200第三关值域——任一关倒下记坏行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误区：只查缺失不查范围——温度=-999能穿透到模型里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进阶：值域阈值从设备说明书抄录并常量化；验证函数返回(bool,原因)二元组，坏因写进质量报告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W08-16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06 / 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三维验证：一张图看懂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80092" y="1362456"/>
            <a:ext cx="7014551" cy="37581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3f969e7595d9cda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524" y="1389888"/>
            <a:ext cx="6959687" cy="3703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一张图纸可造多台设备（实例化）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属性=铭牌；方法=操作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追问：误区：只查缺失不查范围——温度=-999能穿透到模型里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1C2833"/>
                </a:solidFill>
                <a:latin typeface="Microsoft YaHei"/>
                <a:ea typeface="Microsoft YaHei"/>
              </a:rPr>
              <a:t>一句话：三道闸=查户口：键在不在/类型对不对/数值合不合理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何时用：脏数据进门三道闸——W5清洗三招的文件版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W08-16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07 / 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B05 问题行策略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坏行处理=登记放行：跳过但写bad.log带原因——可追溯不静默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原理：问题行三策略：丢弃(记日志)、修复(有依据才修)、隔离(进bad_rows.csv待人工)——默认隔离最稳，静默丢弃是罪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不能一条脏数据停产线，也不能悄悄吞掉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怎么判断：135℃神仙记录：修(明显多打一位→13.5?)必须给依据；不确定就隔离——每条处置写进清洗日志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Consolas"/>
                <a:ea typeface="Microsoft YaHei"/>
              </a:rPr>
              <a:t>bad_log.write(f'{line} | 缺temp字段\n')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Consolas"/>
                <a:ea typeface="Microsoft YaHei"/>
              </a:rPr>
              <a:t>逐行看：if not valid: bad_rows.append((row,reason)) 隔离区留全尸；clean_rows.append(row) 干净区放行；最后bad导出CSV+统计报告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误区：静默吞错=埋雷——问题行数要进质量报告接受检查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进阶：处置率=坏行/总数进质量日报；坏行模式聚类（都是3号泵？）往往是设备真故障的线索——坏数据也是资产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W08-16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08 / 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B06 newline=''防CSV空行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newline=''=告诉open'换行我自己管'——CSV不再多空行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原理：Windows的CSV换行是\r\n，默认open会多翻译一层导致writer输出隔行空行——newline=''关掉自动翻译由csv模块接管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Windows写CSV每行多一空行的元凶——标准解就一个参数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怎么判断：用csv.writer写文件在Windows出现隔空行时，open加newline=''立竿见影——这是平台坑不是玄学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Consolas"/>
                <a:ea typeface="Microsoft YaHei"/>
              </a:rPr>
              <a:t>open('r.csv','w',newline='')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Consolas"/>
                <a:ea typeface="Microsoft YaHei"/>
              </a:rPr>
              <a:t>逐行看：open(f,'w',newline='') 关翻译；csv.writer(f) 接管换行——写出文件每行紧凑无空行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误区：读到空行以为是数据问题——写的时候就该带newline=''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进阶：Mac/Linux无此坑但代码要跨平台就统一加newline=''；UTF-8-SIG让Excel打开不乱码（BOM头兼容）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W08-16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09 / 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newline=''防CSV空行：一张图看懂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899701"/>
            <a:ext cx="7278624" cy="268369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7c98bb77077b48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927133"/>
            <a:ext cx="7223760" cy="262883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先想清楚数据从哪来到哪去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每一步只做一件事，错了好定位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追问：误区：读到空行以为是数据问题——写的时候就该带newline=''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1C2833"/>
                </a:solidFill>
                <a:latin typeface="Microsoft YaHei"/>
                <a:ea typeface="Microsoft YaHei"/>
              </a:rPr>
              <a:t>一句话：newline=''=告诉open'换行我自己管'——CSV不再多空行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何时用：Windows写CSV每行多一空行的元凶——标准解就一个参数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技能实操 · 代码跑起来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本章聚焦：文件与数据——重点： · with open的规范用法；JS… · 难点：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384048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3840480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3840480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三维验证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840480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def validate(row):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33425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33425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33425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with读写CSV与J…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33425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with读写CSV与JSON——应用：见工单starter与教师参…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482803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482803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482803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实现三维数据验证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82803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实现三维数据验证——应用：见工单starter与教师参考实现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32180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32180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532180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bad_records…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32180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bad_records错误留痕——应用：见工单starter与教师…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51760" y="5815584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88920" y="5815584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5815584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输出清洗报告与标准化数据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815584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输出清洗报告与标准化数据——应用：见工单starter与教师参考实现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5670F"/>
                </a:solidFill>
                <a:latin typeface="Microsoft YaHei"/>
                <a:ea typeface="Microsoft YaHei"/>
              </a:rPr>
              <a:t>本章产出：四要素详解页×5 · 图解页×3 · 可跟打代码页×2 · 工单与分层工单各1份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W08-16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技能实操 · 可执行代码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W08-16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11 / 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6676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6676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CODE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三维验证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已实跑验证 · 退出码 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6171907" cy="4754880"/>
          </a:xfrm>
          <a:prstGeom prst="roundRect">
            <a:avLst>
              <a:gd name="adj" fmla="val 4500"/>
            </a:avLst>
          </a:prstGeom>
          <a:solidFill>
            <a:srgbClr val="0F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453896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453896"/>
            <a:ext cx="2103120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 示例 · 可跟打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764792"/>
            <a:ext cx="5879299" cy="4270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def validate(row):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t = row["temp"]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if t in ("", None): return "缺失"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try: t = float(t)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except ValueError: return "类型"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return None if 0 &lt;= t &lt;= 120 else "范围"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66851" y="1371600"/>
            <a:ext cx="4849355" cy="4754880"/>
          </a:xfrm>
          <a:prstGeom prst="roundRect">
            <a:avLst>
              <a:gd name="adj" fmla="val 4500"/>
            </a:avLst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994867" y="1463040"/>
            <a:ext cx="82296" cy="82296"/>
          </a:xfrm>
          <a:prstGeom prst="ellipse">
            <a:avLst/>
          </a:prstGeom>
          <a:solidFill>
            <a:srgbClr val="E06C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22883" y="1463040"/>
            <a:ext cx="82296" cy="82296"/>
          </a:xfrm>
          <a:prstGeom prst="ellipse">
            <a:avLst/>
          </a:prstGeom>
          <a:solidFill>
            <a:srgbClr val="E5C0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250899" y="1463040"/>
            <a:ext cx="82296" cy="82296"/>
          </a:xfrm>
          <a:prstGeom prst="ellipse">
            <a:avLst/>
          </a:prstGeom>
          <a:solidFill>
            <a:srgbClr val="98C3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33779" y="1426464"/>
            <a:ext cx="3386315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98C379"/>
                </a:solidFill>
                <a:latin typeface="Consolas"/>
                <a:ea typeface="Microsoft YaHei"/>
              </a:rPr>
              <a:t>terminal — 真实运行输出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3155" y="1755648"/>
            <a:ext cx="4556747" cy="43708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A8D4B7"/>
                </a:solidFill>
                <a:latin typeface="Consolas"/>
                <a:ea typeface="Microsoft YaHei"/>
              </a:rPr>
              <a:t>（无输出）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避坑指南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W08-16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12 / 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DEBUG · 常见报错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报错翻译：程序'说'了什么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报错是程序在说话——先读最后一行，再往上找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11240719" cy="457200"/>
          </a:xfrm>
          <a:prstGeom prst="roundRect">
            <a:avLst>
              <a:gd name="adj" fmla="val 55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1463040"/>
            <a:ext cx="278892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报错/现象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1463040"/>
            <a:ext cx="37490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为什么会这样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4928" y="1463040"/>
            <a:ext cx="39776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怎么修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1847088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1938528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float('err')崩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8728" y="1938528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未预判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4928" y="1938528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try转换或errors处理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2880360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4F7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971800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CSV多空行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8728" y="2971800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缺newline=''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24928" y="2971800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open(...,newline='')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9136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4005072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路径找不到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38728" y="4005072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IDE与命令行cwd不同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24928" y="4005072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按脚本目录拼路径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4992624"/>
            <a:ext cx="11240719" cy="71323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① 读最后一行  </a:t>
            </a: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报错类型+行号都在这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616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② 定位变量  </a:t>
            </a: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NameError=没定义/拼错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92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③ 最小复现  </a:t>
            </a: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注释一半再跑，二分找错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工单实战 · 按单交付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本章聚焦：文件与数据——重点： · with open的规范用法；JS… · 难点：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按工单步骤逐项打勾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及格/优秀线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D/C保底 · B/A冲刺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A/B/C/D分层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按当前水平选起点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5670F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W08-16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工单实战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W08-16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14 / 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142039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14203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WORK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工单 1.2 · 工业数据文件处理系统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按单交付：及格线保底，优秀线冲刺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6583680" cy="4709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1499616"/>
            <a:ext cx="603504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192024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192024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6" y="1901952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输出clean.csv+各维度问题计数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2505456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505456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" y="2487168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135℃业务决策记录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30906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0906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5296" y="3072384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支持命令行参数选输入文件(选做)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4526280"/>
            <a:ext cx="6035040" cy="1389888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0976" y="4617720"/>
            <a:ext cx="566928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验收清单（教师按此打分）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50976" y="4992624"/>
            <a:ext cx="146304" cy="146304"/>
          </a:xfrm>
          <a:prstGeom prst="rect">
            <a:avLst/>
          </a:prstGeom>
          <a:noFill/>
          <a:ln w="15240">
            <a:solidFill>
              <a:srgbClr val="144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88720" y="4928616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程序运行无报错，输出与示例一致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0976" y="5303520"/>
            <a:ext cx="146304" cy="146304"/>
          </a:xfrm>
          <a:prstGeom prst="rect">
            <a:avLst/>
          </a:prstGeom>
          <a:noFill/>
          <a:ln w="15240">
            <a:solidFill>
              <a:srgbClr val="144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88720" y="5239512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截图含完整运行结果与文件名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0976" y="5614416"/>
            <a:ext cx="146304" cy="146304"/>
          </a:xfrm>
          <a:prstGeom prst="rect">
            <a:avLst/>
          </a:prstGeom>
          <a:noFill/>
          <a:ln w="15240">
            <a:solidFill>
              <a:srgbClr val="144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88720" y="5550408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变量命名规范率达标（snake_case）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87768" y="1371600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25512" y="1499616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A4A63"/>
                </a:solidFill>
                <a:latin typeface="Microsoft YaHei"/>
                <a:ea typeface="Microsoft YaHei"/>
              </a:rPr>
              <a:t>及格线 · D/C层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25512" y="1865376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≥2格式+基本验证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25512" y="2779776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检查方式：运行+截图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287768" y="3246119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25512" y="3374135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670F"/>
                </a:solidFill>
                <a:latin typeface="Microsoft YaHei"/>
                <a:ea typeface="Microsoft YaHei"/>
              </a:rPr>
              <a:t>优秀线 · B/A层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25512" y="3739895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报告清晰；业务决策有依据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25512" y="4654295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检查方式：运行+规范+答辩追问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287768" y="5138928"/>
            <a:ext cx="4428439" cy="941832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25512" y="5257800"/>
            <a:ext cx="3971239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提交物</a:t>
            </a: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
代码文件+运行截图+工单决策记录（上传学习平台）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分层任务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W08-16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15 / 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58666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58666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A/B/C/D LAYERS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同一工单，四条爬梯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按当前水平选起点，D层保底人人可交付，A层给足挑战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2686735" cy="7772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A 层 · 挑战层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体检脚本+参数化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236976"/>
            <a:ext cx="1461897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36976"/>
            <a:ext cx="1461897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达标：三维统计报表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缺失/类型/范围统计脚本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--input参数支持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864608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135℃业务决策记录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C0392B"/>
                </a:solidFill>
                <a:latin typeface="Microsoft YaHei"/>
                <a:ea typeface="Microsoft YaHei"/>
              </a:rPr>
              <a:t>卡壳&gt;10分钟→降B层，先拿过程分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26815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26815" y="1389888"/>
            <a:ext cx="2686735" cy="77724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09695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B 层 · 进阶层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09695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完整清洗管线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09695" y="3236976"/>
            <a:ext cx="1717675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09695" y="3236976"/>
            <a:ext cx="1717675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达标：报告+bad_records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09695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读取CSV三维验证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09695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问题行写bad_records.csv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09695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输出清洗报告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09695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F5670F"/>
                </a:solidFill>
                <a:latin typeface="Microsoft YaHei"/>
                <a:ea typeface="Microsoft YaHei"/>
              </a:rPr>
              <a:t>完成C层后冲刺：先跑通再优化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8143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1389888"/>
            <a:ext cx="2686735" cy="77724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C 层 · 基础层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基础清洗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61023" y="3236976"/>
            <a:ext cx="1510494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1023" y="3236976"/>
            <a:ext cx="1510494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达标：能出clean.csv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1023" y="3730752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读取CSV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61023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过滤空值行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61023" y="4864608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输出clean.csv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61023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14477D"/>
                </a:solidFill>
                <a:latin typeface="Microsoft YaHei"/>
                <a:ea typeface="Microsoft YaHei"/>
              </a:rPr>
              <a:t>照示例改参数，跑通即得分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29471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029471" y="1389888"/>
            <a:ext cx="2686735" cy="777240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212351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D 层 · 保底层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12351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脏数据观察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212351" y="3236976"/>
            <a:ext cx="1461897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212351" y="3236976"/>
            <a:ext cx="1461897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达标：能数出问题行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12351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--peek预览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12351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找3个问题行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12351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口述维度归类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12351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A4A63"/>
                </a:solidFill>
                <a:latin typeface="Microsoft YaHei"/>
                <a:ea typeface="Microsoft YaHei"/>
              </a:rPr>
              <a:t>逐行跟打示例，跑通就是胜利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方案决策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W08-16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16 / 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80227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8022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DECISION MATRIX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决策：越界处置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工程不是选最好的，是选当前约束下最划算的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11240719" cy="475488"/>
          </a:xfrm>
          <a:prstGeom prst="roundRect">
            <a:avLst>
              <a:gd name="adj" fmla="val 55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" y="1508760"/>
            <a:ext cx="3564026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策略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1508760"/>
            <a:ext cx="3564026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理由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79028" y="1508760"/>
            <a:ext cx="3564026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采纳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1892808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4" y="1947672"/>
            <a:ext cx="3527450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剔除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50410" y="1947672"/>
            <a:ext cx="3527450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统计离群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7316" y="1947672"/>
            <a:ext cx="3527450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3008376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4F7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504" y="3063240"/>
            <a:ext cx="3527450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保留并标记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50410" y="3063240"/>
            <a:ext cx="3527450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真实过热工况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7316" y="3063240"/>
            <a:ext cx="3527450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4169664"/>
            <a:ext cx="11240719" cy="68580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088" y="4270248"/>
            <a:ext cx="107835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14477D"/>
                </a:solidFill>
                <a:latin typeface="Microsoft YaHei"/>
                <a:ea typeface="Microsoft YaHei"/>
              </a:rPr>
              <a:t>决策纪律：决策结论写入工单，答辩必答；实施失误回溯决策复盘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课堂检查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W08-16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17 / 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CHECK · 当堂验收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做完不算完，验过才算数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教师抽查 + 同桌互查 + 运行截图三选二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630936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94944" y="1545336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45336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检查点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856232"/>
            <a:ext cx="58521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1C2833"/>
                </a:solidFill>
                <a:latin typeface="Microsoft YaHei"/>
                <a:ea typeface="Microsoft YaHei"/>
              </a:rPr>
              <a:t>温度135℃该剔除还是保留？(业务讨论)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2423160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提示：答案都在本节'四要素详解'页——翻回去指给同桌看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59168" y="1417320"/>
            <a:ext cx="4657039" cy="2615184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96912" y="1536192"/>
            <a:ext cx="419983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4477D"/>
                </a:solidFill>
                <a:latin typeface="Microsoft YaHei"/>
                <a:ea typeface="Microsoft YaHei"/>
              </a:rPr>
              <a:t>当堂评分构成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96912" y="19933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96912" y="1993392"/>
            <a:ext cx="768096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45168" y="19476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运行通过 40%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96912" y="24505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296912" y="2450592"/>
            <a:ext cx="384048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45168" y="2404872"/>
            <a:ext cx="209671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规范与注释 20%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96912" y="29077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96912" y="2907792"/>
            <a:ext cx="384048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45168" y="28620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决策记录 20%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96912" y="33649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96912" y="3364992"/>
            <a:ext cx="384048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45168" y="33192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互查反馈 20%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96912" y="3840480"/>
            <a:ext cx="41998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未过怎么办：当堂改→教师复核→记录到错题本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5488" y="43708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498848"/>
            <a:ext cx="10881360" cy="7132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及格线：</a:t>
            </a:r>
            <a:r>
              <a:rPr sz="1250" b="0">
                <a:solidFill>
                  <a:srgbClr val="FFFFFF"/>
                </a:solidFill>
                <a:latin typeface="Microsoft YaHei"/>
                <a:ea typeface="Microsoft YaHei"/>
              </a:rPr>
              <a:t>≥2格式+基本验证</a:t>
            </a: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
优秀线：</a:t>
            </a:r>
            <a:r>
              <a:rPr sz="1250" b="0">
                <a:solidFill>
                  <a:srgbClr val="F5C08A"/>
                </a:solidFill>
                <a:latin typeface="Microsoft YaHei"/>
                <a:ea typeface="Microsoft YaHei"/>
              </a:rPr>
              <a:t>报告清晰；业务决策有依据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W08-16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18 / 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24359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2435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一张图带走本课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讲给自己听一遍，才算真的学会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4939" y="1389888"/>
            <a:ext cx="7450618" cy="39867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af372e7e379d8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371" y="1417320"/>
            <a:ext cx="7395754" cy="393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93608" y="1481328"/>
            <a:ext cx="342259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三句话总结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93608" y="1920240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3991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991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2011680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三维验证：三道闸=查户口：键在不在/类型对不对/数值合不…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93608" y="2907792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39912" y="301752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9912" y="301752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2999232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问题行策略：坏行处理=登记放行：跳过但写bad.log带原…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93608" y="3895344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39912" y="40050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39912" y="40050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60" y="3986784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newline=''防CSV空行：newline=''=告诉open'换行我自己…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93608" y="4882896"/>
            <a:ext cx="3422599" cy="1005840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76488" y="4974336"/>
            <a:ext cx="305683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下一步行动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76488" y="5285232"/>
            <a:ext cx="305683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①工单1.2收尾跑绿并上传 ②错题本记1条 ③预习微课+导学单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课后与预告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W08-16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19 / 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23687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2368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NEXT &amp; HOMEWORK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下课之后，上课之前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作业当堂布置当堂记：写进工单本，别靠脑子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5852160" cy="397763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517904"/>
            <a:ext cx="530352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今日作业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1956816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956816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1288" y="1938528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1. 完成工单项目1.2《工业数据文件处理系统》：及格标准读写≥2种格式+基本验证；优秀标准验证多维度+输出清晰+规范率≥90%；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2523744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2523744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61288" y="2505456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2. 编写一个“数据体检脚本”：统计文件缺失值数量；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090672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090672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1288" y="3072384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3. 预习jieba分词的安装与使用。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4526280"/>
            <a:ext cx="5349240" cy="749808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617720"/>
            <a:ext cx="502920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提交物：</a:t>
            </a: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学号_姓名_W08.py + 运行截图（含文件名）+ 工单决策记录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56248" y="1389888"/>
            <a:ext cx="5159959" cy="3977639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30568" y="1536192"/>
            <a:ext cx="46113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下次课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30568" y="1956816"/>
            <a:ext cx="4611319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读懂成千上万条故障描述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30568" y="3017520"/>
            <a:ext cx="461131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为什么接下来学它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30568" y="3364992"/>
            <a:ext cx="4611319" cy="12344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D8E1EC"/>
                </a:solidFill>
                <a:latin typeface="Microsoft YaHei"/>
                <a:ea typeface="Microsoft YaHei"/>
              </a:rPr>
              <a:t>月底设备分析会，王主任要'一页纸看清故障规律'。半年的报修单有几百条文字——工单1.3：分词+词云，让文字变成一眼可读的图。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0568" y="4663440"/>
            <a:ext cx="4611319" cy="6035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9D4E4"/>
                </a:solidFill>
                <a:latin typeface="Microsoft YaHei"/>
                <a:ea typeface="Microsoft YaHei"/>
              </a:rPr>
              <a:t>预习动作：微课视频 + 导学单先行；带着一个问题上考场。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75488" y="5596128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5705856"/>
            <a:ext cx="108813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14477D"/>
                </a:solidFill>
                <a:latin typeface="Microsoft YaHei"/>
                <a:ea typeface="Microsoft YaHei"/>
              </a:rPr>
              <a:t>工具链：PyCharm CE（主编辑器） · Jupyter（实训） · Git/GitHub（每周提交） · conda环境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报错了？先查《报错翻译对照表》，再看微课'排错三步法'。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41648" y="1920240"/>
            <a:ext cx="4114800" cy="82296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0" y="2240280"/>
            <a:ext cx="9235440" cy="10058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  <a:ea typeface="Microsoft YaHei"/>
              </a:rPr>
              <a:t>感谢垂听 · 动手出真知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3310128"/>
            <a:ext cx="92354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C9D4E4"/>
                </a:solidFill>
                <a:latin typeface="Microsoft YaHei"/>
                <a:ea typeface="Microsoft YaHei"/>
              </a:rPr>
              <a:t>把今天的工单跑绿，就是给下周的自己铺路。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4160520"/>
            <a:ext cx="6858000" cy="1417320"/>
          </a:xfrm>
          <a:prstGeom prst="roundRect">
            <a:avLst>
              <a:gd name="adj" fmla="val 55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80360" y="4279392"/>
            <a:ext cx="640080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课后三件事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4626864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1. 工单1.2跑绿并上传学习平台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4956048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2. 错题本记1条今天踩的坑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5285232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3. 预习微课+导学单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5779008"/>
            <a:ext cx="68580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下次课 → 读懂成千上万条故障描述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6419088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W08-16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本讲对应工单：《程序设计基础》分层任务工单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工业数据的通用语言</dc:title>
  <dc:subject/>
  <dc:creator>两江智造教学组</dc:creator>
  <cp:keywords/>
  <dc:description>V1.1 · easyslides 规范重制（页面充实版）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