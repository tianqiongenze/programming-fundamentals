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507688"/>
            <a:ext cx="5029200" cy="3842623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777240"/>
            <a:ext cx="2611282" cy="289559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777240"/>
            <a:ext cx="2611282" cy="289559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Python编程基础 · 12周·48课时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81328"/>
            <a:ext cx="5943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670F"/>
                </a:solidFill>
                <a:latin typeface="Microsoft YaHei"/>
                <a:ea typeface="Microsoft YaHei"/>
              </a:rPr>
              <a:t>W11 · 第22次课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29968"/>
            <a:ext cx="585216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从虚拟设备采数到云端上报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905377" cy="27749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905377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工单 1.5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82617" y="3931920"/>
            <a:ext cx="2013839" cy="27749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82617" y="3931920"/>
            <a:ext cx="2013839" cy="27749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</a:rPr>
              <a:t>工业互联网数据采集系统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43984"/>
            <a:ext cx="3318845" cy="253365"/>
          </a:xfrm>
          <a:prstGeom prst="roundRect">
            <a:avLst>
              <a:gd name="adj" fmla="val 50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443984"/>
            <a:ext cx="3318845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本节（下）：优化与评价 · 复盘冲刺 + 三层质检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56048"/>
            <a:ext cx="5669280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C9D4E4"/>
                </a:solidFill>
                <a:latin typeface="Microsoft YaHei"/>
                <a:ea typeface="Microsoft YaHei"/>
              </a:rPr>
              <a:t>打通“现场→云端”：Modbus定时读PLC、MQTT上报。本地虚拟产线离线可跑；末期复习+项目启动。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C99B5"/>
                </a:solidFill>
                <a:latin typeface="Microsoft YaHei"/>
                <a:ea typeface="Microsoft YaHei"/>
              </a:rPr>
              <a:t>重庆两江智造集团 · 双创中心302实训室 · V1重制版（easyslides规范）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课前回顾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61697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61697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RECAP · 课前五分钟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上次课你带走了什么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先测后讲：两道口头快答，答不上就翻回上节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44752"/>
            <a:ext cx="603504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1572768"/>
            <a:ext cx="777240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6" y="1572768"/>
            <a:ext cx="77724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快答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" y="1865376"/>
            <a:ext cx="56235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pymodbus 3.x返回值怎么取数？publish后立刻退出会怎样？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" y="2414016"/>
            <a:ext cx="562356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提示：回看上节'四要素详解'页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39128" y="1444752"/>
            <a:ext cx="4977079" cy="141732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58584" y="155448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4477D"/>
                </a:solidFill>
                <a:latin typeface="Microsoft YaHei"/>
                <a:ea typeface="Microsoft YaHei"/>
              </a:rPr>
              <a:t>本周重点回顾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8584" y="1920240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网络编程——重点：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58584" y="2359152"/>
            <a:ext cx="4538167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· TCP客户端/服务端模型；MQTT主题与QoS概念；Mod…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39128" y="2999232"/>
            <a:ext cx="4977079" cy="1207008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8584" y="3108960"/>
            <a:ext cx="4538167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8A6D1D"/>
                </a:solidFill>
                <a:latin typeface="Microsoft YaHei"/>
                <a:ea typeface="Microsoft YaHei"/>
              </a:rPr>
              <a:t>上节最容易踩的坑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58584" y="3456432"/>
            <a:ext cx="4538167" cy="67665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1">
                <a:solidFill>
                  <a:srgbClr val="8A6D1D"/>
                </a:solidFill>
                <a:latin typeface="Microsoft YaHei"/>
                <a:ea typeface="Microsoft YaHei"/>
              </a:rPr>
              <a:t>PDF中文空白：字体未注册
</a:t>
            </a:r>
            <a:r>
              <a:rPr sz="1100" b="0">
                <a:solidFill>
                  <a:srgbClr val="17855A"/>
                </a:solidFill>
                <a:latin typeface="Microsoft YaHei"/>
                <a:ea typeface="Microsoft YaHei"/>
              </a:rPr>
              <a:t>修法：registerFont+setFont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4443984"/>
            <a:ext cx="11240719" cy="1097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4562856"/>
            <a:ext cx="1088136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本节（下）：优化与评价——错误复盘 + B/A层冲刺 + 三层质检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4983480"/>
            <a:ext cx="10881360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D6D7E"/>
                </a:solidFill>
                <a:latin typeface="Microsoft YaHei"/>
                <a:ea typeface="Microsoft YaHei"/>
              </a:rPr>
              <a:t>本节主线：Modbus寄存器：40001-40005五测点——应用：… / 数值×10定点存储：678=67.8℃——应用：见工单st… / pymodbus：read_holding_registe…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GOALS &amp;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这节课结束时，你能做到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目标可测量：及格线/优秀线写在工单上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3612794" cy="82296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知识目标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理解TCP/IP、HTTP、MQTT、Modbus协议的基础概念；掌握Socket编程基本方法；了解工业数据采集的报文结构。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检验：口头复述+快答2题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9450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89450" y="1389888"/>
            <a:ext cx="3612794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8906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能力目标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08906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能够完成Modbus连接读取与MQTT消息发布；能够编写完整的工业互联网数据采集系统；代码规范率≥90%。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54042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63770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检验：工单运行通过+截图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3412" y="1389888"/>
            <a:ext cx="3612794" cy="22128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3412" y="1389888"/>
            <a:ext cx="3612794" cy="82296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2868" y="1554480"/>
            <a:ext cx="3173882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素质目标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2868" y="1956816"/>
            <a:ext cx="3173882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建立网络通信的调试排障思维（连通性→配置→代码），培养工业现场“协议就是语言”的规范意识。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68004" y="3163824"/>
            <a:ext cx="3283610" cy="365760"/>
          </a:xfrm>
          <a:prstGeom prst="roundRect">
            <a:avLst>
              <a:gd name="adj" fmla="val 22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7732" y="3163824"/>
            <a:ext cx="3064154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检验：同桌互查代码规范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3950208"/>
            <a:ext cx="11240719" cy="159105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4078224"/>
            <a:ext cx="54864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14477D"/>
                </a:solidFill>
                <a:latin typeface="Microsoft YaHei"/>
                <a:ea typeface="Microsoft YaHei"/>
              </a:rPr>
              <a:t>课堂节奏（80分钟）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4535424"/>
            <a:ext cx="1097076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535424"/>
            <a:ext cx="109707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1.paho-mqtt…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13834" y="4535424"/>
            <a:ext cx="1584401" cy="241300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13834" y="4535424"/>
            <a:ext cx="1584401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2.断线重试+异常日志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877860" y="4535424"/>
            <a:ext cx="1616710" cy="241300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77860" y="4535424"/>
            <a:ext cx="1616710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3.末期复习自测20题…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5084064"/>
            <a:ext cx="106920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节奏纪律：讲10分钟必须动手一次；实操环节教师只答疑不代写——卡住先查《报错翻译对照表》，再举手。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知识精讲 · 讲透每个概念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本章聚焦：网络编程——重点： · TCP客户端/服务端模型；MQTT…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MQTT主题路由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('MQTT是发布/订阅模型：设备只管往主题发(publish)，…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JSON消息含时间戳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("JSON消息带时间戳=数据自带'出生证明'：{dev_id,t…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排错三步法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('排错三步法=先物理(ping通吗)→再协议(端口/地址对吗)→…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B04 MQTT主题路由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MQTT=广播电台：主题=频道，发布订阅各取所需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原理：MQTT是发布/订阅模型：设备只管往主题发(publish)，谁关心谁订阅(subscribe)——发送方与接收方互不认识，靠broker中转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一个采集器发布，多个监控端订阅——一对多广播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怎么判断：多设备上报一个平台、平台分组下发：主题按'工厂/车间/设备/属性'分层命名——topic即路由表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publish('device/1/status', json_msg)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逐行看：publish('ljsz/plant1/pump3/temp','78.5') 发布；subscribe('ljsz/plant1/+/temp') 通配符订阅全车间温度——+单层、#多层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误区：主题乱起名难管理——层级命名device/1/status是惯例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进阶：QoS 0最多一次/1至少一次/2恰好一次——告警用QoS1防丢；retain=True保留最后一条，新订阅者秒拿最新值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MQTT主题路由：一张图看懂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13d96007a3af7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追问：误区：主题乱起名难管理——层级命名device/1/status是惯例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一句话：MQTT=广播电台：主题=频道，发布订阅各取所需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何时用：一个采集器发布，多个监控端订阅——一对多广播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B05 JSON消息含时间戳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ts时间戳=消息的出生证明——排序追溯全靠它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原理：JSON消息带时间戳=数据自带'出生证明'：{dev_id,temp,ts}三元组——没有ts的数据无法回溯与对账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监控端按时间画曲线/排查先后顺序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怎么判断：一切上报消息必带ts（毫秒时间戳）——离线补传时按ts排序还原真实时序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msg={'id':'DEV-1','ts':time.time(),…}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逐行看：msg={'dev':'P3','temp':78.5,'ts':int(time.time()*1000)} 组消息；json.dumps后publish——消费端按ts去重+排序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误区：靠接收时间排序——网络延迟会歪曲时序，ts放消息体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进阶：时间戳统一毫秒int（跨系统对齐）；进阶ISO8601字符串带时区（'2026-09-28T08:00:00+08:00'）人类可读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JSON消息含时间戳：一张图看懂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2f44e09a41b516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追问：误区：靠接收时间排序——网络延迟会歪曲时序，ts放消息体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一句话：ts时间戳=消息的出生证明——排序追溯全靠它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何时用：监控端按时间画曲线/排查先后顺序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四要素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09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04952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04952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KNOWLEDGE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B06 排错三步法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定义 → 场景 → 实例 → 误区：一次讲透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71600"/>
            <a:ext cx="64008" cy="2395728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94944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定义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排错三步=从外到内剥洋葱：ping通→端口通→代码通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原理：排错三步法=先物理(ping通吗)→再协议(端口/地址对吗)→后数据(格式/值对吗)——从底层往上排，别上来就改代码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5575" y="137160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05575" y="1371600"/>
            <a:ext cx="64008" cy="2395728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25031" y="151790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5031" y="151790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使用场景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3319" y="193852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网络采集故障的分层排查——每层排除再进下一层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怎么判断：采不上数的标准排查序：网线/IP→502端口/寄存器地址→定点倍数/编码——九成故障停在前两层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75488" y="3931920"/>
            <a:ext cx="64008" cy="2395728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94944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应用实例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Consolas"/>
                <a:ea typeface="Microsoft YaHei"/>
              </a:rPr>
              <a:t>ping 192.168.x.x → 测502端口 → 查pymodbus报错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Consolas"/>
                <a:ea typeface="Microsoft YaHei"/>
              </a:rPr>
              <a:t>逐行看：ping 192.168.1.10 不通查网线；telnet ip 502 拒绝查服务；读到32767明显是定点倍数错——分层定位三分钟见分晓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05575" y="3931920"/>
            <a:ext cx="5510631" cy="23957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05575" y="3931920"/>
            <a:ext cx="64008" cy="2395728"/>
          </a:xfrm>
          <a:prstGeom prst="rect">
            <a:avLst/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25031" y="4078224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B977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25031" y="4078224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扩展与误区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43319" y="4498848"/>
            <a:ext cx="5035143" cy="16642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4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误区：一上来改代码——先ping再说，80%是网络层的事</a:t>
            </a:r>
          </a:p>
          <a:p>
            <a:pPr algn="l">
              <a:lnSpc>
                <a:spcPct val="124000"/>
              </a:lnSpc>
            </a:pP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进阶：抓包Wireshark过滤modbus/mqtt看真实字节流——终极武器；日志埋点记录每轮采集成败率做趋势监控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知识精讲 · 图解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26077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26077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VISUAL · B06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排错三步法：一张图看懂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图优先：先看图再回头读代码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8056" y="1899701"/>
            <a:ext cx="7278624" cy="268369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98f028aca8a419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27133"/>
            <a:ext cx="7223760" cy="2628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7848" y="1463040"/>
            <a:ext cx="378835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四个观察点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27848" y="1920240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7415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7415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先想清楚数据从哪来到哪去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27848" y="2736342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74152" y="284607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74152" y="284607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827782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每一步只做一件事，错了好定位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27848" y="3552444"/>
            <a:ext cx="3788359" cy="733806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74152" y="36621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74152" y="36621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3643884"/>
            <a:ext cx="3056839" cy="58750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追问：误区：一上来改代码——先ping再说，80%是网络层的事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5230368"/>
            <a:ext cx="7223760" cy="89611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5330952"/>
            <a:ext cx="685800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200" b="1">
                <a:solidFill>
                  <a:srgbClr val="1C2833"/>
                </a:solidFill>
                <a:latin typeface="Microsoft YaHei"/>
                <a:ea typeface="Microsoft YaHei"/>
              </a:rPr>
              <a:t>一句话：排错三步=从外到内剥洋葱：ping通→端口通→代码通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何时用：网络采集故障的分层排查——每层排除再进下一层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技能实操 · 代码跑起来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本章聚焦：网络编程——重点： · TCP客户端/服务端模型；MQTT…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384048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3840480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840480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采集+上报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3840480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rr = c.read_holding_registers…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33425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33425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33425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连接虚拟PLC读取寄存器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3425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连接虚拟PLC读取寄存器——应用：见工单starter与教师参考实现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482803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82803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482803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paho-mqtt发布…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2803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paho-mqtt发布JSON消息——应用：见工单starter与…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32180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2180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532180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异常重试与日志记录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532180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异常重试与日志记录——应用：见工单starter与教师参考实现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651760" y="5815584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5815584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46120" y="5815584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技能 · 订阅回环验证消息到达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815584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订阅回环验证消息到达——应用：见工单starter与教师参考实现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本章产出：四要素详解页×5 · 图解页×3 · 可跟打代码页×2 · 工单与分层工单各1份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技能实操 · 可执行代码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12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66764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66764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CODE 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采集+上报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代码节选 · 依赖工单/starter 上下文（课堂跟打 starter 看完整运行）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11021263" cy="4754880"/>
          </a:xfrm>
          <a:prstGeom prst="roundRect">
            <a:avLst>
              <a:gd name="adj" fmla="val 4500"/>
            </a:avLst>
          </a:prstGeom>
          <a:solidFill>
            <a:srgbClr val="0F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3504" y="1453896"/>
            <a:ext cx="2103120" cy="237744"/>
          </a:xfrm>
          <a:prstGeom prst="roundRect">
            <a:avLst>
              <a:gd name="adj" fmla="val 500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4" y="1453896"/>
            <a:ext cx="2103120" cy="23774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 代码节选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" y="1764792"/>
            <a:ext cx="10728655" cy="42702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rr = c.read_holding_registers(address=0, count=5)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vals = rr.registers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data = {n: v/10 for n, v in zip(NAMES[:4], vals[:4])}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payload = json.dumps({"device_id":"DEV-1",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"ts": time.strftime("%H:%M:%S"), "metrics":data},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    ensure_ascii=False)</a:t>
            </a:r>
          </a:p>
          <a:p>
            <a:pPr algn="l">
              <a:lnSpc>
                <a:spcPct val="106000"/>
              </a:lnSpc>
            </a:pPr>
            <a:r>
              <a:rPr sz="1200" b="0">
                <a:solidFill>
                  <a:srgbClr val="D8E1EC"/>
                </a:solidFill>
                <a:latin typeface="Consolas"/>
                <a:ea typeface="Microsoft YaHei"/>
              </a:rPr>
              <a:t>mq.publish("device/1/status", payload)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5349240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FDF6E9"/>
          </a:solidFill>
          <a:ln w="9525">
            <a:solidFill>
              <a:srgbClr val="E5C97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5477256"/>
            <a:ext cx="1078351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6D1D"/>
                </a:solidFill>
                <a:latin typeface="Microsoft YaHei"/>
                <a:ea typeface="Microsoft YaHei"/>
              </a:rPr>
              <a:t>本段引用工单上下文变量（starter 已备好）——跟打 starter 后取消注释对应行即可复现。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避坑指南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13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DEBUG · 常见报错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报错翻译：程序'说'了什么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报错是程序在说话——先读最后一行，再往上找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11240719" cy="457200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1463040"/>
            <a:ext cx="278892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报错/现象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1463040"/>
            <a:ext cx="37490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为什么会这样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4928" y="1463040"/>
            <a:ext cx="397763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怎么修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5488" y="1847088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1938528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连不上PLC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8728" y="1938528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模拟器没启动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1938528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先跑虚拟产线--check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5488" y="2880360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971800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数值大10倍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38728" y="2971800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忘了÷10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24928" y="2971800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寄存器定点换算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" y="39136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005072"/>
            <a:ext cx="2697480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C0392B"/>
                </a:solidFill>
                <a:latin typeface="Microsoft YaHei"/>
                <a:ea typeface="Microsoft YaHei"/>
              </a:rPr>
              <a:t>publish后无消息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8728" y="4005072"/>
            <a:ext cx="36575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立刻退出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24928" y="4005072"/>
            <a:ext cx="3886199" cy="81381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sleep 0.3再退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" y="4992624"/>
            <a:ext cx="11240719" cy="71323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0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① 读最后一行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报错类型+行号都在这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② 定位变量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NameError=没定义/拼错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9288" y="5102352"/>
            <a:ext cx="356616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③ 最小复现  </a:t>
            </a: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注释一半再跑，二分找错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11887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22960"/>
            <a:ext cx="237744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51760" y="2560320"/>
            <a:ext cx="8778240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工单实战 · 按单交付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51760" y="1572768"/>
            <a:ext cx="896112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9D4E4"/>
                </a:solidFill>
                <a:latin typeface="Microsoft YaHei"/>
                <a:ea typeface="Microsoft YaHei"/>
              </a:rPr>
              <a:t>本章聚焦：网络编程——重点： · TCP客户端/服务端模型；MQTT… · 难点：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4059936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8920" y="4059936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4059936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59936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按工单步骤逐项打勾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4553712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26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4553712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4553712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及格/优秀线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553712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D/C保底 · B/A冲刺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651760" y="5047488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5047488"/>
            <a:ext cx="45720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5047488"/>
            <a:ext cx="310896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</a:rPr>
              <a:t>A/B/C/D分层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5047488"/>
            <a:ext cx="48463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AAB6D0"/>
                </a:solidFill>
                <a:latin typeface="Microsoft YaHei"/>
                <a:ea typeface="Microsoft YaHei"/>
              </a:rPr>
              <a:t>按当前水平选起点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51760" y="5989320"/>
            <a:ext cx="8778240" cy="402336"/>
          </a:xfrm>
          <a:prstGeom prst="roundRect">
            <a:avLst>
              <a:gd name="adj" fmla="val 160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989320"/>
            <a:ext cx="8503920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F5670F"/>
                </a:solidFill>
                <a:latin typeface="Microsoft YaHei"/>
                <a:ea typeface="Microsoft YaHei"/>
              </a:rPr>
              <a:t>本章产出：四要素详解页×3 · 图解页×3 · 可跟打代码页×2 · 工单与分层工单各1份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6473952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工单实战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15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14203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14203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WORK ORDER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工单 1.5 · 工业互联网数据采集系统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按单交付：及格线保底，优秀线冲刺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71600"/>
            <a:ext cx="6583680" cy="4709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1499616"/>
            <a:ext cx="603504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交付清单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9808" y="192024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192024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6" y="1901952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paho-mqtt连接本地代理发布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2505456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2505456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5296" y="2487168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断线重试+异常日志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0906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0906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5296" y="3072384"/>
            <a:ext cx="566928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末期复习自测20题+综合项目选题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526280"/>
            <a:ext cx="6035040" cy="138988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" y="4617720"/>
            <a:ext cx="5669280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4477D"/>
                </a:solidFill>
                <a:latin typeface="Microsoft YaHei"/>
                <a:ea typeface="Microsoft YaHei"/>
              </a:rPr>
              <a:t>验收清单（教师按此打分）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50976" y="4992624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88720" y="4928616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程序运行无报错，输出与示例一致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" y="5303520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88720" y="5239512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截图含完整运行结果与文件名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" y="5614416"/>
            <a:ext cx="146304" cy="146304"/>
          </a:xfrm>
          <a:prstGeom prst="rect">
            <a:avLst/>
          </a:prstGeom>
          <a:noFill/>
          <a:ln w="15240">
            <a:solidFill>
              <a:srgbClr val="144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5550408"/>
            <a:ext cx="5486400" cy="29260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变量命名规范率达标（snake_case）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87768" y="1371600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25512" y="1499616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3A4A63"/>
                </a:solidFill>
                <a:latin typeface="Microsoft YaHei"/>
                <a:ea typeface="Microsoft YaHei"/>
              </a:rPr>
              <a:t>及格线 · D/C层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25512" y="1865376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Modbus读+MQTT发布成功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12" y="2779776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检查方式：运行+截图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87768" y="3246119"/>
            <a:ext cx="4428439" cy="16916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25512" y="3374135"/>
            <a:ext cx="39712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F5670F"/>
                </a:solidFill>
                <a:latin typeface="Microsoft YaHei"/>
                <a:ea typeface="Microsoft YaHei"/>
              </a:rPr>
              <a:t>优秀线 · B/A层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3739895"/>
            <a:ext cx="3925519" cy="9601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2000"/>
              </a:lnSpc>
            </a:pPr>
            <a:r>
              <a:rPr sz="1350" b="0">
                <a:solidFill>
                  <a:srgbClr val="1C2833"/>
                </a:solidFill>
                <a:latin typeface="Microsoft YaHei"/>
                <a:ea typeface="Microsoft YaHei"/>
              </a:rPr>
              <a:t>断线重连+回环验证+规范率≥90%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12" y="4654295"/>
            <a:ext cx="397123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检查方式：运行+规范+答辩追问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287768" y="5138928"/>
            <a:ext cx="4428439" cy="941832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25512" y="5257800"/>
            <a:ext cx="3971239" cy="7315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提交物</a:t>
            </a: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
代码文件+运行截图+工单决策记录（上传学习平台）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分层任务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16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58666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58666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A/B/C/D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同一工单，四条爬梯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按当前水平选起点，D层保底人人可交付，A层给足挑战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5488" y="1389888"/>
            <a:ext cx="2686735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A 层 · 挑战层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回环验证+重连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36976"/>
            <a:ext cx="1374932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36976"/>
            <a:ext cx="1374932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达标：规范率≥90%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订阅自己主题打印回执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断线重试逻辑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消息结构优化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0392B"/>
                </a:solidFill>
                <a:latin typeface="Microsoft YaHei"/>
                <a:ea typeface="Microsoft YaHei"/>
              </a:rPr>
              <a:t>卡壳&gt;10分钟→降B层，先拿过程分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26815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326815" y="1389888"/>
            <a:ext cx="2686735" cy="77724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09695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B 层 · 进阶层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09695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五轮采集上报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09695" y="3236976"/>
            <a:ext cx="1523283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09695" y="3236976"/>
            <a:ext cx="1523283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达标：JSON结构规范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09695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读5寄存器÷10还原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09695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5轮循环采集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09695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MQTT发布JSON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09695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F5670F"/>
                </a:solidFill>
                <a:latin typeface="Microsoft YaHei"/>
                <a:ea typeface="Microsoft YaHei"/>
              </a:rPr>
              <a:t>完成C层后冲刺：先跑通再优化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8143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78143" y="1389888"/>
            <a:ext cx="2686735" cy="77724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1023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C 层 · 基础层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1023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单次采集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361023" y="3236976"/>
            <a:ext cx="1334008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61023" y="3236976"/>
            <a:ext cx="1334008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达标：能读出数值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1023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连PLC读一次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1023" y="4297680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打印还原值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1023" y="4864608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单条MQTT发布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1023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14477D"/>
                </a:solidFill>
                <a:latin typeface="Microsoft YaHei"/>
                <a:ea typeface="Microsoft YaHei"/>
              </a:rPr>
              <a:t>照示例改参数，跑通即得分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029471" y="1389888"/>
            <a:ext cx="2686735" cy="46634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029471" y="1389888"/>
            <a:ext cx="2686735" cy="777240"/>
          </a:xfrm>
          <a:prstGeom prst="rect">
            <a:avLst/>
          </a:prstGeom>
          <a:solidFill>
            <a:srgbClr val="3A4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12351" y="1481328"/>
            <a:ext cx="2320975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D 层 · 保底层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12351" y="2304288"/>
            <a:ext cx="2320975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1C2833"/>
                </a:solidFill>
                <a:latin typeface="Microsoft YaHei"/>
                <a:ea typeface="Microsoft YaHei"/>
              </a:rPr>
              <a:t>模拟器体验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212351" y="3236976"/>
            <a:ext cx="1206119" cy="229235"/>
          </a:xfrm>
          <a:prstGeom prst="roundRect">
            <a:avLst>
              <a:gd name="adj" fmla="val 500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12351" y="3236976"/>
            <a:ext cx="1206119" cy="22923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1C2833"/>
                </a:solidFill>
                <a:latin typeface="Microsoft YaHei"/>
                <a:ea typeface="Microsoft YaHei"/>
              </a:rPr>
              <a:t>达标：能改端口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12351" y="3730752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--check连通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12351" y="4297680"/>
            <a:ext cx="2320975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换5021再读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12351" y="4864608"/>
            <a:ext cx="2320975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D6D7E"/>
                </a:solidFill>
                <a:latin typeface="Microsoft YaHei"/>
                <a:ea typeface="Microsoft YaHei"/>
              </a:rPr>
              <a:t>· 记录两台数据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212351" y="5577840"/>
            <a:ext cx="2320975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3A4A63"/>
                </a:solidFill>
                <a:latin typeface="Microsoft YaHei"/>
                <a:ea typeface="Microsoft YaHei"/>
              </a:rPr>
              <a:t>逐行跟打示例，跑通就是胜利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方案决策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17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8022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8022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DECISION MATRIX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决策：异常策略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工程不是选最好的，是选当前约束下最划算的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11240719" cy="475488"/>
          </a:xfrm>
          <a:prstGeom prst="roundRect">
            <a:avLst>
              <a:gd name="adj" fmla="val 5500"/>
            </a:avLst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1508760"/>
            <a:ext cx="543747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1508760"/>
            <a:ext cx="5437479" cy="32918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</a:rPr>
              <a:t>策略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" y="1892808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3504" y="1947672"/>
            <a:ext cx="540090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连接失败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863" y="1947672"/>
            <a:ext cx="540090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重试1次+日志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5488" y="3008376"/>
            <a:ext cx="11240719" cy="1051560"/>
          </a:xfrm>
          <a:prstGeom prst="roundRect">
            <a:avLst>
              <a:gd name="adj" fmla="val 5500"/>
            </a:avLst>
          </a:prstGeom>
          <a:solidFill>
            <a:srgbClr val="F4F7FB"/>
          </a:solidFill>
          <a:ln w="9525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" y="3063240"/>
            <a:ext cx="540090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C2833"/>
                </a:solidFill>
                <a:latin typeface="Microsoft YaHei"/>
                <a:ea typeface="Microsoft YaHei"/>
              </a:rPr>
              <a:t>数据越界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23863" y="3063240"/>
            <a:ext cx="5400903" cy="94183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5670F"/>
                </a:solidFill>
                <a:latin typeface="Microsoft YaHei"/>
                <a:ea typeface="Microsoft YaHei"/>
              </a:rPr>
              <a:t>标记上报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" y="4169664"/>
            <a:ext cx="11240719" cy="68580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4270248"/>
            <a:ext cx="107835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14477D"/>
                </a:solidFill>
                <a:latin typeface="Microsoft YaHei"/>
                <a:ea typeface="Microsoft YaHei"/>
              </a:rPr>
              <a:t>决策纪律：决策结论写入工单，答辩必答；实施失误回溯决策复盘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课堂检查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18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475628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475628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CHECK · 当堂验收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做完不算完，验过才算数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教师抽查 + 同桌互查 + 运行截图三选二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417320"/>
            <a:ext cx="6309360" cy="12984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1545336"/>
            <a:ext cx="1051560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1545336"/>
            <a:ext cx="1051560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检查点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1856232"/>
            <a:ext cx="585216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1C2833"/>
                </a:solidFill>
                <a:latin typeface="Microsoft YaHei"/>
                <a:ea typeface="Microsoft YaHei"/>
              </a:rPr>
              <a:t>pymodbus 3.x返回值怎么取数？publish后立刻退出会怎样？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2423160"/>
            <a:ext cx="58521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提示：答案都在本节'四要素详解'页——翻回去指给同桌看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59168" y="1417320"/>
            <a:ext cx="4657039" cy="2615184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96912" y="1536192"/>
            <a:ext cx="419983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4477D"/>
                </a:solidFill>
                <a:latin typeface="Microsoft YaHei"/>
                <a:ea typeface="Microsoft YaHei"/>
              </a:rPr>
              <a:t>当堂评分构成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96912" y="19933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296912" y="1993392"/>
            <a:ext cx="768096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19476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运行通过 40%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96912" y="24505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912" y="24505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8" y="2404872"/>
            <a:ext cx="209671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规范与注释 20%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96912" y="29077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96912" y="29077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45168" y="28620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决策记录 20%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96912" y="3364992"/>
            <a:ext cx="1920240" cy="274320"/>
          </a:xfrm>
          <a:prstGeom prst="rect">
            <a:avLst/>
          </a:prstGeom>
          <a:solidFill>
            <a:srgbClr val="D8E1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3364992"/>
            <a:ext cx="384048" cy="27432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45168" y="3319272"/>
            <a:ext cx="20967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1C2833"/>
                </a:solidFill>
                <a:latin typeface="Microsoft YaHei"/>
                <a:ea typeface="Microsoft YaHei"/>
              </a:rPr>
              <a:t>互查反馈 20%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96912" y="3840480"/>
            <a:ext cx="4199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D6D7E"/>
                </a:solidFill>
                <a:latin typeface="Microsoft YaHei"/>
                <a:ea typeface="Microsoft YaHei"/>
              </a:rPr>
              <a:t>未过怎么办：当堂改→教师复核→记录到错题本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5488" y="4370832"/>
            <a:ext cx="11240719" cy="96012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498848"/>
            <a:ext cx="10881360" cy="71323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及格线：</a:t>
            </a:r>
            <a:r>
              <a:rPr sz="1250" b="0">
                <a:solidFill>
                  <a:srgbClr val="FFFFFF"/>
                </a:solidFill>
                <a:latin typeface="Microsoft YaHei"/>
                <a:ea typeface="Microsoft YaHei"/>
              </a:rPr>
              <a:t>Modbus读+MQTT发布成功</a:t>
            </a:r>
            <a:r>
              <a:rPr sz="1250" b="1">
                <a:solidFill>
                  <a:srgbClr val="D8E1EC"/>
                </a:solidFill>
                <a:latin typeface="Microsoft YaHei"/>
                <a:ea typeface="Microsoft YaHei"/>
              </a:rPr>
              <a:t>
优秀线：</a:t>
            </a:r>
            <a:r>
              <a:rPr sz="1250" b="0">
                <a:solidFill>
                  <a:srgbClr val="F5C08A"/>
                </a:solidFill>
                <a:latin typeface="Microsoft YaHei"/>
                <a:ea typeface="Microsoft YaHei"/>
              </a:rPr>
              <a:t>断线重连+回环验证+规范率≥90%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19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924359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924359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SUMMARY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一张图带走本课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讲给自己听一遍，才算真的学会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4939" y="1389888"/>
            <a:ext cx="7450618" cy="398678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5DB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711c420df3e19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371" y="1417320"/>
            <a:ext cx="7395754" cy="3931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93608" y="1481328"/>
            <a:ext cx="3422599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三句话总结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93608" y="1920240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39912" y="2029968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9912" y="2029968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2011680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MQTT主题路由：MQTT=广播电台：主题=频道，发布订阅各取所需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93608" y="2907792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3017520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3017520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23960" y="2999232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JSON消息含时间戳：ts时间戳=消息的出生证明——排序追溯全靠它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93608" y="3895344"/>
            <a:ext cx="3422599" cy="896112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439912" y="4005072"/>
            <a:ext cx="310896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4005072"/>
            <a:ext cx="310896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23960" y="3986784"/>
            <a:ext cx="2709367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>
                <a:solidFill>
                  <a:srgbClr val="1C2833"/>
                </a:solidFill>
                <a:latin typeface="Microsoft YaHei"/>
                <a:ea typeface="Microsoft YaHei"/>
              </a:rPr>
              <a:t>排错三步法：排错三步=从外到内剥洋葱：ping通→端口通→…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93608" y="4882896"/>
            <a:ext cx="3422599" cy="1005840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76488" y="4974336"/>
            <a:ext cx="305683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下一步行动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76488" y="5285232"/>
            <a:ext cx="3056839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>
                <a:solidFill>
                  <a:srgbClr val="D8E1EC"/>
                </a:solidFill>
                <a:latin typeface="Microsoft YaHei"/>
                <a:ea typeface="Microsoft YaHei"/>
              </a:rPr>
              <a:t>①工单1.5收尾跑绿并上传 ②错题本记1条 ③预习微课+导学单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"/>
          </a:xfrm>
          <a:prstGeom prst="rect">
            <a:avLst/>
          </a:prstGeom>
          <a:solidFill>
            <a:srgbClr val="14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18872"/>
            <a:ext cx="676656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课后与预告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475488" y="6473952"/>
            <a:ext cx="11240719" cy="9525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6455664"/>
            <a:ext cx="8229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44607" y="6455664"/>
            <a:ext cx="1371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>
                <a:solidFill>
                  <a:srgbClr val="5D6D7E"/>
                </a:solidFill>
                <a:latin typeface="Microsoft YaHei"/>
                <a:ea typeface="Microsoft YaHei"/>
              </a:rPr>
              <a:t>20 /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274320"/>
            <a:ext cx="1523687" cy="253365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274320"/>
            <a:ext cx="1523687" cy="253365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NEXT &amp; HOMEWORK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585216"/>
            <a:ext cx="1124071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>
                <a:solidFill>
                  <a:srgbClr val="1C2833"/>
                </a:solidFill>
                <a:latin typeface="Microsoft YaHei"/>
                <a:ea typeface="Microsoft YaHei"/>
              </a:rPr>
              <a:t>下课之后，上课之前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1060704"/>
            <a:ext cx="11240719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D6D7E"/>
                </a:solidFill>
                <a:latin typeface="Microsoft YaHei"/>
                <a:ea typeface="Microsoft YaHei"/>
              </a:rPr>
              <a:t>作业当堂布置当堂记：写进工单本，别靠脑子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97280"/>
            <a:ext cx="1234440" cy="3048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389888"/>
            <a:ext cx="5852160" cy="39776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CE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517904"/>
            <a:ext cx="530352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4477D"/>
                </a:solidFill>
                <a:latin typeface="Microsoft YaHei"/>
                <a:ea typeface="Microsoft YaHei"/>
              </a:rPr>
              <a:t>今日作业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956816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1288" y="1938528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>
                <a:solidFill>
                  <a:srgbClr val="1C2833"/>
                </a:solidFill>
                <a:latin typeface="Microsoft YaHei"/>
                <a:ea typeface="Microsoft YaHei"/>
              </a:rPr>
              <a:t>1. 完成工单项目1.5《工业互联网数据采集系统》：及格标准Modbus读取+MQTT发布基本工作；优秀标准采集完整+消息规范+异常处理完善+规范率≥90%；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2523744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523744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61288" y="2505456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2. 完成综合项目需求分析与分工计划；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090672"/>
            <a:ext cx="292608" cy="241300"/>
          </a:xfrm>
          <a:prstGeom prst="roundRect">
            <a:avLst>
              <a:gd name="adj" fmla="val 50000"/>
            </a:avLst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090672"/>
            <a:ext cx="292608" cy="2413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3072384"/>
            <a:ext cx="4937760" cy="530352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300" b="0">
                <a:solidFill>
                  <a:srgbClr val="1C2833"/>
                </a:solidFill>
                <a:latin typeface="Microsoft YaHei"/>
                <a:ea typeface="Microsoft YaHei"/>
              </a:rPr>
              <a:t>3. 复习全课程知识清单，准备综合项目答辩。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4526280"/>
            <a:ext cx="5349240" cy="749808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617720"/>
            <a:ext cx="502920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14477D"/>
                </a:solidFill>
                <a:latin typeface="Microsoft YaHei"/>
                <a:ea typeface="Microsoft YaHei"/>
              </a:rPr>
              <a:t>提交物：</a:t>
            </a:r>
            <a:r>
              <a:rPr sz="1050" b="0">
                <a:solidFill>
                  <a:srgbClr val="1C2833"/>
                </a:solidFill>
                <a:latin typeface="Microsoft YaHei"/>
                <a:ea typeface="Microsoft YaHei"/>
              </a:rPr>
              <a:t>学号_姓名_W11.py + 运行截图（含文件名）+ 工单决策记录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56248" y="1389888"/>
            <a:ext cx="5159959" cy="3977639"/>
          </a:xfrm>
          <a:prstGeom prst="roundRect">
            <a:avLst>
              <a:gd name="adj" fmla="val 5500"/>
            </a:avLst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0568" y="1536192"/>
            <a:ext cx="4611319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下次课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0568" y="1956816"/>
            <a:ext cx="4611319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项目终验联调与预答辩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30568" y="3017520"/>
            <a:ext cx="4611319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为什么接下来学它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0568" y="3364992"/>
            <a:ext cx="4611319" cy="12344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D8E1EC"/>
                </a:solidFill>
                <a:latin typeface="Microsoft YaHei"/>
                <a:ea typeface="Microsoft YaHei"/>
              </a:rPr>
              <a:t>答辩日。王主任、方总监和平台吴工都坐在台下。你要交付的，是把12周所学装进一个完整的《工业互联网数据处理系统》——第23次课终验预答辩，第24次课正式答辩。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0568" y="4663440"/>
            <a:ext cx="4611319" cy="60350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C9D4E4"/>
                </a:solidFill>
                <a:latin typeface="Microsoft YaHei"/>
                <a:ea typeface="Microsoft YaHei"/>
              </a:rPr>
              <a:t>预习动作：微课视频 + 导学单先行；带着一个问题上考场。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" y="5596128"/>
            <a:ext cx="11240719" cy="777240"/>
          </a:xfrm>
          <a:prstGeom prst="roundRect">
            <a:avLst>
              <a:gd name="adj" fmla="val 5500"/>
            </a:avLst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5705856"/>
            <a:ext cx="10881360" cy="56692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14477D"/>
                </a:solidFill>
                <a:latin typeface="Microsoft YaHei"/>
                <a:ea typeface="Microsoft YaHei"/>
              </a:rPr>
              <a:t>工具链：PyCharm CE（主编辑器） · Jupyter（实训） · Git/GitHub（每周提交） · conda环境</a:t>
            </a:r>
            <a:r>
              <a:rPr sz="1100" b="0">
                <a:solidFill>
                  <a:srgbClr val="5D6D7E"/>
                </a:solidFill>
                <a:latin typeface="Microsoft YaHei"/>
                <a:ea typeface="Microsoft YaHei"/>
              </a:rPr>
              <a:t>
报错了？先查《报错翻译对照表》，再看微课'排错三步法'。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41648" y="1920240"/>
            <a:ext cx="4114800" cy="82296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463040" y="2240280"/>
            <a:ext cx="9235440" cy="10058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感谢垂听 · 动手出真知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3310128"/>
            <a:ext cx="92354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C9D4E4"/>
                </a:solidFill>
                <a:latin typeface="Microsoft YaHei"/>
                <a:ea typeface="Microsoft YaHei"/>
              </a:rPr>
              <a:t>把今天的工单跑绿，就是给下周的自己铺路。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160520"/>
            <a:ext cx="6858000" cy="1417320"/>
          </a:xfrm>
          <a:prstGeom prst="roundRect">
            <a:avLst>
              <a:gd name="adj" fmla="val 5500"/>
            </a:avLst>
          </a:prstGeom>
          <a:solidFill>
            <a:srgbClr val="3141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80360" y="4279392"/>
            <a:ext cx="640080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5670F"/>
                </a:solidFill>
                <a:latin typeface="Microsoft YaHei"/>
                <a:ea typeface="Microsoft YaHei"/>
              </a:rPr>
              <a:t>课后三件事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4626864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1. 工单1.5跑绿并上传学习平台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4956048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2. 错题本记1条今天踩的坑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360" y="5285232"/>
            <a:ext cx="64008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D8E1EC"/>
                </a:solidFill>
                <a:latin typeface="Microsoft YaHei"/>
                <a:ea typeface="Microsoft YaHei"/>
              </a:rPr>
              <a:t>3. 预习微课+导学单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5779008"/>
            <a:ext cx="68580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5670F"/>
                </a:solidFill>
                <a:latin typeface="Microsoft YaHei"/>
                <a:ea typeface="Microsoft YaHei"/>
              </a:rPr>
              <a:t>下次课 → 项目终验联调与预答辩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" y="6419088"/>
            <a:ext cx="10515600" cy="310896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8C99B5"/>
                </a:solidFill>
                <a:latin typeface="Microsoft YaHei"/>
                <a:ea typeface="Microsoft YaHei"/>
              </a:rPr>
              <a:t>Python编程基础 · V1 · W11-22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从虚拟设备采数到云端上报</dc:title>
  <dc:subject/>
  <dc:creator>两江智造教学组</dc:creator>
  <cp:keywords/>
  <dc:description>V1.1 · easyslides 规范重制（页面充实版）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