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369" r:id="rId65"/>
    <p:sldId id="257" r:id="rId9"/>
    <p:sldId id="259" r:id="rId11"/>
    <p:sldId id="260" r:id="rId12"/>
    <p:sldId id="261" r:id="rId13"/>
    <p:sldId id="263" r:id="rId15"/>
    <p:sldId id="264" r:id="rId16"/>
    <p:sldId id="266" r:id="rId18"/>
    <p:sldId id="267" r:id="rId19"/>
    <p:sldId id="271" r:id="rId23"/>
    <p:sldId id="273" r:id="rId25"/>
    <p:sldId id="274" r:id="rId26"/>
    <p:sldId id="275" r:id="rId27"/>
    <p:sldId id="276" r:id="rId28"/>
    <p:sldId id="277" r:id="rId29"/>
    <p:sldId id="278" r:id="rId30"/>
    <p:sldId id="280" r:id="rId32"/>
    <p:sldId id="281" r:id="rId33"/>
    <p:sldId id="282" r:id="rId34"/>
    <p:sldId id="287" r:id="rId39"/>
    <p:sldId id="289" r:id="rId41"/>
    <p:sldId id="290" r:id="rId42"/>
    <p:sldId id="292" r:id="rId44"/>
    <p:sldId id="295" r:id="rId47"/>
    <p:sldId id="296" r:id="rId48"/>
    <p:sldId id="298" r:id="rId50"/>
    <p:sldId id="299" r:id="rId51"/>
    <p:sldId id="301" r:id="rId53"/>
    <p:sldId id="304" r:id="rId56"/>
    <p:sldId id="309" r:id="rId61"/>
    <p:sldId id="311" r:id="rId63"/>
    <p:sldId id="312" r:id="rId64"/>
    <p:sldId id="314" r:id="rId66"/>
    <p:sldId id="316" r:id="rId68"/>
    <p:sldId id="318" r:id="rId70"/>
    <p:sldId id="372" r:id="rId75"/>
    <p:sldId id="373" r:id="rId60"/>
    <p:sldId id="319" r:id="rId71"/>
    <p:sldId id="367" r:id="rId69"/>
    <p:sldId id="368" r:id="rId67"/>
    <p:sldId id="320" r:id="rId72"/>
    <p:sldId id="322" r:id="rId74"/>
    <p:sldId id="324" r:id="rId76"/>
    <p:sldId id="326" r:id="rId78"/>
    <p:sldId id="328" r:id="rId80"/>
    <p:sldId id="329" r:id="rId81"/>
    <p:sldId id="331" r:id="rId83"/>
    <p:sldId id="333" r:id="rId85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5" r:id="rId97"/>
    <p:sldId id="346" r:id="rId98"/>
    <p:sldId id="347" r:id="rId99"/>
    <p:sldId id="354" r:id="rId106"/>
    <p:sldId id="359" r:id="rId111"/>
    <p:sldId id="360" r:id="rId112"/>
    <p:sldId id="361" r:id="rId113"/>
    <p:sldId id="365" r:id="rId117"/>
    <p:sldId id="366" r:id="rId118"/>
    <p:sldId id="370" r:id="rId73"/>
    <p:sldId id="371" r:id="rId6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3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2" Type="http://schemas.openxmlformats.org/officeDocument/2006/relationships/slide" Target="slides/slide18.xml"/><Relationship Id="rId33" Type="http://schemas.openxmlformats.org/officeDocument/2006/relationships/slide" Target="slides/slide19.xml"/><Relationship Id="rId34" Type="http://schemas.openxmlformats.org/officeDocument/2006/relationships/slide" Target="slides/slide20.xml"/><Relationship Id="rId39" Type="http://schemas.openxmlformats.org/officeDocument/2006/relationships/slide" Target="slides/slide21.xml"/><Relationship Id="rId41" Type="http://schemas.openxmlformats.org/officeDocument/2006/relationships/slide" Target="slides/slide22.xml"/><Relationship Id="rId42" Type="http://schemas.openxmlformats.org/officeDocument/2006/relationships/slide" Target="slides/slide23.xml"/><Relationship Id="rId44" Type="http://schemas.openxmlformats.org/officeDocument/2006/relationships/slide" Target="slides/slide24.xml"/><Relationship Id="rId47" Type="http://schemas.openxmlformats.org/officeDocument/2006/relationships/slide" Target="slides/slide25.xml"/><Relationship Id="rId48" Type="http://schemas.openxmlformats.org/officeDocument/2006/relationships/slide" Target="slides/slide26.xml"/><Relationship Id="rId50" Type="http://schemas.openxmlformats.org/officeDocument/2006/relationships/slide" Target="slides/slide27.xml"/><Relationship Id="rId51" Type="http://schemas.openxmlformats.org/officeDocument/2006/relationships/slide" Target="slides/slide28.xml"/><Relationship Id="rId53" Type="http://schemas.openxmlformats.org/officeDocument/2006/relationships/slide" Target="slides/slide29.xml"/><Relationship Id="rId56" Type="http://schemas.openxmlformats.org/officeDocument/2006/relationships/slide" Target="slides/slide30.xml"/><Relationship Id="rId60" Type="http://schemas.openxmlformats.org/officeDocument/2006/relationships/slide" Target="slides/slide69.xml"/><Relationship Id="rId61" Type="http://schemas.openxmlformats.org/officeDocument/2006/relationships/slide" Target="slides/slide31.xml"/><Relationship Id="rId62" Type="http://schemas.openxmlformats.org/officeDocument/2006/relationships/slide" Target="slides/slide67.xml"/><Relationship Id="rId63" Type="http://schemas.openxmlformats.org/officeDocument/2006/relationships/slide" Target="slides/slide32.xml"/><Relationship Id="rId64" Type="http://schemas.openxmlformats.org/officeDocument/2006/relationships/slide" Target="slides/slide33.xml"/><Relationship Id="rId65" Type="http://schemas.openxmlformats.org/officeDocument/2006/relationships/slide" Target="slides/slide2.xml"/><Relationship Id="rId66" Type="http://schemas.openxmlformats.org/officeDocument/2006/relationships/slide" Target="slides/slide34.xml"/><Relationship Id="rId67" Type="http://schemas.openxmlformats.org/officeDocument/2006/relationships/slide" Target="slides/slide39.xml"/><Relationship Id="rId68" Type="http://schemas.openxmlformats.org/officeDocument/2006/relationships/slide" Target="slides/slide35.xml"/><Relationship Id="rId69" Type="http://schemas.openxmlformats.org/officeDocument/2006/relationships/slide" Target="slides/slide38.xml"/><Relationship Id="rId70" Type="http://schemas.openxmlformats.org/officeDocument/2006/relationships/slide" Target="slides/slide36.xml"/><Relationship Id="rId71" Type="http://schemas.openxmlformats.org/officeDocument/2006/relationships/slide" Target="slides/slide37.xml"/><Relationship Id="rId72" Type="http://schemas.openxmlformats.org/officeDocument/2006/relationships/slide" Target="slides/slide40.xml"/><Relationship Id="rId73" Type="http://schemas.openxmlformats.org/officeDocument/2006/relationships/slide" Target="slides/slide66.xml"/><Relationship Id="rId74" Type="http://schemas.openxmlformats.org/officeDocument/2006/relationships/slide" Target="slides/slide41.xml"/><Relationship Id="rId75" Type="http://schemas.openxmlformats.org/officeDocument/2006/relationships/slide" Target="slides/slide68.xml"/><Relationship Id="rId76" Type="http://schemas.openxmlformats.org/officeDocument/2006/relationships/slide" Target="slides/slide42.xml"/><Relationship Id="rId78" Type="http://schemas.openxmlformats.org/officeDocument/2006/relationships/slide" Target="slides/slide43.xml"/><Relationship Id="rId80" Type="http://schemas.openxmlformats.org/officeDocument/2006/relationships/slide" Target="slides/slide44.xml"/><Relationship Id="rId81" Type="http://schemas.openxmlformats.org/officeDocument/2006/relationships/slide" Target="slides/slide45.xml"/><Relationship Id="rId83" Type="http://schemas.openxmlformats.org/officeDocument/2006/relationships/slide" Target="slides/slide46.xml"/><Relationship Id="rId85" Type="http://schemas.openxmlformats.org/officeDocument/2006/relationships/slide" Target="slides/slide47.xml"/><Relationship Id="rId87" Type="http://schemas.openxmlformats.org/officeDocument/2006/relationships/slide" Target="slides/slide48.xml"/><Relationship Id="rId88" Type="http://schemas.openxmlformats.org/officeDocument/2006/relationships/slide" Target="slides/slide49.xml"/><Relationship Id="rId89" Type="http://schemas.openxmlformats.org/officeDocument/2006/relationships/slide" Target="slides/slide50.xml"/><Relationship Id="rId90" Type="http://schemas.openxmlformats.org/officeDocument/2006/relationships/slide" Target="slides/slide51.xml"/><Relationship Id="rId91" Type="http://schemas.openxmlformats.org/officeDocument/2006/relationships/slide" Target="slides/slide52.xml"/><Relationship Id="rId92" Type="http://schemas.openxmlformats.org/officeDocument/2006/relationships/slide" Target="slides/slide53.xml"/><Relationship Id="rId93" Type="http://schemas.openxmlformats.org/officeDocument/2006/relationships/slide" Target="slides/slide54.xml"/><Relationship Id="rId94" Type="http://schemas.openxmlformats.org/officeDocument/2006/relationships/slide" Target="slides/slide55.xml"/><Relationship Id="rId95" Type="http://schemas.openxmlformats.org/officeDocument/2006/relationships/slide" Target="slides/slide56.xml"/><Relationship Id="rId97" Type="http://schemas.openxmlformats.org/officeDocument/2006/relationships/slide" Target="slides/slide57.xml"/><Relationship Id="rId98" Type="http://schemas.openxmlformats.org/officeDocument/2006/relationships/slide" Target="slides/slide58.xml"/><Relationship Id="rId99" Type="http://schemas.openxmlformats.org/officeDocument/2006/relationships/slide" Target="slides/slide59.xml"/><Relationship Id="rId106" Type="http://schemas.openxmlformats.org/officeDocument/2006/relationships/slide" Target="slides/slide60.xml"/><Relationship Id="rId111" Type="http://schemas.openxmlformats.org/officeDocument/2006/relationships/slide" Target="slides/slide61.xml"/><Relationship Id="rId112" Type="http://schemas.openxmlformats.org/officeDocument/2006/relationships/slide" Target="slides/slide62.xml"/><Relationship Id="rId113" Type="http://schemas.openxmlformats.org/officeDocument/2006/relationships/slide" Target="slides/slide63.xml"/><Relationship Id="rId117" Type="http://schemas.openxmlformats.org/officeDocument/2006/relationships/slide" Target="slides/slide64.xml"/><Relationship Id="rId118" Type="http://schemas.openxmlformats.org/officeDocument/2006/relationships/slide" Target="slides/slide6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开场30秒：本次课《设备什么时候该报警》，80分钟＝2课时×40分钟。课前已发工单+starter+微课知识卡，资讯·计划线上完成。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分支详解二：强调'技能=今天的验收口径'，评价权重即打分表。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课证赛岗对照：说明本课工单在证书/竞赛中的对应考点，30秒。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讲10→演10→模仿10→练习10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预习检查页：左栏布置下次课教材预习（下次quiz从中出）；右栏抽查上次课检查知识点——随机2人白板/口述，答对记过程分。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逐题精讲：只讲错得最多的题——其余对答案即可。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夜班险情：2号注塑机温度悄悄爬过95℃没人察觉，幸亏李姐巡逻撞见。王主任后怕：'机器得自己会喊疼。'——工单0.2a：写多级温度/压力告警判断，先让程序学会'什么时候该喊'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剧情拆解：把情境页的故事拆成三要素，让学生明确'解决什么'。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目标对照页：逐维读目标，指读达标口径=评分表，目标可测可评。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详解B1·if/elif/else分支：先读定义→场景为什么用它→看代码实例→扩展给A层。C/D层掌握前三格，A层加扩展格。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应用页1：把知识点放回产线场景——先看代码输出，再回看定义，强化'学以致用'。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详解B2·比较与赋值：先读定义→场景为什么用它→看代码实例→扩展给A层。C/D层掌握前三格，A层加扩展格。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详解B3·逻辑运算and/or/not：先读定义→场景为什么用它→看代码实例→扩展给A层。C/D层掌握前三格，A层加扩展格。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应用页3：把知识点放回产线场景——先看代码输出，再回看定义，强化'学以致用'。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详解B4·嵌套判断：先读定义→场景为什么用它→看代码实例→扩展给A层。C/D层掌握前三格，A层加扩展格。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应用页4：把知识点放回产线场景——先看代码输出，再回看定义，强化'学以致用'。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详解B5·边界值三测法：先读定义→场景为什么用它→看代码实例→扩展给A层。C/D层掌握前三格，A层加扩展格。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详解B6·告警三级分级：先读定义→场景为什么用它→看代码实例→扩展给A层。C/D层掌握前三格，A层加扩展格。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现场演示《两级判断》：三步走——先整段跑通看结果，再逐行讲关键语句，最后现场改一个参数看输出变化（演10分钟的核心素材）。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流程图页：可快速带过，作为'我们现在在哪一步'的路标。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方案对比：三问框架通用——以后每个决策环节都用这三问。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工单发布话术：'精密制造事业部发来工单0.2a《工业实时告警系统Ⅰ》，及格线是≥，优秀线看A层标准'——念完发starter。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错误速查：现场演示第一条——制造「95分支永不执行」，带着学生按'现象→原因→解决'三步排查。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四层总览：一页看全四层目标与达标线——学生选层前先看全局。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最后一查：五项90秒自查——退回率最低的五个点。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项目1 初来乍到，请多关照 | 预习知识点：字符串格式化(f-string/format)；运算符与表达式 | 课中检查知识点：能写出f'{dev}温度{temp:.1f}℃'；能区分==与is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评分细则：四级量表逐行读——学生知道自己'到哪条线得多少分'。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FAQ三题：覆盖装包/启动/规范三大高频问题——贴在工单背面。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资源导航：五级求助顺序=工单→starter→指南→notebook→教师。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拓展部分：A层必看，B层选看，C/D层课后看——差异化作业。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产业案例：讲一个真实岗位场景，把课堂技能挂到职业坐标系。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思政页：结合本课内容点一个真实案例，30秒即可，不贴标签。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图谱回顾：回到开课的地图——现在每条分支都走过了。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多解法页：同一工单三种深度——层不同，解法不同，都算对。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自测答案：逐题讲'为什么'——错题定位到知识卡编号。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一图流总结：五句话收束全天——知识/技能/交付/习惯/明日。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9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0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1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5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6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Python编程基础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设备什么时候该报警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第二周 · 第3次课（2课时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CE（全程主编辑器）+ Jupyter（每周notebook）+ Git/GitHub（每周提交）</a:t>
            </a:r>
          </a:p>
        </p:txBody>
      </p:sp>
      <p:pic>
        <p:nvPicPr>
          <p:cNvPr id="7" name="Picture 6" descr="W2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安全与合规警示（操作前必读）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1. 上机前确认本工位电源开关与急停位置，确认设备处于安全状态。</a:t>
            </a:r>
          </a:p>
          <a:p>
            <a:pPr>
              <a:spcAft>
                <a:spcPts val="1000"/>
              </a:spcAft>
            </a:pPr>
            <a:r>
              <a:rPr sz="1800"/>
              <a:t>2. 涉及接线的操作一律先断电、后验电、再作业，禁止带电插拔。</a:t>
            </a:r>
          </a:p>
          <a:p>
            <a:pPr>
              <a:spcAft>
                <a:spcPts val="1000"/>
              </a:spcAft>
            </a:pPr>
            <a:r>
              <a:rPr sz="1800"/>
              <a:t>3. 身体任何部位不进入设备运动/散热区域，长发束起，不佩戴悬垂饰物。</a:t>
            </a:r>
          </a:p>
          <a:p>
            <a:pPr>
              <a:spcAft>
                <a:spcPts val="1000"/>
              </a:spcAft>
            </a:pPr>
            <a:r>
              <a:rPr sz="1800"/>
              <a:t>4. 调试程序前先静态检查、再低速小样本试运行，确认无异常后放大规模。</a:t>
            </a:r>
          </a:p>
          <a:p>
            <a:pPr>
              <a:spcAft>
                <a:spcPts val="1000"/>
              </a:spcAft>
            </a:pPr>
            <a:r>
              <a:rPr sz="1800"/>
              <a:t>5. 任何不确定或异常情况，立即停止操作并报告指导教师，不擅自处置。</a:t>
            </a:r>
          </a:p>
          <a:p>
            <a:r>
              <a:rPr sz="1400" b="1"/>
              <a:t>以上任一条违反，本次任务按课程标准「安全规范一票否决」条款记 0 分并中止实训。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四步法节奏：讲-演-模仿-练习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目标+两江智造本课剧情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讲10′+演10′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基础知识大卡+现场演示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模仿与练习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10′+10′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跟做保底→独立完成（工单分层）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69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 / 69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课程定位：Python编程基础（课程标准摘录）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专业核心基础课：面向零基础新生的编程第一课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工业数据采集技术员、边缘计算运维、平台运维员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Python开发（工信部）、AI应用实践、企业应用实施工程师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前：计算机文化基础 → 本课(第1-12周) → 后：AI应用基础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 / 69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设备什么时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候该报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if/elif/else分支；缩进即语法——应用：见工单starter与教师参考实现 · 比较运算==/!=/&gt;=/&lt;=；=是赋值——应用：见工单starter与教师参考实现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and/or/not组合条件(加括号)——应用：if temp&gt;=80 and vib&gt;4.5: 报警——两个条件同时满足才触发 · 嵌套判断：先危险后预警的顺序——应用：先if level=='alarm'再if device=='PUMP'——先筛高危再定位设备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编写多级阈值判断逻辑——应用：见工单starter与教师参考实现 · 设计alarm告警函数——应用：见工单starter与教师参考实现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 / 69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技能线：编写多级阈值判断逻辑——应用：见工单starter与教师参考实现；设计alarm告警函数——应用：见工单starter与教师参考实现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 / 69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精密制造事业部：工业数据采集技术员、边缘计算运维员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0.2a《工业实时告警系统Ⅰ》——本课工单即考核单元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Python开发职业技能等级证书（工信部）——本课对应初级操作题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世界职业院校技能大赛（人工智能赛道）数据采集/处理赛项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 / 69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 / 69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复习检查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课前5分钟：代码听写/找错微练习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18min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精讲原理与工业应用背景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18min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教师实时代码演示（关键步骤慢放）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模仿·练习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31min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跟做→独立完成小任务（人人有产出）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8min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当堂评分 + 避坑清单更新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共80分钟（四步法）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69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69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目标：掌握if/elif/else条件判断结构；掌握逻辑运算符组合条件的方法；理解多级告警的业务分级逻辑。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69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目标：能够编写含多条件嵌套判断的工业监测程序；能够设计≥1个告警函数；代码规范率≥70%。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达标线：代码能跑+输出符合工单样例=过关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69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目标：培养严谨的逻辑思维（边界条件全覆盖），树立工业安全“宁可信其有”的告警意识。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怎么养：规范命名/及时提交/报错必究——每个工单都在练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达标线：提交记录连续+命名规范=过关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69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temp=80时，‘temp&gt;=80’和‘temp&gt;80’结果分别是什么？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预习微课已观看；跟打练习截图已交；PyCharm CE环境正常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69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课前预习与检查（教材衔接 · 上次课回顾）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4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5300000" cy="7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1880000"/>
            <a:ext cx="48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📖 课前预习｜下次课教材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000" y="2650000"/>
            <a:ext cx="4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《Python程序设计项目化教》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项目1 初来乍到，请多关照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0000" y="376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40000" y="3700000"/>
            <a:ext cx="450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字符串格式化(f-string/format)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0000" y="438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40000" y="4320000"/>
            <a:ext cx="4500000" cy="4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运算符与表达式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0000" y="1800000"/>
            <a:ext cx="5360000" cy="44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0000" y="1800000"/>
            <a:ext cx="536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0000" y="1880000"/>
            <a:ext cx="49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✓ 课中检查｜上次课（W1）抽查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00000" y="2800000"/>
            <a:ext cx="900000" cy="4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00000" y="2840000"/>
            <a:ext cx="8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抽查1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50000" y="2760000"/>
            <a:ext cx="386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能独立打开IDE并运行print('hello'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00000" y="3580000"/>
            <a:ext cx="900000" cy="4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00000" y="3620000"/>
            <a:ext cx="8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抽查2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50000" y="3540000"/>
            <a:ext cx="386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能说出int/float/str的区别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0000" y="4380000"/>
            <a:ext cx="4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44546A"/>
                </a:solidFill>
                <a:latin typeface="微软雅黑"/>
              </a:rPr>
              <a:t>抽查方式：随机2人白板演示/口述——答对记过程分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69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题目：temp=80时，‘temp&gt;=80’和‘temp&gt;80’结果分别是什么？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常见错误：背概念不看场景；看到代码就慌，先读注释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本课回收：这道题的考点会在知识卡X和随堂自测中再次出现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69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夜班险情：2号注塑机温度悄悄爬过95℃没人察觉，幸亏李姐巡逻撞见。王主任后怕：'机器得自己会喊疼。'——工单0.2a：写多级温度/压力告警判断，先让程序学会'什么时候该喊'。</a:t>
            </a:r>
          </a:p>
        </p:txBody>
      </p:sp>
      <p:pic>
        <p:nvPicPr>
          <p:cNvPr id="9" name="Picture 8" descr="W2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69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任务背景：夜班险情：2号注塑机温度悄悄爬过95℃没人察觉，幸亏李姐巡逻撞见。王主任后怕：'机器得自己会喊疼。'——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冲突点：产线数据量大/格式杂/时限紧——手工做不完，必须编程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决策点：先做什么再做什么？数据从哪来？输出给谁看？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带着这三个问题进入知识精讲——每个知识点都是解药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69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三维目标 → 怎么算达标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掌握if/elif/else条件判断结构；掌握逻辑运算符组合条件的方法；理解多级告警的业务分级逻辑。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能够编写含多条件嵌套判断的工业监测程序；能够设计≥1个告警函数；代码规范率≥70%。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培养严谨的逻辑思维（边界条件全覆盖），树立工业安全“宁可信其有”的告警意识。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达标口径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对应工单0.2a评分：功能40%+技术25%+规范20%+素养15%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69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69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知识详解：if/elif/else分支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B01 · if/elif/else分支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程序岔路口：if问一句'满不满足'，满足走这条路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温度超限告警/振动分级——车间判断全走岔路口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if temp&gt;=80: print('报警') else: print('正常')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误区：缩进漏4空格→IndentationError——缩进即语法不是美观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69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知识应用（1）：if/elif/else分支；缩进即语法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if/elif/else分支；缩进即语法。在两江智造产线上的用法：见工单starter与教师参考实现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69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知识详解：比较与赋值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B02 · 比较与赋值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=是'装进去'，==是'比一比'——一横之差意思全变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告警判断写错=误操作——if temp=80直接语法错误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if temp == 80: print('到限')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误区：=写进if→SyntaxError；比较浮点用差值&lt;1e-6不用==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69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知识详解：逻辑运算and/or/not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B03 · 逻辑运算and/or/not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and同真才真/or一真即真/not翻面——复杂条件加括号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温度高且振动大才停机——多条件联锁判断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if (temp&gt;=80) and (vib&gt;4.5): 停机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误区：优先级记不清就全加括号——and比or优先，加括号最稳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69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知识应用（3）：and/or/not组合条件(加括号)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and/or/not组合条件(加括号)。在两江智造产线上的用法：if temp&gt;=80 and vib&gt;4.5: 报警——两个条件同时满足才触发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680000"/>
            <a:ext cx="10900000" cy="165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680000"/>
            <a:ext cx="10900000" cy="1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860000"/>
            <a:ext cx="10300000" cy="1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if temp&gt;=80 and vib&gt;4.5: 报警——两个条件同时满足才触发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69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知识详解：嵌套判断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B04 · 嵌套判断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if里套if=先粗筛再细筛——像分拣机先挑大类再细分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先筛高危设备再定位具体泵——排查有先后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if level=='alarm': 里层 if device=='PUMP-03'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误区：嵌套超2层读不动——再深就抽函数（下节课）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69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知识应用（4）：嵌套判断：先危险后预警的顺序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嵌套判断：先危险后预警的顺序。在两江智造产线上的用法：先if level=='alarm'再if device=='PUMP'——先筛高危再定位设备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680000"/>
            <a:ext cx="10900000" cy="165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680000"/>
            <a:ext cx="10900000" cy="1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860000"/>
            <a:ext cx="10300000" cy="1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先if level=='alarm'再if device=='PUMP'——先筛高危再定位设备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69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知识详解：边界值三测法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B05 · 边界值三测法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边界三测：限值前/限值上/限值后各测一遍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阈值80到底&gt;=还是&gt;——79.9/80/80.1三发子弹裁决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80报不报？&gt;=80报 → 与'≥80报警'工艺单一致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误区：只测中间值——工业验收规定边界必测，&gt;=和&gt;差一台停机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69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知识详解：告警三级分级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B06 · 告警三级分级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提示=记本子/警告=喊人/停机=自动断——轻重分级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车间告警不能一刀切——分级响应才能不漏不大惊小怪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&gt;=90停机 / &gt;=80警告 / &gt;=70提示（elif顺序）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误区：elif从严到窄写——先写&gt;=70会把90也截走，顺序即逻辑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69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编写多级阈值判断逻辑——应用：见工单starter与教师参考实现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设计alarm告警函数——应用：见工单starter与教师参考实现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边界五组全覆盖测试——应用：见工单starter与教师参考实现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用流程图先行梳理分支——应用：见工单starter与教师参考实现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69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设备什么时候该报警（1）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条件判断基础：if/elif/else结构与缩进块；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比较运算与逻辑运算：and、or、not组合条件；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嵌套判断与多级告警（提示/警告/停机）的业务逻辑；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演示：温度阈值判断、压力异常判断的实时告警程序。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69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关键代码：两级判断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if temp &gt;= 95: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alarm(3, f"温度{temp}℃超危险线，停机！")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elif temp &gt;= 80: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alarm(2, f"温度{temp}℃超预警线")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else: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alarm(1, "运行正常")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69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课堂教法四步法（每课时40分钟）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25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讲10min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3496000" y="2600000"/>
            <a:ext cx="25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演10min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6000" y="2600000"/>
            <a:ext cx="25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模仿10min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96000" y="2600000"/>
            <a:ext cx="25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练习10min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PRIMM融合：预测→运行→研究→修改→创造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69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69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本课决策题：课堂教法：四步法（第1-6周）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问②值吗——开发时间/运行速度/可维护性三角权衡（工程账）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69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实施任务：工单0.2a《工业实时告警系统Ⅰ》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实现两级温度阈值判断(80/95℃)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设计alarm(level,msg)告警函数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边界五组测试(79.9/80/94.9/95/100)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≥2个if判断+1个告警函数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三级告警+边界全对+规范率≥85%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69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先看终点（本课目标预览）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参考实现真实运行输出（本课工单·完成态）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[提示] 21:00:37 运行正常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[警告] 21:00:37 温度80℃/压力0.5MPa超预警线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[警告] 21:00:37 温度94.9℃/压力0.5MPa超预警线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[停机] 21:00:37 温度95℃/压力0.5MPa超危险线, 立即停机!  ×2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四级达标线（当堂评分）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D·学徒 ≥60 跟做完成核心步骤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C·操作员 ≥70 基础功能完成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B·组长 ≥80 全功能+规范+帮带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关键自检点（对照工单逐项核对）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代码从头跑到尾不报错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输出格式符合工单样例（对齐/单位/小数位）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文件名 学号_姓名_工单号.py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提交规范（过程性证据）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运行截图贴工单过程记录栏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Git 本次课≥1条 commit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互查签字后提交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69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本工单的工程化项目 · 第三种代码形态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项目位置与一键运行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工程化项目/w02_alarm_engine/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python run.py          # 输出 output/report.txt + result.json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python -m pytest -q    # 全量测试应全绿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国标与 TOGAF 落地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GB/T 9385 需求规格 / 15532 测试 / 8567 文档 / 8566 过程组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TOGAF 四域：业务 · 数据 · 应用 · 技术架构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docs/07 ADR-001 架构决策记录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目录结构（23 个文件）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config/rules.yaml      规则外置：改配置不改代码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src/alarm_engine/  config · core · io_utils · report · pipeline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tests/      正常 / 边界 / 异常三档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验收口径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pytest 全绿；run.py 产出报告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改配置不改代码；二次运行结果一致（种子固定）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8 份过程文档齐全 → 可直接构成答辩材料链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69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跟做改值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运行示例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把80改成75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观察输出变化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能改阈值再跑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69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单级判断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温度≥80判断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输出告警信息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测试79.9/80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两组边界通过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69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两级判断完整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80/95双阈值判断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alarm函数封装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五组边界测试输出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边界五组通过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69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三级告警+去重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温度压力同时超限升紧急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同设备同级10秒去重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告警写alarm.log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边界全对+日志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(A层加码: 实现三级告警+告警去重（同设备同级别10秒内只报一次）)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69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实现两级温度阈值判断(80/95℃)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设计alarm(level,msg)告警函数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边界五组测试(79.9/80/94.9/95/100)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=是赋值==是比较，条件里写=直接语法错误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边界值三测：79.9/80/80.1必做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elif顺序：范围大的判断放后面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69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95分支永不执行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elif顺序反了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先判危险再预警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=用在条件里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语法错误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改==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边界80落错分支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用了&gt;而非&gt;=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按需求选&gt;=/&gt;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69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D·学徒（≥60）：跟做改值——跟做保底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C·操作员（≥70）：单级判断——基础完成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B·组长（≥80）：两级判断完整——标准达成+帮带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A·师傅（≥90）：三级告警+去重——进阶拓展+费曼讲解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规则：每人按工单勾选自己的层；每4周按达标情况动态升降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69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输出格式符合工单样例（对齐/单位/小数位）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文件命名：学号_姓名_工单号.py（不对=扣规范分）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运行截图已贴工单过程记录栏（过程性证据）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conda环境正确（提示符显示(py02）再运行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69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69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69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提交物与评分（工单0.2a）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学号_姓名_0.2a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69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完成工单项目0.2（上）：实现≥2个if条件判断、设计≥1个告警函数；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手绘多级告警流程图一张并标注边界条件；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预习for/while循环结构。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69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工匠精神：规范命名、及时保存、报错必究的编码习惯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工程伦理：数据安全与隐私保护, 不抄代码、引用注明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协作素养：ABCD角色轮换履职, 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69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完成后长这样（真实运行 · 参考实现） · 课末对照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参考实现真实运行输出（本课工单·完成态）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[提示] 21:00:37 运行正常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[警告] 21:00:37 温度80℃/压力0.5MPa超预警线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[警告] 21:00:37 温度94.9℃/压力0.5MPa超预警线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[停机] 21:00:37 温度95℃/压力0.5MPa超危险线, 立即停机!  ×2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四级达标线（当堂评分）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D·学徒 ≥60 跟做完成核心步骤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C·操作员 ≥70 基础功能完成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B·组长 ≥80 全功能+规范+帮带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关键自检点（对照工单逐项核对）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代码从头跑到尾不报错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输出格式符合工单样例（对齐/单位/小数位）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文件名 学号_姓名_工单号.py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提交规范（过程性证据）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运行截图贴工单过程记录栏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Git 本次课≥1条 commit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互查签字后提交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69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69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pip装包很慢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配清华镜像：pip config set global.index-url https://pypi.tuna.tsinghua.edu.cn/simple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Jupyter启动不了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先conda activate py02再jupyter notebook；看报错第一行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代码能跑但不规范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对照PEP 8卡：snake_case命名+4空格缩进+f-string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69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0.2a任务书——步骤/及格线/评分细则都在里面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学生代码框架/——TODO注释即步骤提示，未填也能跑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Jupyter实训/——本周notebook师生版，先跑教师版看答案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做完按Ctrl+K提交推送——每周至少1次，工程素养分依据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69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69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车间设备台账还靠Excel手抄，格式天天错、查找靠肉眼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Python变量+f-string+文件读写，30行代码生成规范台账卡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0.2a的技能点即其最小实现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下一步：把台账接到数据库（03课P5）/自动采集（02课W11）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69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报错必究——每个红色报错都是产线隐患的预演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协作素养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ABCD轮换履职——师傅带徒弟，贡献表如实填报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代码抄作业=岗位上的'无证驾驶'，害人害己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69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设备什么时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候该报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if/elif/else分支；缩进即语法——应用：见工单starter与教师参考实现 · 比较运算==/!=/&gt;=/&lt;=；=是赋值——应用：见工单starter与教师参考实现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编写多级阈值判断逻辑——应用：见工单starter与教师参考实现 · 设计alarm告警函数——应用：见工单starter与教师参考实现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95分支永不执行 · =用在条件里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工单0.2a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69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函数封装+异常处理——可复用，B层路线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向量化/推导式/设计模式——性能优雅，A层路线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先让它跑起来→再让它对→最后让它快（KISS原则）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69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自测答案与讲解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temp=80时，‘temp&gt;=80’和‘temp&gt;80’结果分别是什么？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排错题：出现「95分支永不执行」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原因：elif顺序反了；解决：先判危险再预警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if/elif/else分支；缩进即语法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错题怎么办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回看对应知识卡+应用页，再跑一遍starter验证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69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知识：if/elif/else分支；缩进即语法；比较运算==/!=/&gt;=/&lt;=；=是赋值；and/or/not组合条件(加括号)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技能：编写多级阈值判断逻辑——应用：见工单starter与教师参考实现；设计alarm告警函数——应用：见工单starter与教师参考实现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交付：工单0.2a《工业实时告警系统Ⅰ》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习惯：做完就Ctrl+K提交Git——每周至少1次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65 / 69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66 / 69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下次课预告（第3周）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双层循环模拟多设备多周期——应用：见工单star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range(1,10,2)生成哪些数？死循环怎么避免？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本任务六步法导航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六步法：资讯 → 计划 → 决策 → 实施 → 检查 → 评估</a:t>
            </a:r>
          </a:p>
          <a:p>
            <a:pPr>
              <a:spcAft>
                <a:spcPts val="1000"/>
              </a:spcAft>
            </a:pPr>
            <a:r>
              <a:rPr sz="1800"/>
              <a:t>本讲对应工单：《程序设计基础》分层任务工单</a:t>
            </a:r>
          </a:p>
          <a:p>
            <a:pPr>
              <a:spcAft>
                <a:spcPts val="1000"/>
              </a:spcAft>
            </a:pPr>
            <a:r>
              <a:rPr sz="1800"/>
              <a:t>课堂产出：工单第六节实施记录须当堂填写，含操作前安全打勾与学生本人签字。</a:t>
            </a:r>
          </a:p>
          <a:p>
            <a:pPr>
              <a:spcAft>
                <a:spcPts val="1000"/>
              </a:spcAft>
            </a:pPr>
            <a:r>
              <a:rPr sz="1800"/>
              <a:t>课后交付：班组长／操作员／教师三方联签后交回，缺签视为未交付。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本讲与岗位任务单的衔接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本讲在工作过程系统化课程中承担的任务环节：任务实施</a:t>
            </a:r>
          </a:p>
          <a:p>
            <a:pPr>
              <a:spcAft>
                <a:spcPts val="1000"/>
              </a:spcAft>
            </a:pPr>
            <a:r>
              <a:rPr sz="1800"/>
              <a:t>考核对齐：过程性成绩取自本讲工单第六节各模块得分合计（满分 100）。</a:t>
            </a:r>
          </a:p>
          <a:p>
            <a:pPr>
              <a:spcAft>
                <a:spcPts val="1000"/>
              </a:spcAft>
            </a:pPr>
            <a:r>
              <a:rPr sz="1800"/>
              <a:t>达标线：综合成绩≥60 分，且无安全红线一票否决记录</a:t>
            </a:r>
          </a:p>
          <a:p>
            <a:pPr>
              <a:spcAft>
                <a:spcPts val="1000"/>
              </a:spcAft>
            </a:pPr>
            <a:r>
              <a:rPr sz="1800"/>
              <a:t>无效工单判定：未打安全勾、无本人签字、无三方联签。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本课重难点地图 · 老师划重点（动手前必看）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69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微软雅黑"/>
              </a:rPr>
              <a:t>动手前先看这页：重点要会什么、难点会卡在哪、哪里最容易错、学没学会怎么自测。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1783080"/>
            <a:ext cx="5532120" cy="312724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1783080"/>
            <a:ext cx="5532120" cy="365760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1819656"/>
            <a:ext cx="53126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重点 · 必会必考（本课知识点全景）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" y="2267712"/>
            <a:ext cx="5257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2B2F36"/>
                </a:solidFill>
                <a:latin typeface="微软雅黑"/>
              </a:rPr>
              <a:t>◆ B01 if/elif/else分支｜程序岔路口：if问一句'满不满足'，满足走这条路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B02 比较与赋值｜=是'装进去'，==是'比一比'——一横之差意思全变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B03 逻辑运算and/or/not｜and同真才真/or一真即真/not翻面——复杂条件加括号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B04 嵌套判断｜if里套if=先粗筛再细筛——像分拣机先挑大类再细分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B05 边界值三测法｜边界三测：限值前/限值上/限值后各测一遍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B06 告警三级分级｜提示=记本子/警告=喊人/停机=自动断——轻重分级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44768" y="1783080"/>
            <a:ext cx="5586984" cy="148132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44768" y="1783080"/>
            <a:ext cx="5586984" cy="365760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54496" y="1819656"/>
            <a:ext cx="5367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难点 · 易卡壳（下一页逐个击破）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2231136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▲ 误区：缩进漏4空格→IndentationError——缩进即语法不是美观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▲ 误区：=写进if→SyntaxError；比较浮点用差值&lt;1e-6不用==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▲ 误区：优先级记不清就全加括号——and比or优先，加括号最稳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44768" y="3401568"/>
            <a:ext cx="5586984" cy="1508760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44768" y="3401568"/>
            <a:ext cx="5586984" cy="365760"/>
          </a:xfrm>
          <a:prstGeom prst="rect">
            <a:avLst/>
          </a:prstGeom>
          <a:solidFill>
            <a:srgbClr val="9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54496" y="3438144"/>
            <a:ext cx="5367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高频易错 · 动手前先记住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3849624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✗ 95分支永不执行 → 先判危险再预警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✗ =用在条件里 → 改==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✗ 边界80落错分支 → 按需求选&gt;=/&gt;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047488"/>
            <a:ext cx="11274552" cy="120700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5047488"/>
            <a:ext cx="11274552" cy="365760"/>
          </a:xfrm>
          <a:prstGeom prst="rect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6928" y="5084064"/>
            <a:ext cx="110550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达标自问 · 学没学会，问自己这四句（当堂评分同口径）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458968"/>
            <a:ext cx="109728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① 及格线我能过吗——≥2个if判断+1个告警函数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② 优秀线我够吗——三级告警+边界全对+规范率≥85%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③ 技能点我能独立做出来吗——编写多级阈值判断逻辑；设计alarm告警函数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④ 报错了先查「常见错误速查」页再举手——错误信息逐字读一遍，八成自己能修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难点逐个击破 · 零基础照做就能会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69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微软雅黑"/>
              </a:rPr>
              <a:t>每个难点四步走：先看「为什么容易栽」对号入座 → 记住「一招破解」→ 照「动手验证」做一遍 → 做不出回知识详解页。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17830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17830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1828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  <a:latin typeface="微软雅黑"/>
              </a:rPr>
              <a:t>难点1：B01 if/elif/else分支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  <a:latin typeface="微软雅黑"/>
              </a:rPr>
              <a:t>为什么容易栽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误区：缩进漏4空格→IndentationError——缩进即语法不是美观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34255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  <a:latin typeface="微软雅黑"/>
              </a:rPr>
              <a:t>一招破解（记住这句）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34255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程序岔路口：if问一句'满不满足'，满足走这条路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10143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  <a:latin typeface="微软雅黑"/>
              </a:rPr>
              <a:t>动手验证（照做一遍）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0143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温度超限告警/振动分级——车间判断全走岔路口 if temp&gt;=80: print('报警') else: print('正常')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3832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33832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" y="3429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  <a:latin typeface="微软雅黑"/>
              </a:rPr>
              <a:t>难点2：B02 比较与赋值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  <a:latin typeface="微软雅黑"/>
              </a:rPr>
              <a:t>为什么容易栽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误区：=写进if→SyntaxError；比较浮点用差值&lt;1e-6不用==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34255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  <a:latin typeface="微软雅黑"/>
              </a:rPr>
              <a:t>一招破解（记住这句）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34255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=是'装进去'，==是'比一比'——一横之差意思全变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10143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  <a:latin typeface="微软雅黑"/>
              </a:rPr>
              <a:t>动手验证（照做一遍）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10143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告警判断写错=误操作——if temp=80直接语法错误 if temp == 80: print('到限')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49834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" y="49834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" y="5029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  <a:latin typeface="微软雅黑"/>
              </a:rPr>
              <a:t>难点3：B03 逻辑运算and/or/not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  <a:latin typeface="微软雅黑"/>
              </a:rPr>
              <a:t>为什么容易栽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误区：优先级记不清就全加括号——and比or优先，加括号最稳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34255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  <a:latin typeface="微软雅黑"/>
              </a:rPr>
              <a:t>一招破解（记住这句）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34255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and同真才真/or一真即真/not翻面——复杂条件加括号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10143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  <a:latin typeface="微软雅黑"/>
              </a:rPr>
              <a:t>动手验证（照做一遍）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10143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温度高且振动大才停机——多条件联锁判断 if (temp&gt;=80) and (vib&gt;4.5): 停机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