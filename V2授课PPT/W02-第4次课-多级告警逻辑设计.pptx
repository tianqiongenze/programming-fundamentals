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7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367" r:id="rId14"/>
    <p:sldId id="280" r:id="rId32"/>
    <p:sldId id="311" r:id="rId63"/>
    <p:sldId id="370" r:id="rId17"/>
    <p:sldId id="371" r:id="rId18"/>
    <p:sldId id="372" r:id="rId19"/>
    <p:sldId id="338" r:id="rId90"/>
    <p:sldId id="365" r:id="rId117"/>
    <p:sldId id="366" r:id="rId118"/>
    <p:sldId id="368" r:id="rId15"/>
    <p:sldId id="369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14" Type="http://schemas.openxmlformats.org/officeDocument/2006/relationships/slide" Target="slides/slide2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32" Type="http://schemas.openxmlformats.org/officeDocument/2006/relationships/slide" Target="slides/slide3.xml"/><Relationship Id="rId63" Type="http://schemas.openxmlformats.org/officeDocument/2006/relationships/slide" Target="slides/slide4.xml"/><Relationship Id="rId90" Type="http://schemas.openxmlformats.org/officeDocument/2006/relationships/slide" Target="slides/slide5.xml"/><Relationship Id="rId117" Type="http://schemas.openxmlformats.org/officeDocument/2006/relationships/slide" Target="slides/slide6.xml"/><Relationship Id="rId118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10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10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开场30秒：本次课《多级告警逻辑设计》，80分钟＝2课时×40分钟。课前已发工单+starter+微课知识卡，资讯·计划线上完成。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境说书（30秒，口头讲，不必逐字念）：夜班险情：2号注塑机温度悄悄爬过95℃没人察觉，幸亏李姐巡逻撞见。王主任后怕：'机器得自己会喊疼。'——工单0.2a：写多级温度/压力告警判断，先让程序学会'什么时候该喊'。</a:t>
            </a:r>
          </a:p>
          <a:p>
            <a:r>
              <a:t>讲完抛出问题：'如果是你，第一步先干什么？'——自然过渡到决策环节。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实施内容清单：本页条目与工单步骤一一对应，逐项过一遍即可，细节留到代码演示。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教材衔接：教材：Python程序设计项目化教程（活页式）（任越美 李垒 李江岱 主编，978-7-313-30507-7）— 项目1 初来乍到，请多关照 | 预习知识点：字符串格式化(f-string/format)；运算符与表达式 | 课中检查知识点：能写出f'{dev}温度{temp:.1f}℃'；能区分==与is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下课提醒：关机→椅归位→带走工单；教师课后24h内完成反馈。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下次课预告：布置课前微课知识卡与导学单，形成学习闭环。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8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/>
              </a:rPr>
              <a:t>Python编程基础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/>
              </a:rPr>
              <a:t>◆ 重庆两江智造集团 · 精密制造事业部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5992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/>
              </a:rPr>
              <a:t>多级告警逻辑设计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59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/>
              </a:rPr>
              <a:t>第二周 · 第4次课（2课时 · 80分钟）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双创中心302实训室  ·  理实一体  ·  配套：分层工单+starter  ·  本课主用：PyCharm CE（全程主编辑器）+ Jupyter（每周notebook）+ Git/GitHub（每周提交）</a:t>
            </a:r>
          </a:p>
        </p:txBody>
      </p:sp>
      <p:pic>
        <p:nvPicPr>
          <p:cNvPr id="7" name="Picture 6" descr="W2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300000"/>
            <a:ext cx="4100000" cy="3075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重庆现代制造职业学院  智能控制学院 · 工业互联网应用专业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安全与合规警示（操作前必读）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1. 上机前确认本工位电源开关与急停位置，确认设备处于安全状态。</a:t>
            </a:r>
          </a:p>
          <a:p>
            <a:pPr>
              <a:spcAft>
                <a:spcPts val="1000"/>
              </a:spcAft>
            </a:pPr>
            <a:r>
              <a:rPr sz="1800"/>
              <a:t>2. 涉及接线的操作一律先断电、后验电、再作业，禁止带电插拔。</a:t>
            </a:r>
          </a:p>
          <a:p>
            <a:pPr>
              <a:spcAft>
                <a:spcPts val="1000"/>
              </a:spcAft>
            </a:pPr>
            <a:r>
              <a:rPr sz="1800"/>
              <a:t>3. 身体任何部位不进入设备运动/散热区域，长发束起，不佩戴悬垂饰物。</a:t>
            </a:r>
          </a:p>
          <a:p>
            <a:pPr>
              <a:spcAft>
                <a:spcPts val="1000"/>
              </a:spcAft>
            </a:pPr>
            <a:r>
              <a:rPr sz="1800"/>
              <a:t>4. 调试程序前先静态检查、再低速小样本试运行，确认无异常后放大规模。</a:t>
            </a:r>
          </a:p>
          <a:p>
            <a:pPr>
              <a:spcAft>
                <a:spcPts val="1000"/>
              </a:spcAft>
            </a:pPr>
            <a:r>
              <a:rPr sz="1800"/>
              <a:t>5. 任何不确定或异常情况，立即停止操作并报告指导教师，不擅自处置。</a:t>
            </a:r>
          </a:p>
          <a:p>
            <a:r>
              <a:rPr sz="1400" b="1"/>
              <a:t>以上任一条违反，本次任务按课程标准「安全规范一票否决」条款记 0 分并中止实训。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任务情境（集团项目案例）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780000"/>
            <a:ext cx="106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80000"/>
            <a:ext cx="102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◆ 重庆两江智造集团 · 精密制造事业部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000" y="2580000"/>
            <a:ext cx="6300000" cy="3600000"/>
          </a:xfrm>
          <a:prstGeom prst="rect">
            <a:avLst/>
          </a:prstGeom>
          <a:solidFill>
            <a:srgbClr val="F7F9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2740000"/>
            <a:ext cx="5900000" cy="3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010328"/>
                </a:solidFill>
                <a:latin typeface="微软雅黑"/>
              </a:rPr>
              <a:t>夜班险情：2号注塑机温度悄悄爬过95℃没人察觉，幸亏李姐巡逻撞见。王主任后怕：'机器得自己会喊疼。'——工单0.2a：写多级温度/压力告警判断，先让程序学会'什么时候该喊'。</a:t>
            </a:r>
          </a:p>
        </p:txBody>
      </p:sp>
      <p:pic>
        <p:nvPicPr>
          <p:cNvPr id="9" name="Picture 8" descr="W2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000" y="2580000"/>
            <a:ext cx="4150000" cy="360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多级告警逻辑设计（1）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工业实时告警场景分析：阈值设定、告警分级、响应措施；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工单项目0.2（上）实操：实现≥2个if条件判断的设备监测程序；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常见错误预防：缩进错误、条件覆盖遗漏、“=”与“==”混淆。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总结评价与课后任务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10600000" cy="15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050000"/>
            <a:ext cx="103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评价（10分钟）：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按D/C/B/A量表当堂评分；工单24小时内反馈评语与改进建议。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000" y="370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1. 完成工单项目0.2（上）：实现≥2个if条件判断、设计≥1个告警函数；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000" y="442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2. 手绘多级告警流程图一张并标注边界条件；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000" y="514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3. 预习for/while循环结构。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000" y="5960000"/>
            <a:ext cx="10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下次课预告：</a:t>
            </a:r>
            <a:r>
              <a:rPr sz="1300" b="0">
                <a:solidFill>
                  <a:srgbClr val="44546A"/>
                </a:solidFill>
                <a:latin typeface="微软雅黑"/>
              </a:rPr>
              <a:t>见下次课工单任务书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/>
              </a:rPr>
              <a:t>感谢聆听 · 动手实践出真知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/>
              </a:rPr>
              <a:t>以生为本   |   做中学 · 学中做</a:t>
            </a:r>
          </a:p>
        </p:txBody>
      </p:sp>
      <p:sp>
        <p:nvSpPr>
          <p:cNvPr id="7" name="Rectangle 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下次课预告（第3周）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50000" cy="1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000" y="2050000"/>
            <a:ext cx="105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主题: 双层循环模拟多设备多周期——应用：见工单star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预习快问: range(1,10,2)生成哪些数？死循环怎么避免？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39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课前完成：导学单 + 预习自测 + starter环境自检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带着问题来上课——Predict先于Run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本任务六步法导航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六步法：资讯 → 计划 → 决策 → 实施 → 检查 → 评估</a:t>
            </a:r>
          </a:p>
          <a:p>
            <a:pPr>
              <a:spcAft>
                <a:spcPts val="1000"/>
              </a:spcAft>
            </a:pPr>
            <a:r>
              <a:rPr sz="1800"/>
              <a:t>本讲对应工单：《程序设计基础》分层任务工单</a:t>
            </a:r>
          </a:p>
          <a:p>
            <a:pPr>
              <a:spcAft>
                <a:spcPts val="1000"/>
              </a:spcAft>
            </a:pPr>
            <a:r>
              <a:rPr sz="1800"/>
              <a:t>课堂产出：工单第六节实施记录须当堂填写，含操作前安全打勾与学生本人签字。</a:t>
            </a:r>
          </a:p>
          <a:p>
            <a:pPr>
              <a:spcAft>
                <a:spcPts val="1000"/>
              </a:spcAft>
            </a:pPr>
            <a:r>
              <a:rPr sz="1800"/>
              <a:t>课后交付：班组长／操作员／教师三方联签后交回，缺签视为未交付。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本讲与岗位任务单的衔接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本讲在工作过程系统化课程中承担的任务环节：任务实施</a:t>
            </a:r>
          </a:p>
          <a:p>
            <a:pPr>
              <a:spcAft>
                <a:spcPts val="1000"/>
              </a:spcAft>
            </a:pPr>
            <a:r>
              <a:rPr sz="1800"/>
              <a:t>考核对齐：过程性成绩取自本讲工单第六节各模块得分合计（满分 100）。</a:t>
            </a:r>
          </a:p>
          <a:p>
            <a:pPr>
              <a:spcAft>
                <a:spcPts val="1000"/>
              </a:spcAft>
            </a:pPr>
            <a:r>
              <a:rPr sz="1800"/>
              <a:t>达标线：综合成绩≥60 分，且无安全红线一票否决记录</a:t>
            </a:r>
          </a:p>
          <a:p>
            <a:pPr>
              <a:spcAft>
                <a:spcPts val="1000"/>
              </a:spcAft>
            </a:pPr>
            <a:r>
              <a:rPr sz="1800"/>
              <a:t>无效工单判定：未打安全勾、无本人签字、无三方联签。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本课重难点地图 · 老师划重点（动手前必看）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 / 12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1389888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6B7280"/>
                </a:solidFill>
                <a:latin typeface="微软雅黑"/>
              </a:rPr>
              <a:t>动手前先看这页：重点要会什么、难点会卡在哪、哪里最容易错、学没学会怎么自测。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1783080"/>
            <a:ext cx="5532120" cy="3127248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1783080"/>
            <a:ext cx="5532120" cy="365760"/>
          </a:xfrm>
          <a:prstGeom prst="rect">
            <a:avLst/>
          </a:prstGeom>
          <a:solidFill>
            <a:srgbClr val="2F5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1819656"/>
            <a:ext cx="53126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微软雅黑"/>
              </a:rPr>
              <a:t>重点 · 必会必考（本课知识点全景）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2267712"/>
            <a:ext cx="5257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2B2F36"/>
                </a:solidFill>
                <a:latin typeface="微软雅黑"/>
              </a:rPr>
              <a:t>◆ B01 if/elif/else分支｜程序岔路口：if问一句'满不满足'，满足走这条路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◆ B02 比较与赋值｜=是'装进去'，==是'比一比'——一横之差意思全变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◆ B03 逻辑运算and/or/not｜and同真才真/or一真即真/not翻面——复杂条件加括号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◆ B04 嵌套判断｜if里套if=先粗筛再细筛——像分拣机先挑大类再细分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◆ B05 边界值三测法｜边界三测：限值前/限值上/限值后各测一遍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◆ B06 告警三级分级｜提示=记本子/警告=喊人/停机=自动断——轻重分级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44768" y="1783080"/>
            <a:ext cx="5586984" cy="1481328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44768" y="1783080"/>
            <a:ext cx="5586984" cy="365760"/>
          </a:xfrm>
          <a:prstGeom prst="rect">
            <a:avLst/>
          </a:prstGeom>
          <a:solidFill>
            <a:srgbClr val="8A4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54496" y="1819656"/>
            <a:ext cx="53675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微软雅黑"/>
              </a:rPr>
              <a:t>难点 · 易卡壳（下一页逐个击破）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2231136"/>
            <a:ext cx="53035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▲ 误区：缩进漏4空格→IndentationError——缩进即语法不是美观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▲ 误区：=写进if→SyntaxError；比较浮点用差值&lt;1e-6不用==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▲ 误区：优先级记不清就全加括号——and比or优先，加括号最稳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44768" y="3401568"/>
            <a:ext cx="5586984" cy="1508760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4768" y="3401568"/>
            <a:ext cx="5586984" cy="365760"/>
          </a:xfrm>
          <a:prstGeom prst="rect">
            <a:avLst/>
          </a:prstGeom>
          <a:solidFill>
            <a:srgbClr val="9A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54496" y="3438144"/>
            <a:ext cx="53675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微软雅黑"/>
              </a:rPr>
              <a:t>高频易错 · 动手前先记住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3849624"/>
            <a:ext cx="53035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✗ 95分支永不执行 → 先判危险再预警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✗ =用在条件里 → 改==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✗ 边界80落错分支 → 按需求选&gt;=/&gt;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5047488"/>
            <a:ext cx="11274552" cy="1207008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" y="5047488"/>
            <a:ext cx="11274552" cy="365760"/>
          </a:xfrm>
          <a:prstGeom prst="rect">
            <a:avLst/>
          </a:prstGeom>
          <a:solidFill>
            <a:srgbClr val="2E7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66928" y="5084064"/>
            <a:ext cx="110550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微软雅黑"/>
              </a:rPr>
              <a:t>达标自问 · 学没学会，问自己这四句（当堂评分同口径）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" y="5458968"/>
            <a:ext cx="1097280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① 及格线我能过吗——≥2个if判断+1个告警函数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② 优秀线我够吗——三级告警+边界全对+规范率≥85%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③ 技能点我能独立做出来吗——编写多级阈值判断逻辑；设计alarm告警函数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④ 报错了先查「常见错误速查」页再举手——错误信息逐字读一遍，八成自己能修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281928"/>
            <a:ext cx="9601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6B7280"/>
                </a:solidFill>
                <a:latin typeface="微软雅黑"/>
              </a:rPr>
              <a:t>素材来源：同周《第3次课-设备什么时候该报警》知识卡与避坑清单（逐字摘录）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难点逐个击破 · 零基础照做就能会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 / 12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1389888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6B7280"/>
                </a:solidFill>
                <a:latin typeface="微软雅黑"/>
              </a:rPr>
              <a:t>每个难点四步走：先看「为什么容易栽」对号入座 → 记住「一招破解」→ 照「动手验证」做一遍 → 做不出回知识详解页。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1783080"/>
            <a:ext cx="11274552" cy="1481328"/>
          </a:xfrm>
          <a:prstGeom prst="rect">
            <a:avLst/>
          </a:prstGeom>
          <a:solidFill>
            <a:srgbClr val="F7F9FC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1783080"/>
            <a:ext cx="82296" cy="1481328"/>
          </a:xfrm>
          <a:prstGeom prst="rect">
            <a:avLst/>
          </a:prstGeom>
          <a:solidFill>
            <a:srgbClr val="8A4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1828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8A4B2D"/>
                </a:solidFill>
                <a:latin typeface="微软雅黑"/>
              </a:rPr>
              <a:t>难点1：B01 if/elif/else分支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21488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B5533A"/>
                </a:solidFill>
                <a:latin typeface="微软雅黑"/>
              </a:rPr>
              <a:t>为什么容易栽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23865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误区：缩进漏4空格→IndentationError——缩进即语法不是美观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34255" y="21488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2E7D46"/>
                </a:solidFill>
                <a:latin typeface="微软雅黑"/>
              </a:rPr>
              <a:t>一招破解（记住这句）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34255" y="23865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程序岔路口：if问一句'满不满足'，满足走这条路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10143" y="21488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35506E"/>
                </a:solidFill>
                <a:latin typeface="微软雅黑"/>
              </a:rPr>
              <a:t>动手验证（照做一遍）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10143" y="23865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温度超限告警/振动分级——车间判断全走岔路口 if temp&gt;=80: print('报警') else: print('正常')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383280"/>
            <a:ext cx="11274552" cy="1481328"/>
          </a:xfrm>
          <a:prstGeom prst="rect">
            <a:avLst/>
          </a:prstGeom>
          <a:solidFill>
            <a:srgbClr val="F7F9FC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3383280"/>
            <a:ext cx="82296" cy="1481328"/>
          </a:xfrm>
          <a:prstGeom prst="rect">
            <a:avLst/>
          </a:prstGeom>
          <a:solidFill>
            <a:srgbClr val="8A4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" y="34290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8A4B2D"/>
                </a:solidFill>
                <a:latin typeface="微软雅黑"/>
              </a:rPr>
              <a:t>难点2：B02 比较与赋值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37490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B5533A"/>
                </a:solidFill>
                <a:latin typeface="微软雅黑"/>
              </a:rPr>
              <a:t>为什么容易栽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39867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误区：=写进if→SyntaxError；比较浮点用差值&lt;1e-6不用==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34255" y="37490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2E7D46"/>
                </a:solidFill>
                <a:latin typeface="微软雅黑"/>
              </a:rPr>
              <a:t>一招破解（记住这句）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34255" y="39867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=是'装进去'，==是'比一比'——一横之差意思全变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10143" y="37490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35506E"/>
                </a:solidFill>
                <a:latin typeface="微软雅黑"/>
              </a:rPr>
              <a:t>动手验证（照做一遍）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10143" y="39867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告警判断写错=误操作——if temp=80直接语法错误 if temp == 80: print('到限')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4983480"/>
            <a:ext cx="11274552" cy="1481328"/>
          </a:xfrm>
          <a:prstGeom prst="rect">
            <a:avLst/>
          </a:prstGeom>
          <a:solidFill>
            <a:srgbClr val="F7F9FC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57200" y="4983480"/>
            <a:ext cx="82296" cy="1481328"/>
          </a:xfrm>
          <a:prstGeom prst="rect">
            <a:avLst/>
          </a:prstGeom>
          <a:solidFill>
            <a:srgbClr val="8A4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8368" y="50292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8A4B2D"/>
                </a:solidFill>
                <a:latin typeface="微软雅黑"/>
              </a:rPr>
              <a:t>难点3：B03 逻辑运算and/or/not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53492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B5533A"/>
                </a:solidFill>
                <a:latin typeface="微软雅黑"/>
              </a:rPr>
              <a:t>为什么容易栽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55869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误区：优先级记不清就全加括号——and比or优先，加括号最稳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34255" y="53492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2E7D46"/>
                </a:solidFill>
                <a:latin typeface="微软雅黑"/>
              </a:rPr>
              <a:t>一招破解（记住这句）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34255" y="55869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and同真才真/or一真即真/not翻面——复杂条件加括号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10143" y="53492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35506E"/>
                </a:solidFill>
                <a:latin typeface="微软雅黑"/>
              </a:rPr>
              <a:t>动手验证（照做一遍）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10143" y="55869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温度高且振动大才停机——多条件联锁判断 if (temp&gt;=80) and (vib&gt;4.5): 停机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承上启下 · 动手前避坑清单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 / 12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1389888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6B7280"/>
                </a:solidFill>
                <a:latin typeface="微软雅黑"/>
              </a:rPr>
              <a:t>本讲是动手冲刺课：先把上周完整讲解里的高频翻车点过一遍，再开工——每条都是历届学生真实踩过的坑。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1783080"/>
            <a:ext cx="5532120" cy="2061972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1783080"/>
            <a:ext cx="82296" cy="2061972"/>
          </a:xfrm>
          <a:prstGeom prst="rect">
            <a:avLst/>
          </a:prstGeom>
          <a:solidFill>
            <a:srgbClr val="9A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1847088"/>
            <a:ext cx="51663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B5533A"/>
                </a:solidFill>
                <a:latin typeface="微软雅黑"/>
              </a:rPr>
              <a:t>✗ 95分支永不执行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2167128"/>
            <a:ext cx="516635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原因：elif顺序反了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✔ 解决：先判危险再预警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99632" y="1783080"/>
            <a:ext cx="5532120" cy="2061972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99632" y="1783080"/>
            <a:ext cx="82296" cy="2061972"/>
          </a:xfrm>
          <a:prstGeom prst="rect">
            <a:avLst/>
          </a:prstGeom>
          <a:solidFill>
            <a:srgbClr val="9A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1847088"/>
            <a:ext cx="51663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B5533A"/>
                </a:solidFill>
                <a:latin typeface="微软雅黑"/>
              </a:rPr>
              <a:t>✗ =用在条件里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167128"/>
            <a:ext cx="516635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原因：语法错误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✔ 解决：改==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973068"/>
            <a:ext cx="5532120" cy="2061972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3973068"/>
            <a:ext cx="82296" cy="2061972"/>
          </a:xfrm>
          <a:prstGeom prst="rect">
            <a:avLst/>
          </a:prstGeom>
          <a:solidFill>
            <a:srgbClr val="9A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" y="4037076"/>
            <a:ext cx="51663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B5533A"/>
                </a:solidFill>
                <a:latin typeface="微软雅黑"/>
              </a:rPr>
              <a:t>✗ 边界80落错分支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4357116"/>
            <a:ext cx="516635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原因：用了&gt;而非&gt;=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✔ 解决：按需求选&gt;=/&gt;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281928"/>
            <a:ext cx="9601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6B7280"/>
                </a:solidFill>
                <a:latin typeface="微软雅黑"/>
              </a:rPr>
              <a:t>素材来源：同周《第3次课-设备什么时候该报警》知识卡与避坑清单（逐字摘录）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