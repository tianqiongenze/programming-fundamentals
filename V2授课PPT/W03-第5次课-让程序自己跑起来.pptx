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368" r:id="rId66"/>
    <p:sldId id="257" r:id="rId9"/>
    <p:sldId id="259" r:id="rId11"/>
    <p:sldId id="260" r:id="rId12"/>
    <p:sldId id="261" r:id="rId13"/>
    <p:sldId id="263" r:id="rId15"/>
    <p:sldId id="264" r:id="rId16"/>
    <p:sldId id="266" r:id="rId18"/>
    <p:sldId id="267" r:id="rId19"/>
    <p:sldId id="271" r:id="rId23"/>
    <p:sldId id="273" r:id="rId25"/>
    <p:sldId id="274" r:id="rId26"/>
    <p:sldId id="275" r:id="rId27"/>
    <p:sldId id="276" r:id="rId28"/>
    <p:sldId id="277" r:id="rId29"/>
    <p:sldId id="278" r:id="rId30"/>
    <p:sldId id="280" r:id="rId32"/>
    <p:sldId id="281" r:id="rId33"/>
    <p:sldId id="282" r:id="rId34"/>
    <p:sldId id="287" r:id="rId39"/>
    <p:sldId id="289" r:id="rId41"/>
    <p:sldId id="290" r:id="rId42"/>
    <p:sldId id="292" r:id="rId44"/>
    <p:sldId id="295" r:id="rId47"/>
    <p:sldId id="296" r:id="rId48"/>
    <p:sldId id="298" r:id="rId50"/>
    <p:sldId id="300" r:id="rId52"/>
    <p:sldId id="303" r:id="rId55"/>
    <p:sldId id="304" r:id="rId56"/>
    <p:sldId id="308" r:id="rId60"/>
    <p:sldId id="310" r:id="rId62"/>
    <p:sldId id="311" r:id="rId63"/>
    <p:sldId id="313" r:id="rId65"/>
    <p:sldId id="315" r:id="rId67"/>
    <p:sldId id="317" r:id="rId69"/>
    <p:sldId id="371" r:id="rId76"/>
    <p:sldId id="372" r:id="rId61"/>
    <p:sldId id="318" r:id="rId70"/>
    <p:sldId id="366" r:id="rId68"/>
    <p:sldId id="367" r:id="rId72"/>
    <p:sldId id="319" r:id="rId71"/>
    <p:sldId id="321" r:id="rId73"/>
    <p:sldId id="323" r:id="rId75"/>
    <p:sldId id="325" r:id="rId77"/>
    <p:sldId id="327" r:id="rId79"/>
    <p:sldId id="328" r:id="rId80"/>
    <p:sldId id="330" r:id="rId82"/>
    <p:sldId id="331" r:id="rId83"/>
    <p:sldId id="332" r:id="rId84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4" r:id="rId96"/>
    <p:sldId id="345" r:id="rId97"/>
    <p:sldId id="346" r:id="rId98"/>
    <p:sldId id="353" r:id="rId105"/>
    <p:sldId id="358" r:id="rId110"/>
    <p:sldId id="359" r:id="rId111"/>
    <p:sldId id="360" r:id="rId112"/>
    <p:sldId id="364" r:id="rId116"/>
    <p:sldId id="365" r:id="rId117"/>
    <p:sldId id="369" r:id="rId74"/>
    <p:sldId id="370" r:id="rId6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3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9" Type="http://schemas.openxmlformats.org/officeDocument/2006/relationships/slide" Target="slides/slide21.xml"/><Relationship Id="rId41" Type="http://schemas.openxmlformats.org/officeDocument/2006/relationships/slide" Target="slides/slide22.xml"/><Relationship Id="rId42" Type="http://schemas.openxmlformats.org/officeDocument/2006/relationships/slide" Target="slides/slide23.xml"/><Relationship Id="rId44" Type="http://schemas.openxmlformats.org/officeDocument/2006/relationships/slide" Target="slides/slide24.xml"/><Relationship Id="rId47" Type="http://schemas.openxmlformats.org/officeDocument/2006/relationships/slide" Target="slides/slide25.xml"/><Relationship Id="rId48" Type="http://schemas.openxmlformats.org/officeDocument/2006/relationships/slide" Target="slides/slide26.xml"/><Relationship Id="rId50" Type="http://schemas.openxmlformats.org/officeDocument/2006/relationships/slide" Target="slides/slide27.xml"/><Relationship Id="rId52" Type="http://schemas.openxmlformats.org/officeDocument/2006/relationships/slide" Target="slides/slide28.xml"/><Relationship Id="rId55" Type="http://schemas.openxmlformats.org/officeDocument/2006/relationships/slide" Target="slides/slide29.xml"/><Relationship Id="rId56" Type="http://schemas.openxmlformats.org/officeDocument/2006/relationships/slide" Target="slides/slide30.xml"/><Relationship Id="rId60" Type="http://schemas.openxmlformats.org/officeDocument/2006/relationships/slide" Target="slides/slide31.xml"/><Relationship Id="rId61" Type="http://schemas.openxmlformats.org/officeDocument/2006/relationships/slide" Target="slides/slide70.xml"/><Relationship Id="rId62" Type="http://schemas.openxmlformats.org/officeDocument/2006/relationships/slide" Target="slides/slide32.xml"/><Relationship Id="rId63" Type="http://schemas.openxmlformats.org/officeDocument/2006/relationships/slide" Target="slides/slide33.xml"/><Relationship Id="rId64" Type="http://schemas.openxmlformats.org/officeDocument/2006/relationships/slide" Target="slides/slide68.xml"/><Relationship Id="rId65" Type="http://schemas.openxmlformats.org/officeDocument/2006/relationships/slide" Target="slides/slide34.xml"/><Relationship Id="rId66" Type="http://schemas.openxmlformats.org/officeDocument/2006/relationships/slide" Target="slides/slide2.xml"/><Relationship Id="rId67" Type="http://schemas.openxmlformats.org/officeDocument/2006/relationships/slide" Target="slides/slide35.xml"/><Relationship Id="rId68" Type="http://schemas.openxmlformats.org/officeDocument/2006/relationships/slide" Target="slides/slide38.xml"/><Relationship Id="rId69" Type="http://schemas.openxmlformats.org/officeDocument/2006/relationships/slide" Target="slides/slide36.xml"/><Relationship Id="rId70" Type="http://schemas.openxmlformats.org/officeDocument/2006/relationships/slide" Target="slides/slide37.xml"/><Relationship Id="rId71" Type="http://schemas.openxmlformats.org/officeDocument/2006/relationships/slide" Target="slides/slide40.xml"/><Relationship Id="rId72" Type="http://schemas.openxmlformats.org/officeDocument/2006/relationships/slide" Target="slides/slide39.xml"/><Relationship Id="rId73" Type="http://schemas.openxmlformats.org/officeDocument/2006/relationships/slide" Target="slides/slide41.xml"/><Relationship Id="rId74" Type="http://schemas.openxmlformats.org/officeDocument/2006/relationships/slide" Target="slides/slide67.xml"/><Relationship Id="rId75" Type="http://schemas.openxmlformats.org/officeDocument/2006/relationships/slide" Target="slides/slide42.xml"/><Relationship Id="rId76" Type="http://schemas.openxmlformats.org/officeDocument/2006/relationships/slide" Target="slides/slide69.xml"/><Relationship Id="rId77" Type="http://schemas.openxmlformats.org/officeDocument/2006/relationships/slide" Target="slides/slide43.xml"/><Relationship Id="rId79" Type="http://schemas.openxmlformats.org/officeDocument/2006/relationships/slide" Target="slides/slide44.xml"/><Relationship Id="rId80" Type="http://schemas.openxmlformats.org/officeDocument/2006/relationships/slide" Target="slides/slide45.xml"/><Relationship Id="rId82" Type="http://schemas.openxmlformats.org/officeDocument/2006/relationships/slide" Target="slides/slide46.xml"/><Relationship Id="rId83" Type="http://schemas.openxmlformats.org/officeDocument/2006/relationships/slide" Target="slides/slide47.xml"/><Relationship Id="rId84" Type="http://schemas.openxmlformats.org/officeDocument/2006/relationships/slide" Target="slides/slide48.xml"/><Relationship Id="rId86" Type="http://schemas.openxmlformats.org/officeDocument/2006/relationships/slide" Target="slides/slide49.xml"/><Relationship Id="rId87" Type="http://schemas.openxmlformats.org/officeDocument/2006/relationships/slide" Target="slides/slide50.xml"/><Relationship Id="rId88" Type="http://schemas.openxmlformats.org/officeDocument/2006/relationships/slide" Target="slides/slide51.xml"/><Relationship Id="rId89" Type="http://schemas.openxmlformats.org/officeDocument/2006/relationships/slide" Target="slides/slide52.xml"/><Relationship Id="rId90" Type="http://schemas.openxmlformats.org/officeDocument/2006/relationships/slide" Target="slides/slide53.xml"/><Relationship Id="rId91" Type="http://schemas.openxmlformats.org/officeDocument/2006/relationships/slide" Target="slides/slide54.xml"/><Relationship Id="rId92" Type="http://schemas.openxmlformats.org/officeDocument/2006/relationships/slide" Target="slides/slide55.xml"/><Relationship Id="rId93" Type="http://schemas.openxmlformats.org/officeDocument/2006/relationships/slide" Target="slides/slide56.xml"/><Relationship Id="rId94" Type="http://schemas.openxmlformats.org/officeDocument/2006/relationships/slide" Target="slides/slide57.xml"/><Relationship Id="rId96" Type="http://schemas.openxmlformats.org/officeDocument/2006/relationships/slide" Target="slides/slide58.xml"/><Relationship Id="rId97" Type="http://schemas.openxmlformats.org/officeDocument/2006/relationships/slide" Target="slides/slide59.xml"/><Relationship Id="rId98" Type="http://schemas.openxmlformats.org/officeDocument/2006/relationships/slide" Target="slides/slide60.xml"/><Relationship Id="rId105" Type="http://schemas.openxmlformats.org/officeDocument/2006/relationships/slide" Target="slides/slide61.xml"/><Relationship Id="rId110" Type="http://schemas.openxmlformats.org/officeDocument/2006/relationships/slide" Target="slides/slide62.xml"/><Relationship Id="rId111" Type="http://schemas.openxmlformats.org/officeDocument/2006/relationships/slide" Target="slides/slide63.xml"/><Relationship Id="rId112" Type="http://schemas.openxmlformats.org/officeDocument/2006/relationships/slide" Target="slides/slide64.xml"/><Relationship Id="rId116" Type="http://schemas.openxmlformats.org/officeDocument/2006/relationships/slide" Target="slides/slide65.xml"/><Relationship Id="rId117" Type="http://schemas.openxmlformats.org/officeDocument/2006/relationships/slide" Target="slides/slide6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开场30秒：本次课《让程序自己跑起来》，80分钟＝2课时×40分钟。课前已发工单+starter+微课知识卡，资讯·计划线上完成。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讲10→演10→模仿10→练习10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预习检查页：左栏布置下次课教材预习（下次quiz从中出）；右栏抽查上次课检查知识点——随机2人白板/口述，答对记过程分。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情境说书（30秒，口头讲，不必逐字念）：告警逻辑单机版通过，但王主任要的是'一块屏看全部'。李姐提醒：十台设备×全天循环，靠复制粘贴要写到明年——工单0.2b：用循环和函数，让告警系统自动转起来。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详解B1·for与while：先读定义→场景为什么用它→看代码实例→扩展给A层。C/D层掌握前三格，A层加扩展格。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应用页1：把知识点放回产线场景——先看代码输出，再回看定义，强化'学以致用'。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详解B2·break与continue：先读定义→场景为什么用它→看代码实例→扩展给A层。C/D层掌握前三格，A层加扩展格。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详解B3·循环三要素：先读定义→场景为什么用它→看代码实例→扩展给A层。C/D层掌握前三格，A层加扩展格。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详解B4·random随机数：先读定义→场景为什么用它→看代码实例→扩展给A层。C/D层掌握前三格，A层加扩展格。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详解B5·函数封装：先读定义→场景为什么用它→看代码实例→扩展给A层。C/D层掌握前三格，A层加扩展格。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详解B6·列表与字典入门：先读定义→场景为什么用它→看代码实例→扩展给A层。C/D层掌握前三格，A层加扩展格。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现场演示《双层循环+统计》：三步走——先整段跑通看结果，再逐行讲关键语句，最后现场改一个参数看输出变化（演10分钟的核心素材）。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工单发布话术：'精密制造事业部发来工单0.2b《工业实时告警系统Ⅱ》，及格线是循，优秀线看A层标准'——念完发starter。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错误速查：现场演示第一条——制造「死循环」，带着学生按'现象→原因→解决'三步排查。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项目2 驰骋操场，挥写青春 | 预习知识点：if-elif-else条件结构；逻辑运算符and/or/not | 课中检查知识点：能写温度告警三级阈值判断；能画出条件分支流程图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Python编程基础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让程序自己跑起来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第三周 · 第5次课（2课时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CE（全程主编辑器）+ Jupyter（每周notebook）+ Git/GitHub（每周提交）</a:t>
            </a:r>
          </a:p>
        </p:txBody>
      </p:sp>
      <p:pic>
        <p:nvPicPr>
          <p:cNvPr id="7" name="Picture 6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四步法节奏：讲-演-模仿-练习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讲10′+演10′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基础知识大卡+现场演示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模仿与练习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10′+10′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跟做保底→独立完成（工单分层）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 / 70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 / 70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课程定位：Python编程基础（课程标准摘录）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专业核心基础课：面向零基础新生的编程第一课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工业数据采集技术员、边缘计算运维、平台运维员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Python开发（工信部）、AI应用实践、企业应用实施工程师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前：计算机文化基础 → 本课(第1-12周) → 后：AI应用基础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 / 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让程序自己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跑起来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 · break跳出一层/continue跳过本轮——应用：见工单starter与教师参考实现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循环三要素：初始化/条件/更新——应用：for i in range(10):读设备[i]——初始化i/条件i&lt;10/更新i+=1三件缺一不可 · random.uniform(a,b)随机浮点；seed固定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 · 封装check_device/alarm两函数——应用：见工单starter与教师参考实现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 / 70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技能线：双层循环模拟多设备多周期——应用：见工单starter与教师参考实现；封装check_device/alarm两函数——应用：见工单starter与教师参考实现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 / 70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精密制造事业部：工业数据采集技术员、边缘计算运维员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0.2b《工业实时告警系统Ⅱ》——本课工单即考核单元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Python开发职业技能等级证书（工信部）——本课对应初级操作题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 / 70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 / 70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复习检查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课前5分钟：代码听写/找错微练习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精讲原理与工业应用背景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18min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教师实时代码演示（关键步骤慢放）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模仿·练习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31min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跟做→独立完成小任务（人人有产出）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8min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当堂评分 + 避坑清单更新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共80分钟（四步法）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70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目标：掌握for/while循环的结构与适用场景；掌握函数定义、参数传递与返回值；理解变量作用域规则。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70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目标：能够编写150-300行的循环监测程序；能够设计多个告警函数并进行循环告警测试；代码规范率≥75%。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70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目标：体会“复用与抽象”的工程价值，培养用函数组织代码的模块化思维。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70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range(1,10,2)生成哪些数？死循环怎么避免？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预习微课已观看；跟打练习截图已交；PyCharm CE环境正常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70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课前预习与检查（教材衔接 · 上次课回顾）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4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53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1880000"/>
            <a:ext cx="48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📖 课前预习｜下次课教材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0000" y="2650000"/>
            <a:ext cx="4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《Python程序设计项目化教》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项目2 驰骋操场，挥写青春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0000" y="376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40000" y="370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if-elif-else条件结构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0000" y="438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40000" y="4320000"/>
            <a:ext cx="4500000" cy="4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逻辑运算符and/or/not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000" y="1800000"/>
            <a:ext cx="5360000" cy="44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000" y="1800000"/>
            <a:ext cx="536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000" y="1880000"/>
            <a:ext cx="49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✓ 课中检查｜上次课（W2）抽查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600000" y="280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00000" y="284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000" y="2760000"/>
            <a:ext cx="386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能写出f'{dev}温度{temp:.1f}℃'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3580000"/>
            <a:ext cx="900000" cy="4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00000" y="3620000"/>
            <a:ext cx="8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微软雅黑"/>
              </a:rPr>
              <a:t>抽查2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50000" y="3540000"/>
            <a:ext cx="3860000" cy="5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能区分==与is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0000" y="4380000"/>
            <a:ext cx="4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1">
                <a:solidFill>
                  <a:srgbClr val="44546A"/>
                </a:solidFill>
                <a:latin typeface="微软雅黑"/>
              </a:rPr>
              <a:t>抽查方式：随机2人白板演示/口述——答对记过程分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70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题目：range(1,10,2)生成哪些数？死循环怎么避免？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70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精密制造事业部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告警逻辑单机版通过，但王主任要的是'一块屏看全部'。李姐提醒：十台设备×全天循环，靠复制粘贴要写到明年——工单0.2b：用循环和函数，让告警系统自动转起来。</a:t>
            </a:r>
          </a:p>
        </p:txBody>
      </p:sp>
      <p:pic>
        <p:nvPicPr>
          <p:cNvPr id="9" name="Picture 8" descr="W3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70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任务背景：告警逻辑单机版通过，但王主任要的是'一块屏看全部'。李姐提醒：十台设备×全天循环，靠复制粘贴要写到明年—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70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掌握for/while循环的结构与适用场景；掌握函数定义、参数传递与返回值；理解变量作用域规则。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能够编写150-300行的循环监测程序；能够设计多个告警函数并进行循环告警测试；代码规范率≥75%。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体会“复用与抽象”的工程价值，培养用函数组织代码的模块化思维。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对应工单0.2b评分：功能40%+技术25%+规范20%+素养15%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70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70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知识详解：for与while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B01 · for与while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for=点名册逐个念；while=哨兵盯着条件转圈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10台设备逐台采集用for；持续监控用while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for i in range(10): 读第i台；while running: 采集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误区：range(1,10)不含10——左闭右开'含头不含尾'，数轴画一遍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70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知识应用（1）：for+range遍历；while满足条件循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for+range遍历；while满足条件循环。在两江智造产线上的用法：见工单starter与教师参考实现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70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知识详解：break与continue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B02 · break与continue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break=拉闸走人；continue=跳过这个下一个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坏数据跳过本轮继续采；用户按停跳出全部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if data is None: continue；if stop: break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误区：break只跳一层——双层循环里内层break管不住外层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70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知识详解：循环三要素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B03 · 循环三要素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初始值/继续条件/每轮更新——缺一个就转成死循环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while手写循环的自检口诀——写前先默念三件套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i=0 → while i&lt;10 → i+=1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误区：忘i+=1死循环——急救Ctrl+C；写while先想'怎么退出来'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70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知识应用（3）：循环三要素：初始化/条件/更新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循环三要素：初始化/条件/更新。在两江智造产线上的用法：for i in range(10):读设备[i]——初始化i/条件i&lt;10/更新i+=1三件缺一不可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i in range(10):读设备[i]——初始化i/条件i&lt;10/更新i+=1三件缺一不可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70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知识详解：random随机数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B04 · random随机数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random.uniform(a,b)=在[a,b]扔骰子；seed=固定骰子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模拟传感器读数——没有真设备时的替身演员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random.seed(42)后每次运行数据一样——可复现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误区：不设seed每次结果不同没法调试——仿真加seed是工程惯例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70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知识详解：函数封装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B05 · 函数封装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def=给一段逻辑起名装盒：投料(参数)出产品(返回值)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告警判断/换算抽成函数——写一次处处用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def c2f(c): return c*9/5+32 → c2f(78.5)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误区：忘return打印None——return是交货print是喊话，两码事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70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知识详解：列表与字典入门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30000"/>
            <a:ext cx="103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微软雅黑"/>
              </a:rPr>
              <a:t>B06 · 列表与字典入门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265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000" y="2650000"/>
            <a:ext cx="12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0000" y="275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0000" y="317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列表=排队货架(有序可重复)；字典=储物柜(编号取物)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300000"/>
            <a:ext cx="5300000" cy="1500000"/>
          </a:xfrm>
          <a:prstGeom prst="rect">
            <a:avLst/>
          </a:prstGeom>
          <a:solidFill>
            <a:srgbClr val="F3F6FD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300000"/>
            <a:ext cx="12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400000"/>
            <a:ext cx="16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使用场景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设备清单用列表；'编号→温度'台账用字典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000" y="2650000"/>
            <a:ext cx="5360000" cy="15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0000" y="2650000"/>
            <a:ext cx="536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0000" y="2930000"/>
            <a:ext cx="480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50" b="0">
                <a:solidFill>
                  <a:srgbClr val="D6DEF6"/>
                </a:solidFill>
                <a:latin typeface="微软雅黑"/>
              </a:rPr>
              <a:t>devs.append('MOTOR-01')；t={'PUMP-03':78.5}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0000" y="4300000"/>
            <a:ext cx="5360000" cy="15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000" y="4400000"/>
            <a:ext cx="2000000" cy="36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扩展与优化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000" y="4820000"/>
            <a:ext cx="4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误区：t['PUMP4']查无此键KeyError——先用 in 判断再取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70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知识应用（6）：列表存设备序列、字典存键值属性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列表存设备序列、字典存键值属性。在两江智造产线上的用法：devs=['PUMP-03','FAN-02']; devs.append('MOTOR-01')——动态扩容无需预声明大小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devs=['PUMP-03','FAN-02']; devs.append('MOTOR-01')——动态扩容无需预声明大小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70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封装check_device/alarm两函数——应用：见工单starter与教师参考实现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统计各设备各级告警次数——应用：见工单starter与教师参考实现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固定seed保证结果可复现——应用：见工单starter与教师参考实现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70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让程序自己跑起来（1）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for循环与range()：遍历设备参数列表；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while循环与退出条件：持续监测的模拟；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break/continue的使用场景与误用警示；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循环优化：减少重复计算、避免死循环。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70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关键代码：双层循环+统计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stats = {d["id"]: {2:0, 3:0} for d in devices}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d in devices: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for _ in range(10):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t = d["base"] + random.uniform(-8, 15)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lv = check_device(d, t)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if lv: stats[d["id"]][lv] += 1; alarm(d, lv, 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70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课堂教法四步法（每课时40分钟）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25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讲10min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6000" y="2600000"/>
            <a:ext cx="25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演10min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96000" y="2600000"/>
            <a:ext cx="25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模仿10min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96000" y="2600000"/>
            <a:ext cx="25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56000" y="2720000"/>
            <a:ext cx="23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练习10min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PRIMM融合：预测→运行→研究→修改→创造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70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70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本课决策题：课堂教法：四步法（第1-6周）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70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实施任务：工单0.2b《工业实时告警系统Ⅱ》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列表+字典组织3台设备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双层循环: 设备×10周期(random模拟)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check_device/alarm两函数封装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循环跑通+2函数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统计报告正确；函数≤15行/个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70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先看终点（本课目标预览）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[DEV-03]注塑机 温度80.5℃ → 警告  ×3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 告警统计 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DEV-01 警告 0 停机 0  ×3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70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本工单的工程化项目 · 第三种代码形态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项目位置与一键运行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工程化项目/w03_patrol_loop/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run.py          # 输出 output/report.txt + result.json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python -m pytest -q    # 全量测试应全绿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国标与 TOGAF 落地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GB/T 9385 需求规格 / 15532 测试 / 8567 文档 / 8566 过程组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TOGAF 四域：业务 · 数据 · 应用 · 技术架构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docs/07 ADR-001 架构决策记录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目录结构（23 个文件）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config/rules.yaml      规则外置：改配置不改代码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src/patrol_loop/  config · core · io_utils · report ·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tests/      正常 / 边界 / 异常三档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验收口径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pytest 全绿；run.py 产出报告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改配置不改代码；二次运行结果一致（种子固定）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8 份过程文档齐全 → 可直接构成答辩材料链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70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跟做循环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运行示例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range(10)改5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看输出减半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能改周期数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70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单循环跑通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一设备10周期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调用check函数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打印每轮状态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能出10轮结果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70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循环+统计完整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3设备×10周期循环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两函数封装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告警统计报告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报告正确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70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防抖动+while版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连续3次≥95才停机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while版持续监测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重构对比说明收益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统计准确+无死循环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while版持续监测：温度连续3次≥95才停机（防抖动设计）)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70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列表+字典组织3台设备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双层循环: 设备×10周期(random模拟)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check_device/alarm两函数封装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random.seed(42)固定，否则每次结果不同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random.uniform(-8,15)制造偶发超限，贴近真实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break只跳一层循环，嵌套时想清楚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70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死循环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while条件永真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补更新语句+Ctrl+C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KeyError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统计键未初始化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先建{2:0,3:0}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函数内改不了外面变量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作用域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用return传值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70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D·学徒（≥60）：跟做循环——跟做保底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C·操作员（≥70）：单循环跑通——基础完成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B·组长（≥80）：循环+统计完整——标准达成+帮带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A·师傅（≥90）：防抖动+while版——进阶拓展+费曼讲解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70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步骤1：列表+字典组织3台设备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步骤2：双层循环: 设备×10周期(random模拟)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步骤3：check_device/alarm两函数封装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70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conda环境正确（提示符显示(py02）再运行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70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70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70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提交物与评分（工单0.2b）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学号_姓名_0.2b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70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完成工单项目0.2（下）完整版《工业实时告警系统》：优秀标准实现多条件嵌套、≥2个告警函数、循环告警测试、规范率≥85%；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重构上周代码：将重复判断改写为函数；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预习类与对象的概念。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70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工匠精神：规范命名、及时保存、报错必究的编码习惯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工程伦理：数据安全与隐私保护, 不抄代码、引用注明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协作素养：ABCD角色轮换履职, 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70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工单完成效果图 · 完成后长这样（真实运行 · 参考实现） · 课末对照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1847088"/>
            <a:ext cx="10780776" cy="2395728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75104"/>
            <a:ext cx="1045159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① 参考实现真实运行输出（本课工单·完成态）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[DEV-03]注塑机 温度80.5℃ → 警告  ×3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== 告警统计 ==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44546A"/>
                </a:solidFill>
                <a:latin typeface="微软雅黑"/>
              </a:rPr>
              <a:t>DEV-01 警告 0 停机 0  ×3</a:t>
            </a:r>
          </a:p>
        </p:txBody>
      </p:sp>
      <p:sp>
        <p:nvSpPr>
          <p:cNvPr id="7" name="Rectangle 6"/>
          <p:cNvSpPr/>
          <p:nvPr/>
        </p:nvSpPr>
        <p:spPr>
          <a:xfrm>
            <a:off x="6885432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50024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③ 四级达标线（当堂评分）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D·学徒 ≥60 跟做完成核心步骤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C·操作员 ≥70 基础功能完成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B·组长 ≥80 全功能+规范+帮带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4315968"/>
            <a:ext cx="4599432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443984"/>
            <a:ext cx="4270248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② 关键自检点（对照工单逐项核对）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代码从头跑到尾不报错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输出格式符合工单样例（对齐/单位/小数位）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文件名 学号_姓名_工单号.py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" y="5413248"/>
            <a:ext cx="10780776" cy="100584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541264"/>
            <a:ext cx="1045159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④ 提交规范（过程性证据）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运行截图贴工单过程记录栏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Git 本次课≥1条 commit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4546A"/>
                </a:solidFill>
                <a:latin typeface="微软雅黑"/>
              </a:rPr>
              <a:t>□ 互查签字后提交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70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70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pip装包很慢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配清华镜像：pip config set global.index-url https://pypi.tuna.tsinghua.edu.cn/simple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Jupyter启动不了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先conda activate py02再jupyter notebook；看报错第一行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代码能跑但不规范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对照PEP 8卡：snake_case命名+4空格缩进+f-string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70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0.2b任务书——步骤/及格线/评分细则都在里面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70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70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车间设备台账还靠Excel手抄，格式天天错、查找靠肉眼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Python变量+f-string+文件读写，30行代码生成规范台账卡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0.2b的技能点即其最小实现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下一步：把台账接到数据库（03课P5）/自动采集（02课W11）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70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70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让程序自己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跑起来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for+range遍历；while满足条件循环——应用：见工单starter与教师参考实现 · break跳出一层/continue跳过本轮——应用：见工单starter与教师参考实现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双层循环模拟多设备多周期——应用：见工单starter与教师参考实现 · 封装check_device/alarm两函数——应用：见工单starter与教师参考实现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死循环 · KeyError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工单0.2b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70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70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range(1,10,2)生成哪些数？死循环怎么避免？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排错题：出现「死循环」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原因：while条件永真；解决：补更新语句+Ctrl+C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for+range遍历；while满足条件循环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70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知识：for+range遍历；while满足条；break跳出一层/continue跳过；循环三要素：初始化/条件/更新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技能：双层循环模拟多设备多周期——应用：见工单starter与教师参考实现；封装check_device/alarm两函数——应用：见工单starter与教师参考实现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交付：工单0.2b《工业实时告警系统Ⅱ》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70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70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下次课预告（第4周）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设计Device类(属性+方法)——应用：见工单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__init__什么时候执行？self指谁？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本讲对应工单：《程序设计基础》分层任务工单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本课重难点地图 · 老师划重点（动手前必看）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动手前先看这页：重点要会什么、难点会卡在哪、哪里最容易错、学没学会怎么自测。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5532120" cy="312724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5532120" cy="365760"/>
          </a:xfrm>
          <a:prstGeom prst="rect">
            <a:avLst/>
          </a:prstGeom>
          <a:solidFill>
            <a:srgbClr val="2F5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1819656"/>
            <a:ext cx="531266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重点 · 必会必考（本课知识点全景）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" y="2267712"/>
            <a:ext cx="5257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2B2F36"/>
                </a:solidFill>
                <a:latin typeface="微软雅黑"/>
              </a:rPr>
              <a:t>◆ B01 for与while｜for=点名册逐个念；while=哨兵盯着条件转圈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B02 break与continue｜break=拉闸走人；continue=跳过这个下一个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B03 循环三要素｜初始值/继续条件/每轮更新——缺一个就转成死循环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B04 random随机数｜random.uniform(a,b)=在[a,b]扔骰子；see…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B05 函数封装｜def=给一段逻辑起名装盒：投料(参数)出产品(返回值)</a:t>
            </a:r>
          </a:p>
          <a:p>
            <a:r>
              <a:rPr sz="950" b="0">
                <a:solidFill>
                  <a:srgbClr val="2B2F36"/>
                </a:solidFill>
                <a:latin typeface="微软雅黑"/>
              </a:rPr>
              <a:t>◆ B06 列表与字典入门｜列表=排队货架(有序可重复)；字典=储物柜(编号取物)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44768" y="1783080"/>
            <a:ext cx="5586984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44768" y="1783080"/>
            <a:ext cx="5586984" cy="365760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54496" y="1819656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难点 · 易卡壳（下一页逐个击破）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231136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误区：range(1,10)不含10——左闭右开'含头不含尾'，数轴画一遍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误区：break只跳一层——双层循环里内层break管不住外层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▲ 误区：忘i+=1死循环——急救Ctrl+C；写while先想'怎么退出来'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44768" y="3401568"/>
            <a:ext cx="5586984" cy="1508760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44768" y="3401568"/>
            <a:ext cx="5586984" cy="365760"/>
          </a:xfrm>
          <a:prstGeom prst="rect">
            <a:avLst/>
          </a:prstGeom>
          <a:solidFill>
            <a:srgbClr val="9A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54496" y="3438144"/>
            <a:ext cx="53675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高频易错 · 动手前先记住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849624"/>
            <a:ext cx="53035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✗ 死循环 → 补更新语句+Ctrl+C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KeyError → 先建{2:0,3:0}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✗ 函数内改不了外面变量 → 用return传值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47488"/>
            <a:ext cx="11274552" cy="1207008"/>
          </a:xfrm>
          <a:prstGeom prst="rect">
            <a:avLst/>
          </a:prstGeom>
          <a:solidFill>
            <a:srgbClr val="FFFFFF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7200" y="5047488"/>
            <a:ext cx="11274552" cy="365760"/>
          </a:xfrm>
          <a:prstGeom prst="rect">
            <a:avLst/>
          </a:prstGeom>
          <a:solidFill>
            <a:srgbClr val="2E7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084064"/>
            <a:ext cx="11055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微软雅黑"/>
              </a:rPr>
              <a:t>达标自问 · 学没学会，问自己这四句（当堂评分同口径）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5458968"/>
            <a:ext cx="1097280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B2F36"/>
                </a:solidFill>
                <a:latin typeface="微软雅黑"/>
              </a:rPr>
              <a:t>① 及格线我能过吗——循环跑通+2函数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② 优秀线我够吗——统计报告正确；函数≤15行/个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③ 技能点我能独立做出来吗——双层循环模拟多设备多周期；封装check_device/alarm两函数</a:t>
            </a:r>
          </a:p>
          <a:p>
            <a:r>
              <a:rPr sz="900" b="0">
                <a:solidFill>
                  <a:srgbClr val="2B2F36"/>
                </a:solidFill>
                <a:latin typeface="微软雅黑"/>
              </a:rPr>
              <a:t>④ 报错了先查「常见错误速查」页再举手——错误信息逐字读一遍，八成自己能修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难点逐个击破 · 零基础照做就能会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Python编程基础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13898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微软雅黑"/>
              </a:rPr>
              <a:t>每个难点四步走：先看「为什么容易栽」对号入座 → 记住「一招破解」→ 照「动手验证」做一遍 → 做不出回知识详解页。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17830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17830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1828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难点1：B01 for与while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误区：range(1,10)不含10——左闭右开'含头不含尾'，数轴画一遍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5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5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for=点名册逐个念；while=哨兵盯着条件转圈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0143" y="21488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0143" y="23865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10台设备逐台采集用for；持续监控用while for i in range(10): 读第i台；while running: 采集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33832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33832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290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难点2：B02 break与continue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误区：break只跳一层——双层循环里内层break管不住外层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34255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34255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break=拉闸走人；continue=跳过这个下一个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10143" y="37490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10143" y="39867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坏数据跳过本轮继续采；用户按停跳出全部 if data is None: continue；if stop: break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983480"/>
            <a:ext cx="11274552" cy="1481328"/>
          </a:xfrm>
          <a:prstGeom prst="rect">
            <a:avLst/>
          </a:prstGeom>
          <a:solidFill>
            <a:srgbClr val="F7F9FC"/>
          </a:solidFill>
          <a:ln>
            <a:solidFill>
              <a:srgbClr val="D6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4983480"/>
            <a:ext cx="82296" cy="1481328"/>
          </a:xfrm>
          <a:prstGeom prst="rect">
            <a:avLst/>
          </a:prstGeom>
          <a:solidFill>
            <a:srgbClr val="8A4B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" y="50292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4B2D"/>
                </a:solidFill>
                <a:latin typeface="微软雅黑"/>
              </a:rPr>
              <a:t>难点3：B03 循环三要素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B5533A"/>
                </a:solidFill>
                <a:latin typeface="微软雅黑"/>
              </a:rPr>
              <a:t>为什么容易栽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误区：忘i+=1死循环——急救Ctrl+C；写while先想'怎么退出来'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34255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2E7D46"/>
                </a:solidFill>
                <a:latin typeface="微软雅黑"/>
              </a:rPr>
              <a:t>一招破解（记住这句）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334255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初始值/继续条件/每轮更新——缺一个就转成死循环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10143" y="5349240"/>
            <a:ext cx="35661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1">
                <a:solidFill>
                  <a:srgbClr val="35506E"/>
                </a:solidFill>
                <a:latin typeface="微软雅黑"/>
              </a:rPr>
              <a:t>动手验证（照做一遍）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10143" y="5586984"/>
            <a:ext cx="35844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2B2F36"/>
                </a:solidFill>
                <a:latin typeface="微软雅黑"/>
              </a:rPr>
              <a:t>while手写循环的自检口诀——写前先默念三件套 i=0 → while i&lt;10 → i+=1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