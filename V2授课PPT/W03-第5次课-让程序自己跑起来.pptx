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66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6" r:id="rId48"/>
    <p:sldId id="298" r:id="rId50"/>
    <p:sldId id="300" r:id="rId52"/>
    <p:sldId id="303" r:id="rId55"/>
    <p:sldId id="304" r:id="rId56"/>
    <p:sldId id="308" r:id="rId60"/>
    <p:sldId id="310" r:id="rId62"/>
    <p:sldId id="311" r:id="rId63"/>
    <p:sldId id="313" r:id="rId65"/>
    <p:sldId id="315" r:id="rId67"/>
    <p:sldId id="317" r:id="rId69"/>
    <p:sldId id="318" r:id="rId70"/>
    <p:sldId id="366" r:id="rId68"/>
    <p:sldId id="367" r:id="rId72"/>
    <p:sldId id="319" r:id="rId71"/>
    <p:sldId id="321" r:id="rId73"/>
    <p:sldId id="323" r:id="rId75"/>
    <p:sldId id="325" r:id="rId77"/>
    <p:sldId id="327" r:id="rId79"/>
    <p:sldId id="328" r:id="rId80"/>
    <p:sldId id="330" r:id="rId82"/>
    <p:sldId id="331" r:id="rId83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53" r:id="rId105"/>
    <p:sldId id="358" r:id="rId110"/>
    <p:sldId id="359" r:id="rId111"/>
    <p:sldId id="360" r:id="rId112"/>
    <p:sldId id="364" r:id="rId116"/>
    <p:sldId id="365" r:id="rId117"/>
    <p:sldId id="369" r:id="rId74"/>
    <p:sldId id="370" r:id="rId6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48" Type="http://schemas.openxmlformats.org/officeDocument/2006/relationships/slide" Target="slides/slide25.xml"/><Relationship Id="rId50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56" Type="http://schemas.openxmlformats.org/officeDocument/2006/relationships/slide" Target="slides/slide29.xml"/><Relationship Id="rId60" Type="http://schemas.openxmlformats.org/officeDocument/2006/relationships/slide" Target="slides/slide30.xml"/><Relationship Id="rId62" Type="http://schemas.openxmlformats.org/officeDocument/2006/relationships/slide" Target="slides/slide31.xml"/><Relationship Id="rId63" Type="http://schemas.openxmlformats.org/officeDocument/2006/relationships/slide" Target="slides/slide32.xml"/><Relationship Id="rId64" Type="http://schemas.openxmlformats.org/officeDocument/2006/relationships/slide" Target="slides/slide68.xml"/><Relationship Id="rId65" Type="http://schemas.openxmlformats.org/officeDocument/2006/relationships/slide" Target="slides/slide33.xml"/><Relationship Id="rId66" Type="http://schemas.openxmlformats.org/officeDocument/2006/relationships/slide" Target="slides/slide66.xml"/><Relationship Id="rId67" Type="http://schemas.openxmlformats.org/officeDocument/2006/relationships/slide" Target="slides/slide34.xml"/><Relationship Id="rId68" Type="http://schemas.openxmlformats.org/officeDocument/2006/relationships/slide" Target="slides/slide37.xml"/><Relationship Id="rId69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39.xml"/><Relationship Id="rId72" Type="http://schemas.openxmlformats.org/officeDocument/2006/relationships/slide" Target="slides/slide38.xml"/><Relationship Id="rId73" Type="http://schemas.openxmlformats.org/officeDocument/2006/relationships/slide" Target="slides/slide40.xml"/><Relationship Id="rId74" Type="http://schemas.openxmlformats.org/officeDocument/2006/relationships/slide" Target="slides/slide67.xml"/><Relationship Id="rId75" Type="http://schemas.openxmlformats.org/officeDocument/2006/relationships/slide" Target="slides/slide41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0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4" Type="http://schemas.openxmlformats.org/officeDocument/2006/relationships/slide" Target="slides/slide47.xml"/><Relationship Id="rId86" Type="http://schemas.openxmlformats.org/officeDocument/2006/relationships/slide" Target="slides/slide48.xml"/><Relationship Id="rId87" Type="http://schemas.openxmlformats.org/officeDocument/2006/relationships/slide" Target="slides/slide49.xml"/><Relationship Id="rId88" Type="http://schemas.openxmlformats.org/officeDocument/2006/relationships/slide" Target="slides/slide50.xml"/><Relationship Id="rId89" Type="http://schemas.openxmlformats.org/officeDocument/2006/relationships/slide" Target="slides/slide51.xml"/><Relationship Id="rId90" Type="http://schemas.openxmlformats.org/officeDocument/2006/relationships/slide" Target="slides/slide52.xml"/><Relationship Id="rId91" Type="http://schemas.openxmlformats.org/officeDocument/2006/relationships/slide" Target="slides/slide53.xml"/><Relationship Id="rId92" Type="http://schemas.openxmlformats.org/officeDocument/2006/relationships/slide" Target="slides/slide54.xml"/><Relationship Id="rId93" Type="http://schemas.openxmlformats.org/officeDocument/2006/relationships/slide" Target="slides/slide55.xml"/><Relationship Id="rId94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105" Type="http://schemas.openxmlformats.org/officeDocument/2006/relationships/slide" Target="slides/slide60.xml"/><Relationship Id="rId110" Type="http://schemas.openxmlformats.org/officeDocument/2006/relationships/slide" Target="slides/slide61.xml"/><Relationship Id="rId111" Type="http://schemas.openxmlformats.org/officeDocument/2006/relationships/slide" Target="slides/slide62.xml"/><Relationship Id="rId112" Type="http://schemas.openxmlformats.org/officeDocument/2006/relationships/slide" Target="slides/slide63.xml"/><Relationship Id="rId116" Type="http://schemas.openxmlformats.org/officeDocument/2006/relationships/slide" Target="slides/slide64.xml"/><Relationship Id="rId117" Type="http://schemas.openxmlformats.org/officeDocument/2006/relationships/slide" Target="slides/slide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开场30秒：本次课《让程序自己跑起来》，80分钟＝2课时×40分钟。课前已发工单+starter+微课知识卡，资讯·计划线上完成。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情境说书（30秒，口头讲，不必逐字念）：告警逻辑单机版通过，但王主任要的是'一块屏看全部'。李姐提醒：十台设备×全天循环，靠复制粘贴要写到明年——工单0.2b：用循环和函数，让告警系统自动转起来。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详解B1·for与while：先读定义→场景为什么用它→看代码实例→扩展给A层。C/D层掌握前三格，A层加扩展格。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详解B2·break与continue：先读定义→场景为什么用它→看代码实例→扩展给A层。C/D层掌握前三格，A层加扩展格。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详解B3·循环三要素：先读定义→场景为什么用它→看代码实例→扩展给A层。C/D层掌握前三格，A层加扩展格。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详解B4·random随机数：先读定义→场景为什么用它→看代码实例→扩展给A层。C/D层掌握前三格，A层加扩展格。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详解B5·函数封装：先读定义→场景为什么用它→看代码实例→扩展给A层。C/D层掌握前三格，A层加扩展格。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详解B6·列表与字典入门：先读定义→场景为什么用它→看代码实例→扩展给A层。C/D层掌握前三格，A层加扩展格。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现场演示《双层循环+统计》：三步走——先整段跑通看结果，再逐行讲关键语句，最后现场改一个参数看输出变化（演10分钟的核心素材）。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工单发布话术：'精密制造事业部发来工单0.2b《工业实时告警系统Ⅱ》，及格线是循，优秀线看A层标准'——念完发starter。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错误速查：现场演示第一条——制造「死循环」，带着学生按'现象→原因→解决'三步排查。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预习知识点：if-elif-else条件结构；逻辑运算符and/or/not | 课中检查知识点：能写温度告警三级阈值判断；能画出条件分支流程图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让程序自己跑起来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让程序自己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跑起来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循环三要素：初始化/条件/更新——应用：for i in range(10):读设备[i]——初始化i/条件i&lt;10/更新i+=1三件缺一不可 · random.uniform(a,b)随机浮点；seed固定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0.2b《工业实时告警系统Ⅱ》——本课工单即考核单元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目标：能够编写150-300行的循环监测程序；能够设计多个告警函数并进行循环告警测试；代码规范率≥75%。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目标：体会“复用与抽象”的工程价值，培养用函数组织代码的模块化思维。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range(1,10,2)生成哪些数？死循环怎么避免？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项目2 驰骋操场，挥写青春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if-elif-else条件结构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逻辑运算符and/or/not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课中检查｜上次课（W2）抽查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能写出f'{dev}温度{temp:.1f}℃'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能区分==与is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题目：range(1,10,2)生成哪些数？死循环怎么避免？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任务背景：告警逻辑单机版通过，但王主任要的是'一块屏看全部'。李姐提醒：十台设备×全天循环，靠复制粘贴要写到明年—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掌握for/while循环的结构与适用场景；掌握函数定义、参数传递与返回值；理解变量作用域规则。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能够编写150-300行的循环监测程序；能够设计多个告警函数并进行循环告警测试；代码规范率≥75%。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体会“复用与抽象”的工程价值，培养用函数组织代码的模块化思维。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对应工单0.2b评分：功能40%+技术25%+规范20%+素养15%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知识详解：for与while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for与while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for=点名册逐个念；while=哨兵盯着条件转圈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10台设备逐台采集用for；持续监控用while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i in range(10): 读第i台；while running: 采集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误区：range(1,10)不含10——左闭右开'含头不含尾'，数轴画一遍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知识应用（1）：for+range遍历；while满足条件循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for+range遍历；while满足条件循环。在两江智造产线上的用法：见工单starter与教师参考实现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知识详解：break与continue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break与continue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break=拉闸走人；continue=跳过这个下一个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坏数据跳过本轮继续采；用户按停跳出全部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data is None: continue；if stop: break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误区：break只跳一层——双层循环里内层break管不住外层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知识详解：循环三要素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循环三要素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初始值/继续条件/每轮更新——缺一个就转成死循环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while手写循环的自检口诀——写前先默念三件套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i=0 → while i&lt;10 → i+=1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误区：忘i+=1死循环——急救Ctrl+C；写while先想'怎么退出来'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知识应用（3）：循环三要素：初始化/条件/更新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循环三要素：初始化/条件/更新。在两江智造产线上的用法：for i in range(10):读设备[i]——初始化i/条件i&lt;10/更新i+=1三件缺一不可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i in range(10):读设备[i]——初始化i/条件i&lt;10/更新i+=1三件缺一不可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知识详解：random随机数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random随机数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random.uniform(a,b)=在[a,b]扔骰子；seed=固定骰子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模拟传感器读数——没有真设备时的替身演员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random.seed(42)后每次运行数据一样——可复现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误区：不设seed每次结果不同没法调试——仿真加seed是工程惯例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知识详解：函数封装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函数封装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def=给一段逻辑起名装盒：投料(参数)出产品(返回值)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告警判断/换算抽成函数——写一次处处用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c2f(c): return c*9/5+32 → c2f(78.5)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误区：忘return打印None——return是交货print是喊话，两码事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知识详解：列表与字典入门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列表与字典入门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列表=排队货架(有序可重复)；字典=储物柜(编号取物)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设备清单用列表；'编号→温度'台账用字典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devs.append('MOTOR-01')；t={'PUMP-03':78.5}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误区：t['PUMP4']查无此键KeyError——先用 in 判断再取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知识应用（6）：列表存设备序列、字典存键值属性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列表存设备序列、字典存键值属性。在两江智造产线上的用法：devs=['PUMP-03','FAN-02']; devs.append('MOTOR-01')——动态扩容无需预声明大小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devs=['PUMP-03','FAN-02']; devs.append('MOTOR-01')——动态扩容无需预声明大小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封装check_device/alarm两函数——应用：见工单starter与教师参考实现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统计各设备各级告警次数——应用：见工单starter与教师参考实现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固定seed保证结果可复现——应用：见工单starter与教师参考实现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让程序自己跑起来（1）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for循环与range()：遍历设备参数列表；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while循环与退出条件：持续监测的模拟；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break/continue的使用场景与误用警示；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循环优化：减少重复计算、避免死循环。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关键代码：双层循环+统计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stats = {d["id"]: {2:0, 3:0} for d in devices}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d in devices: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for _ in range(10):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t = d["base"] + random.uniform(-8, 15)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lv = check_device(d, 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if lv: stats[d["id"]][lv] += 1; alarm(d, lv, 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实施任务：工单0.2b《工业实时告警系统Ⅱ》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列表+字典组织3台设备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双层循环: 设备×10周期(random模拟)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check_device/alarm两函数封装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循环跑通+2函数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统计报告正确；函数≤15行/个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[DEV-03]注塑机 温度80.5℃ → 警告  ×3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 告警统计 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警告 0 停机 0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工程化项目/w03_patrol_loop/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src/patrol_loop/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跟做循环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range(10)改5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看输出减半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能改周期数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单循环跑通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一设备10周期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调用check函数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打印每轮状态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能出10轮结果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循环+统计完整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3设备×10周期循环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两函数封装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告警统计报告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报告正确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防抖动+while版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连续3次≥95才停机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while版持续监测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重构对比说明收益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统计准确+无死循环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while版持续监测：温度连续3次≥95才停机（防抖动设计）)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列表+字典组织3台设备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双层循环: 设备×10周期(random模拟)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check_device/alarm两函数封装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random.seed(42)固定，否则每次结果不同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random.uniform(-8,15)制造偶发超限，贴近真实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break只跳一层循环，嵌套时想清楚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死循环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while条件永真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补更新语句+Ctrl+C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KeyError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统计键未初始化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先建{2:0,3:0}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函数内改不了外面变量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作用域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用return传值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D·学徒（≥60）：跟做循环——跟做保底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C·操作员（≥70）：单循环跑通——基础完成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B·组长（≥80）：循环+统计完整——标准达成+帮带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A·师傅（≥90）：防抖动+while版——进阶拓展+费曼讲解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步骤1：列表+字典组织3台设备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步骤2：双层循环: 设备×10周期(random模拟)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步骤3：check_device/alarm两函数封装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提交物与评分（工单0.2b）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学号_姓名_0.2b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重构上周代码：将重复判断改写为函数；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预习类与对象的概念。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[DEV-03]注塑机 温度80.5℃ → 警告  ×3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 告警统计 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DEV-01 警告 0 停机 0  ×3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0.2b的技能点即其最小实现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让程序自己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跑起来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for+range遍历；while满足条件循环——应用：见工单starter与教师参考实现 · break跳出一层/continue跳过本轮——应用：见工单starter与教师参考实现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双层循环模拟多设备多周期——应用：见工单starter与教师参考实现 · 封装check_device/alarm两函数——应用：见工单starter与教师参考实现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死循环 · KeyError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工单0.2b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range(1,10,2)生成哪些数？死循环怎么避免？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排错题：出现「死循环」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原因：while条件永真；解决：补更新语句+Ctrl+C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for+range遍历；while满足条件循环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知识：for+range遍历；while满足条；break跳出一层/continue跳过；循环三要素：初始化/条件/更新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技能：双层循环模拟多设备多周期——应用：见工单starter与教师参考实现；封装check_device/alarm两函数——应用：见工单starter与教师参考实现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交付：工单0.2b《工业实时告警系统Ⅱ》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设计Device类(属性+方法)——应用：见工单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