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7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367" r:id="rId16"/>
    <p:sldId id="280" r:id="rId32"/>
    <p:sldId id="310" r:id="rId62"/>
    <p:sldId id="317" r:id="rId69"/>
    <p:sldId id="370" r:id="rId19"/>
    <p:sldId id="371" r:id="rId20"/>
    <p:sldId id="372" r:id="rId21"/>
    <p:sldId id="319" r:id="rId71"/>
    <p:sldId id="338" r:id="rId90"/>
    <p:sldId id="365" r:id="rId117"/>
    <p:sldId id="366" r:id="rId118"/>
    <p:sldId id="368" r:id="rId17"/>
    <p:sldId id="369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16" Type="http://schemas.openxmlformats.org/officeDocument/2006/relationships/slide" Target="slides/slide2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32" Type="http://schemas.openxmlformats.org/officeDocument/2006/relationships/slide" Target="slides/slide3.xml"/><Relationship Id="rId62" Type="http://schemas.openxmlformats.org/officeDocument/2006/relationships/slide" Target="slides/slide4.xml"/><Relationship Id="rId69" Type="http://schemas.openxmlformats.org/officeDocument/2006/relationships/slide" Target="slides/slide5.xml"/><Relationship Id="rId71" Type="http://schemas.openxmlformats.org/officeDocument/2006/relationships/slide" Target="slides/slide6.xml"/><Relationship Id="rId90" Type="http://schemas.openxmlformats.org/officeDocument/2006/relationships/slide" Target="slides/slide7.xml"/><Relationship Id="rId117" Type="http://schemas.openxmlformats.org/officeDocument/2006/relationships/slide" Target="slides/slide8.xml"/><Relationship Id="rId118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开场30秒：本次课《工业数据的通用语言》，80分钟＝2课时×40分钟。课前已发工单+starter+微课知识卡，资讯·计划线上完成。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情境说书（30秒，口头讲，不必逐字念）：中台抽检打回上月数据：缺温度、类型错、还有135℃的'过热'记录。李姐委屈：'原始数据就这样。'——工单1.2：做数据清洗，还车间数据一个清白。</a:t>
            </a:r>
          </a:p>
          <a:p>
            <a:r>
              <a:t>讲完抛出问题：'如果是你，第一步先干什么？'——自然过渡到决策环节。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决策矩阵用法（10分钟）：组内对备选方案打分→选型→把结论和理由写进工单'决策记录'栏；教师抽查2组口头说理由（决策追责）。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工单发布话术：'精密制造事业部发来工单1.2《工业数据文件处理系统》，及格线是≥，优秀线看A层标准'——念完发starter。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教材衔接：教材：Python程序设计项目化教程（活页式）（任越美 李垒 李江岱 主编，978-7-313-30507-7）— 项目4 持校园卡，记生活账 | 预习知识点：字典操作(键值对/遍历)；JSON读写 | 课中检查知识点：能按code查设备台账；能json.loads/dumps转换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下次课预告：布置课前微课知识卡与导学单，形成学习闭环。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Python编程基础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工业数据的通用语言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第八周 · 第16次课（2课时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本课主用：PyCharm CE（编码）+ Jupyter（Pandas数据实验）+ Git/GitHub（每周提交）</a:t>
            </a:r>
          </a:p>
        </p:txBody>
      </p:sp>
      <p:pic>
        <p:nvPicPr>
          <p:cNvPr id="7" name="Picture 6" descr="W8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安全与合规警示（操作前必读）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1. 上机前确认本工位电源开关与急停位置，确认设备处于安全状态。</a:t>
            </a:r>
          </a:p>
          <a:p>
            <a:pPr>
              <a:spcAft>
                <a:spcPts val="1000"/>
              </a:spcAft>
            </a:pPr>
            <a:r>
              <a:rPr sz="1800"/>
              <a:t>2. 涉及接线的操作一律先断电、后验电、再作业，禁止带电插拔。</a:t>
            </a:r>
          </a:p>
          <a:p>
            <a:pPr>
              <a:spcAft>
                <a:spcPts val="1000"/>
              </a:spcAft>
            </a:pPr>
            <a:r>
              <a:rPr sz="1800"/>
              <a:t>3. 身体任何部位不进入设备运动/散热区域，长发束起，不佩戴悬垂饰物。</a:t>
            </a:r>
          </a:p>
          <a:p>
            <a:pPr>
              <a:spcAft>
                <a:spcPts val="1000"/>
              </a:spcAft>
            </a:pPr>
            <a:r>
              <a:rPr sz="1800"/>
              <a:t>4. 调试程序前先静态检查、再低速小样本试运行，确认无异常后放大规模。</a:t>
            </a:r>
          </a:p>
          <a:p>
            <a:pPr>
              <a:spcAft>
                <a:spcPts val="1000"/>
              </a:spcAft>
            </a:pPr>
            <a:r>
              <a:rPr sz="1800"/>
              <a:t>5. 任何不确定或异常情况，立即停止操作并报告指导教师，不擅自处置。</a:t>
            </a:r>
          </a:p>
          <a:p>
            <a:r>
              <a:rPr sz="1400" b="1"/>
              <a:t>以上任一条违反，本次任务按课程标准「安全规范一票否决」条款记 0 分并中止实训。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中台抽检打回上月数据：缺温度、类型错、还有135℃的'过热'记录。李姐委屈：'原始数据就这样。'——工单1.2：做数据清洗，还车间数据一个清白。</a:t>
            </a:r>
          </a:p>
        </p:txBody>
      </p:sp>
      <p:pic>
        <p:nvPicPr>
          <p:cNvPr id="9" name="Picture 8" descr="W8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工业数据的通用语言（1）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JSON数据格式：json.loads/dumps、嵌套结构解析；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数据验证与清洗基础：缺失值检测、类型校验、范围检查；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工单项目1.2实操：读取CSV/JSON工业数据文件，进行验证清洗，输出标准化数据。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决策：越界处置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策略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理由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采纳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剔除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统计离群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保留并标记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真实过热工况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000" y="406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决策结论写入工单，答辩必答；实施失误回溯决策复盘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实施任务：工单1.2《工业数据文件处理系统》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输出clean.csv+各维度问题计数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135℃业务决策记录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支持命令行参数选输入文件(选做)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≥2格式+基本验证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报告清晰；业务决策有依据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完成工单项目1.2《工业数据文件处理系统》：及格标准读写≥2种格式+基本验证；优秀标准验证多维度+输出清晰+规范率≥90%；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编写一个“数据体检脚本”：统计文件缺失值数量；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预习jieba分词的安装与使用。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下次课预告（第9周）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完成分词+停用词管线——应用：见工单starte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词云中文变方块的原因？如何解决？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本任务六步法导航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六步法：资讯 → 计划 → 决策 → 实施 → 检查 → 评估</a:t>
            </a:r>
          </a:p>
          <a:p>
            <a:pPr>
              <a:spcAft>
                <a:spcPts val="1000"/>
              </a:spcAft>
            </a:pPr>
            <a:r>
              <a:rPr sz="1800"/>
              <a:t>本讲对应工单：《程序设计基础》分层任务工单</a:t>
            </a:r>
          </a:p>
          <a:p>
            <a:pPr>
              <a:spcAft>
                <a:spcPts val="1000"/>
              </a:spcAft>
            </a:pPr>
            <a:r>
              <a:rPr sz="1800"/>
              <a:t>课堂产出：工单第六节实施记录须当堂填写，含操作前安全打勾与学生本人签字。</a:t>
            </a:r>
          </a:p>
          <a:p>
            <a:pPr>
              <a:spcAft>
                <a:spcPts val="1000"/>
              </a:spcAft>
            </a:pPr>
            <a:r>
              <a:rPr sz="1800"/>
              <a:t>课后交付：班组长／操作员／教师三方联签后交回，缺签视为未交付。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本讲与岗位任务单的衔接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本讲在工作过程系统化课程中承担的任务环节：任务实施</a:t>
            </a:r>
          </a:p>
          <a:p>
            <a:pPr>
              <a:spcAft>
                <a:spcPts val="1000"/>
              </a:spcAft>
            </a:pPr>
            <a:r>
              <a:rPr sz="1800"/>
              <a:t>考核对齐：过程性成绩取自本讲工单第六节各模块得分合计（满分 100）。</a:t>
            </a:r>
          </a:p>
          <a:p>
            <a:pPr>
              <a:spcAft>
                <a:spcPts val="1000"/>
              </a:spcAft>
            </a:pPr>
            <a:r>
              <a:rPr sz="1800"/>
              <a:t>达标线：综合成绩≥60 分，且无安全红线一票否决记录</a:t>
            </a:r>
          </a:p>
          <a:p>
            <a:pPr>
              <a:spcAft>
                <a:spcPts val="1000"/>
              </a:spcAft>
            </a:pPr>
            <a:r>
              <a:rPr sz="1800"/>
              <a:t>无效工单判定：未打安全勾、无本人签字、无三方联签。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本课重难点地图 · 老师划重点（动手前必看）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 / 14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1389888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6B7280"/>
                </a:solidFill>
                <a:latin typeface="微软雅黑"/>
              </a:rPr>
              <a:t>动手前先看这页：重点要会什么、难点会卡在哪、哪里最容易错、学没学会怎么自测。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1783080"/>
            <a:ext cx="5532120" cy="312724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1783080"/>
            <a:ext cx="5532120" cy="365760"/>
          </a:xfrm>
          <a:prstGeom prst="rect">
            <a:avLst/>
          </a:prstGeom>
          <a:solidFill>
            <a:srgbClr val="2F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6928" y="1819656"/>
            <a:ext cx="53126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重点 · 必会必考（本课知识点全景）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" y="2267712"/>
            <a:ext cx="5257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2B2F36"/>
                </a:solidFill>
                <a:latin typeface="微软雅黑"/>
              </a:rPr>
              <a:t>◆ B01 with open｜with=租借自动还：代码块结束文件自动关，忘了关也不漏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B02 csv.DictReader｜DictReader=带表头的读取器：按列名取数不看列序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B03 json.loads/dumps｜loads=拆快递(字符串→字典)；dumps=打包(字典→字符串)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B04 三维验证｜三道闸=查户口：键在不在/类型对不对/数值合不合理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B05 问题行策略｜坏行处理=登记放行：跳过但写bad.log带原因——可追溯不静默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B06 newline=''防CSV空行｜newline=''=告诉open'换行我自己管'——CSV不再多…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44768" y="1783080"/>
            <a:ext cx="5586984" cy="148132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44768" y="1783080"/>
            <a:ext cx="5586984" cy="365760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54496" y="1819656"/>
            <a:ext cx="53675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难点 · 易卡壳（下一页逐个击破）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0" y="2231136"/>
            <a:ext cx="5303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▲ 误区：漏encoding='utf-8'→Win默认GBK中文乱码——乱码先查它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▲ 误区：普通reader按下标[2]取列——插一列全错，DictReader免此劫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▲ 误区：dumps中文变\uXXXX——加ensure_ascii=False+indent…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44768" y="3401568"/>
            <a:ext cx="5586984" cy="1508760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144768" y="3401568"/>
            <a:ext cx="5586984" cy="365760"/>
          </a:xfrm>
          <a:prstGeom prst="rect">
            <a:avLst/>
          </a:prstGeom>
          <a:solidFill>
            <a:srgbClr val="9A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54496" y="3438144"/>
            <a:ext cx="53675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高频易错 · 动手前先记住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09360" y="3849624"/>
            <a:ext cx="5303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✗ float('err')崩 → try转换或errors处理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✗ CSV多空行 → open(...,newline='')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✗ 路径找不到 → 按脚本目录拼路径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5047488"/>
            <a:ext cx="11274552" cy="120700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57200" y="5047488"/>
            <a:ext cx="11274552" cy="365760"/>
          </a:xfrm>
          <a:prstGeom prst="rect">
            <a:avLst/>
          </a:prstGeom>
          <a:solidFill>
            <a:srgbClr val="2E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66928" y="5084064"/>
            <a:ext cx="110550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达标自问 · 学没学会，问自己这四句（当堂评分同口径）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792" y="5458968"/>
            <a:ext cx="1097280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① 及格线我能过吗——≥2格式+基本验证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② 优秀线我够吗——报告清晰；业务决策有依据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③ 技能点我能独立做出来吗——with读写CSV与JSON；实现三维数据验证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④ 报错了先查「常见错误速查」页再举手——错误信息逐字读一遍，八成自己能修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6281928"/>
            <a:ext cx="9601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6B7280"/>
                </a:solidFill>
                <a:latin typeface="微软雅黑"/>
              </a:rPr>
              <a:t>素材来源：同周《第15次课-让数据活过下一次关机》知识卡与避坑清单（逐字摘录）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难点逐个击破 · 零基础照做就能会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 / 14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1389888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6B7280"/>
                </a:solidFill>
                <a:latin typeface="微软雅黑"/>
              </a:rPr>
              <a:t>每个难点四步走：先看「为什么容易栽」对号入座 → 记住「一招破解」→ 照「动手验证」做一遍 → 做不出回知识详解页。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1783080"/>
            <a:ext cx="11274552" cy="1481328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1783080"/>
            <a:ext cx="82296" cy="1481328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" y="1828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A4B2D"/>
                </a:solidFill>
                <a:latin typeface="微软雅黑"/>
              </a:rPr>
              <a:t>难点1：B01 with open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21488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5533A"/>
                </a:solidFill>
                <a:latin typeface="微软雅黑"/>
              </a:rPr>
              <a:t>为什么容易栽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23865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误区：漏encoding='utf-8'→Win默认GBK中文乱码——乱码先查它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34255" y="21488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E7D46"/>
                </a:solidFill>
                <a:latin typeface="微软雅黑"/>
              </a:rPr>
              <a:t>一招破解（记住这句）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34255" y="23865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with=租借自动还：代码块结束文件自动关，忘了关也不漏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10143" y="21488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35506E"/>
                </a:solidFill>
                <a:latin typeface="微软雅黑"/>
              </a:rPr>
              <a:t>动手验证（照做一遍）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10143" y="23865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读写设备日志/台账的标准姿势——车间文件操作第一写法 with open('log.csv', encoding='utf-8') as f: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3383280"/>
            <a:ext cx="11274552" cy="1481328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57200" y="3383280"/>
            <a:ext cx="82296" cy="1481328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8368" y="3429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A4B2D"/>
                </a:solidFill>
                <a:latin typeface="微软雅黑"/>
              </a:rPr>
              <a:t>难点2：B02 csv.DictReader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37490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5533A"/>
                </a:solidFill>
                <a:latin typeface="微软雅黑"/>
              </a:rPr>
              <a:t>为什么容易栽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39867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误区：普通reader按下标[2]取列——插一列全错，DictReader免此劫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34255" y="37490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E7D46"/>
                </a:solidFill>
                <a:latin typeface="微软雅黑"/>
              </a:rPr>
              <a:t>一招破解（记住这句）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34255" y="39867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DictReader=带表头的读取器：按列名取数不看列序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10143" y="37490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35506E"/>
                </a:solidFill>
                <a:latin typeface="微软雅黑"/>
              </a:rPr>
              <a:t>动手验证（照做一遍）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10143" y="39867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读传感器CSV台账——列序变了代码不用改 for row in csv.DictReader(f): row['temp']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4983480"/>
            <a:ext cx="11274552" cy="1481328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57200" y="4983480"/>
            <a:ext cx="82296" cy="1481328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8368" y="50292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A4B2D"/>
                </a:solidFill>
                <a:latin typeface="微软雅黑"/>
              </a:rPr>
              <a:t>难点3：B03 json.loads/dumps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8368" y="53492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5533A"/>
                </a:solidFill>
                <a:latin typeface="微软雅黑"/>
              </a:rPr>
              <a:t>为什么容易栽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8368" y="55869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误区：dumps中文变\uXXXX——加ensure_ascii=False+indent=2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334255" y="53492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E7D46"/>
                </a:solidFill>
                <a:latin typeface="微软雅黑"/>
              </a:rPr>
              <a:t>一招破解（记住这句）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334255" y="55869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loads=拆快递(字符串→字典)；dumps=打包(字典→字符串)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010143" y="53492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35506E"/>
                </a:solidFill>
                <a:latin typeface="微软雅黑"/>
              </a:rPr>
              <a:t>动手验证（照做一遍）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010143" y="55869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MQTT消息/配置文件都是JSON——进出必经拆装 data=json.loads(msg); data['temp']+=1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承上启下 · 动手前避坑清单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 / 14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1389888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6B7280"/>
                </a:solidFill>
                <a:latin typeface="微软雅黑"/>
              </a:rPr>
              <a:t>本讲是动手冲刺课：先把上周完整讲解里的高频翻车点过一遍，再开工——每条都是历届学生真实踩过的坑。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1783080"/>
            <a:ext cx="5532120" cy="2061972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1783080"/>
            <a:ext cx="82296" cy="2061972"/>
          </a:xfrm>
          <a:prstGeom prst="rect">
            <a:avLst/>
          </a:prstGeom>
          <a:solidFill>
            <a:srgbClr val="9A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" y="1847088"/>
            <a:ext cx="51663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B5533A"/>
                </a:solidFill>
                <a:latin typeface="微软雅黑"/>
              </a:rPr>
              <a:t>✗ float('err')崩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2167128"/>
            <a:ext cx="516635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原因：未预判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✔ 解决：try转换或errors处理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99632" y="1783080"/>
            <a:ext cx="5532120" cy="2061972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99632" y="1783080"/>
            <a:ext cx="82296" cy="2061972"/>
          </a:xfrm>
          <a:prstGeom prst="rect">
            <a:avLst/>
          </a:prstGeom>
          <a:solidFill>
            <a:srgbClr val="9A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1847088"/>
            <a:ext cx="51663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B5533A"/>
                </a:solidFill>
                <a:latin typeface="微软雅黑"/>
              </a:rPr>
              <a:t>✗ CSV多空行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2167128"/>
            <a:ext cx="516635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原因：缺newline=''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✔ 解决：open(...,newline='')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3973068"/>
            <a:ext cx="5532120" cy="2061972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57200" y="3973068"/>
            <a:ext cx="82296" cy="2061972"/>
          </a:xfrm>
          <a:prstGeom prst="rect">
            <a:avLst/>
          </a:prstGeom>
          <a:solidFill>
            <a:srgbClr val="9A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" y="4037076"/>
            <a:ext cx="51663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B5533A"/>
                </a:solidFill>
                <a:latin typeface="微软雅黑"/>
              </a:rPr>
              <a:t>✗ 路径找不到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4357116"/>
            <a:ext cx="516635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原因：IDE与命令行cwd不同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✔ 解决：按脚本目录拼路径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281928"/>
            <a:ext cx="9601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6B7280"/>
                </a:solidFill>
                <a:latin typeface="微软雅黑"/>
              </a:rPr>
              <a:t>素材来源：同周《第15次课-让数据活过下一次关机》知识卡与避坑清单（逐字摘录）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