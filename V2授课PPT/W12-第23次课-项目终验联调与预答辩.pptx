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65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8" r:id="rId50"/>
    <p:sldId id="301" r:id="rId53"/>
    <p:sldId id="304" r:id="rId56"/>
    <p:sldId id="311" r:id="rId63"/>
    <p:sldId id="312" r:id="rId64"/>
    <p:sldId id="316" r:id="rId68"/>
    <p:sldId id="317" r:id="rId69"/>
    <p:sldId id="319" r:id="rId71"/>
    <p:sldId id="372" r:id="rId61"/>
    <p:sldId id="373" r:id="rId60"/>
    <p:sldId id="320" r:id="rId72"/>
    <p:sldId id="367" r:id="rId67"/>
    <p:sldId id="368" r:id="rId66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3" r:id="rId85"/>
    <p:sldId id="334" r:id="rId86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6" r:id="rId98"/>
    <p:sldId id="347" r:id="rId99"/>
    <p:sldId id="348" r:id="rId100"/>
    <p:sldId id="355" r:id="rId107"/>
    <p:sldId id="360" r:id="rId112"/>
    <p:sldId id="361" r:id="rId113"/>
    <p:sldId id="362" r:id="rId114"/>
    <p:sldId id="366" r:id="rId118"/>
    <p:sldId id="370" r:id="rId70"/>
    <p:sldId id="371" r:id="rId6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50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0" Type="http://schemas.openxmlformats.org/officeDocument/2006/relationships/slide" Target="slides/slide66.xml"/><Relationship Id="rId61" Type="http://schemas.openxmlformats.org/officeDocument/2006/relationships/slide" Target="slides/slide65.xml"/><Relationship Id="rId62" Type="http://schemas.openxmlformats.org/officeDocument/2006/relationships/slide" Target="slides/slide64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5" Type="http://schemas.openxmlformats.org/officeDocument/2006/relationships/slide" Target="slides/slide2.xml"/><Relationship Id="rId66" Type="http://schemas.openxmlformats.org/officeDocument/2006/relationships/slide" Target="slides/slide36.xml"/><Relationship Id="rId67" Type="http://schemas.openxmlformats.org/officeDocument/2006/relationships/slide" Target="slides/slide35.xml"/><Relationship Id="rId68" Type="http://schemas.openxmlformats.org/officeDocument/2006/relationships/slide" Target="slides/slide31.xml"/><Relationship Id="rId69" Type="http://schemas.openxmlformats.org/officeDocument/2006/relationships/slide" Target="slides/slide32.xml"/><Relationship Id="rId70" Type="http://schemas.openxmlformats.org/officeDocument/2006/relationships/slide" Target="slides/slide63.xml"/><Relationship Id="rId71" Type="http://schemas.openxmlformats.org/officeDocument/2006/relationships/slide" Target="slides/slide33.xml"/><Relationship Id="rId72" Type="http://schemas.openxmlformats.org/officeDocument/2006/relationships/slide" Target="slides/slide34.xml"/><Relationship Id="rId73" Type="http://schemas.openxmlformats.org/officeDocument/2006/relationships/slide" Target="slides/slide37.xml"/><Relationship Id="rId75" Type="http://schemas.openxmlformats.org/officeDocument/2006/relationships/slide" Target="slides/slide38.xml"/><Relationship Id="rId77" Type="http://schemas.openxmlformats.org/officeDocument/2006/relationships/slide" Target="slides/slide39.xml"/><Relationship Id="rId79" Type="http://schemas.openxmlformats.org/officeDocument/2006/relationships/slide" Target="slides/slide40.xml"/><Relationship Id="rId81" Type="http://schemas.openxmlformats.org/officeDocument/2006/relationships/slide" Target="slides/slide41.xml"/><Relationship Id="rId82" Type="http://schemas.openxmlformats.org/officeDocument/2006/relationships/slide" Target="slides/slide42.xml"/><Relationship Id="rId84" Type="http://schemas.openxmlformats.org/officeDocument/2006/relationships/slide" Target="slides/slide43.xml"/><Relationship Id="rId85" Type="http://schemas.openxmlformats.org/officeDocument/2006/relationships/slide" Target="slides/slide44.xml"/><Relationship Id="rId86" Type="http://schemas.openxmlformats.org/officeDocument/2006/relationships/slide" Target="slides/slide45.xml"/><Relationship Id="rId88" Type="http://schemas.openxmlformats.org/officeDocument/2006/relationships/slide" Target="slides/slide46.xml"/><Relationship Id="rId89" Type="http://schemas.openxmlformats.org/officeDocument/2006/relationships/slide" Target="slides/slide47.xml"/><Relationship Id="rId90" Type="http://schemas.openxmlformats.org/officeDocument/2006/relationships/slide" Target="slides/slide48.xml"/><Relationship Id="rId91" Type="http://schemas.openxmlformats.org/officeDocument/2006/relationships/slide" Target="slides/slide49.xml"/><Relationship Id="rId92" Type="http://schemas.openxmlformats.org/officeDocument/2006/relationships/slide" Target="slides/slide50.xml"/><Relationship Id="rId93" Type="http://schemas.openxmlformats.org/officeDocument/2006/relationships/slide" Target="slides/slide51.xml"/><Relationship Id="rId94" Type="http://schemas.openxmlformats.org/officeDocument/2006/relationships/slide" Target="slides/slide52.xml"/><Relationship Id="rId95" Type="http://schemas.openxmlformats.org/officeDocument/2006/relationships/slide" Target="slides/slide53.xml"/><Relationship Id="rId96" Type="http://schemas.openxmlformats.org/officeDocument/2006/relationships/slide" Target="slides/slide54.xml"/><Relationship Id="rId98" Type="http://schemas.openxmlformats.org/officeDocument/2006/relationships/slide" Target="slides/slide55.xml"/><Relationship Id="rId99" Type="http://schemas.openxmlformats.org/officeDocument/2006/relationships/slide" Target="slides/slide56.xml"/><Relationship Id="rId100" Type="http://schemas.openxmlformats.org/officeDocument/2006/relationships/slide" Target="slides/slide57.xml"/><Relationship Id="rId107" Type="http://schemas.openxmlformats.org/officeDocument/2006/relationships/slide" Target="slides/slide58.xml"/><Relationship Id="rId112" Type="http://schemas.openxmlformats.org/officeDocument/2006/relationships/slide" Target="slides/slide59.xml"/><Relationship Id="rId113" Type="http://schemas.openxmlformats.org/officeDocument/2006/relationships/slide" Target="slides/slide60.xml"/><Relationship Id="rId114" Type="http://schemas.openxmlformats.org/officeDocument/2006/relationships/slide" Target="slides/slide61.xml"/><Relationship Id="rId118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开场30秒：本次课《项目终验联调与预答辩》，80分钟＝2课时×40分钟。课前已发工单+starter+微课知识卡，资讯·计划线上完成。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详解B1·checklist三清单：先读定义→场景为什么用它→看代码实例→扩展给A层。C/D层掌握前三格，A层加扩展格。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详解B2·答辩四段结构：先读定义→场景为什么用它→看代码实例→扩展给A层。C/D层掌握前三格，A层加扩展格。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详解B3·bad-case预案：先读定义→场景为什么用它→看代码实例→扩展给A层。C/D层掌握前三格，A层加扩展格。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详解B4·贡献表与Git核对：先读定义→场景为什么用它→看代码实例→扩展给A层。C/D层掌握前三格，A层加扩展格。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详解B5·个人问责制：先读定义→场景为什么用它→看代码实例→扩展给A层。C/D层掌握前三格，A层加扩展格。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详解B6·时间盒弹性：先读定义→场景为什么用它→看代码实例→扩展给A层。C/D层掌握前三格，A层加扩展格。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现场演示《项目骨架(四类分工)》：三步走——先整段跑通看结果，再逐行讲关键语句，最后现场改一个参数看输出变化（演10分钟的核心素材）。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工单发布话术：'精密制造事业部发来工单Z《综合项目终验与预答辩》，及格线是可，优秀线看A层标准'——念完发starter。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错误速查：现场演示第一条——制造「现场装依赖」，带着学生按'现象→原因→解决'三步排查。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项目终验联调与预答辩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项目终验联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调与预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 · 贡献表与Git交叉核对——应用：见工单starter与教师参考实现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Z《综合项目终验与预答辩》——本课工单即考核单元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目标：体验完整项目交付流程，培养团队协作、时间管理与成果表达的综合职业素养。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 点滴过往，趣味报告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综合项目：数据采集→处理→可视化(matplotli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课中检查｜上次课（W11）抽查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能写PLC子类继承Device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能说出继承复用的好处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题目：checklist三清单(功能/规范/演示)你组还差哪几项？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任务背景：答辩日。王主任、方总监和平台吴工都坐在台下。你要交付的，是把12周所学装进一个完整的《工业互联网数据处理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对应工单Z评分：功能40%+技术25%+规范20%+素养15%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知识详解：checklist三清单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checklist三清单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checklist=飞行前检查单：功能/规范/演示逐项打勾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终验不靠记忆靠清单——工程师与飞行员同一套方法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□全部功能可跑 □PEP8规范 □运行截图齐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误区：靠'我觉得都OK'——清单逐项过，漏一项扣一项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知识应用（1）：checklist三清单：功能/规范/演示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checklist三清单：功能/规范/演示。在两江智造产线上的用法：见工单starter与教师参考实现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知识详解：答辩四段结构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答辩四段结构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四段=时间盒：1分钟分工+5分钟演示+2分钟总结+提问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小组答辩8分钟时间盒——超时直接打断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'我们4人分工…→现在演示…→收获是…'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误区：先讲代码再演示——先跑通给结果，评委要有耐心阈值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知识详解：bad-case预案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bad-case预案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bad-case预案=答辩灭火器：评委必点脏数据，提前备好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预演评委可能的刁钻输入——温度=abc不能崩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输入'温度=abc'→友好报错并提示重输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误区：崩溃不扣死分，崩溃无预案才扣——兜底体现工程态度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知识详解：贡献表与Git核对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贡献表与Git核对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贡献表对Git=口头对台账——谁写的代码提交记录说了算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搭便车识别——贡献与commit交叉验证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贡献表写'数据清洗'→Git查确有对应commit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误区：临时补commit痕迹——时间戳造不了假，证据链闭环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知识详解：个人问责制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个人问责制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个人问责=随机点名必答题——组分与个人分分开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防止一人干活全组得分——费曼带徒的最终检验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评委点任意成员：'这段函数讲讲为什么这样写'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误区：平时不听答辩现学——讲不清个人分扣，日常费曼才是本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知识详解：时间盒弹性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时间盒弹性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时间盒弹性=人多就切5+3分钟——超时打断不解释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&gt;6组的答辩时间管理——超时是答辩大忌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提前掐表彩排一遍——5分钟演示里只放亮点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误区：超时想讲完——果断收尾比讲完更得分，评委记节奏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项目终验联调与预答辩（1）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综合项目《工业互联网完整数据处理系统》终验联调：按checklist（功能项+规范项+演示项）逐项自查互查；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预答辩热身：组内互问互评（答辩必答题演练：架构、数据流、异常处理）；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完善演示材料（PPT与演示视频第24次课课前提交）；开发主体工作已于第11周启动、课后推进。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关键代码：项目骨架(四类分工)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Collector:      # A: 采集(Modbus/文件)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collect(self):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Cleaner:        # B: 清洗(三维验证)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clean(self,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Analyzer:       # C: 分析(阈值+统计)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analyze(self,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Reporter:       # D: 文档(PDF报告)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build(self, stats):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本课决策题：答辩预演：必答题分工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实施任务：工单Z《综合项目终验与预答辩》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分段验收: 采集→处理→报告模块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checklist自查互查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组内预答辩互问热身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可演示版本+checklist过半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终验全过+演示材料课前提交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综合系统演示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21:00:50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21:00:50 温度95℃/压力0.5MPa超危险线, 立即停机!  ×2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报告生成复用 w10()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工程化项目/w12_capstone/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src/capstone/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说清自己做了什么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回答1基础题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反思一页纸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能答基础问题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模块讲解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负责模块演示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答1个模块问题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过程记录提交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讲清自己模块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答辩主力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8分钟演示彩排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必答题准备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分工说明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答问准确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脱稿架构讲解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画架构图脱稿讲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bad-case演示准备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创新点陈述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2分钟讲清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口头架构讲解限时2分钟脱稿——图在心中)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分段验收: 采集→处理→报告模块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checklist自查互查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组内预答辩互问热身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演示视频课前提交（≤3分钟），教师预看带问题入场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&gt;6组切换5+3分钟制，超时扣表达分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脏数据bad-case演示必准备（评委必点）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现场装依赖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答辩机预演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只讲不演示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空谈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必须现场运行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没掐表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按5+3彩排两遍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D·学徒（≥60）：参与汇报——跟做保底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C·操作员（≥70）：模块讲解——基础完成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B·组长（≥80）：答辩主力——标准达成+帮带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A·师傅（≥90）：脱稿架构讲解——进阶拓展+费曼讲解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步骤1：分段验收: 采集→处理→报告模块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步骤2：checklist自查互查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步骤3：组内预答辩互问热身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综合系统演示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21:00:50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21:00:50 温度95℃/压力0.5MPa超危险线, 立即停机!  ×2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报告生成复用 w10()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项目终验联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调与预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现场装依赖 · 只讲不演示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排错题：出现「现场装依赖」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原因：没提前试跑；解决：答辩机预演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checklist三清单：功能/规范/演示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知识：checklist三清单：功能/规范/演；答辩结构：1分工+5演示+2总结；bad-case预案：评委必点脏数据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交付：工单Z《综合项目终验与预答辩》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checklist三清单｜checklist=飞行前检查单：功能/规范/演示逐项打勾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答辩四段结构｜四段=时间盒：1分钟分工+5分钟演示+2分钟总结+提问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bad-case预案｜bad-case预案=答辩灭火器：评委必点脏数据，提前备好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贡献表与Git核对｜贡献表对Git=口头对台账——谁写的代码提交记录说了算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个人问责制｜个人问责=随机点名必答题——组分与个人分分开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时间盒弹性｜时间盒弹性=人多就切5+3分钟——超时打断不解释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误区：靠'我觉得都OK'——清单逐项过，漏一项扣一项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误区：先讲代码再演示——先跑通给结果，评委要有耐心阈值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误区：崩溃不扣死分，崩溃无预案才扣——兜底体现工程态度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现场装依赖 → 答辩机预演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只讲不演示 → 必须现场运行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超时 → 按5+3彩排两遍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及格线我能过吗——可演示版本+checklist过半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优秀线我够吗——终验全过+演示材料课前提交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技能点我能独立做出来吗——对照技能点页 S1–S4 逐条自测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checklist三清单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误区：靠'我觉得都OK'——清单逐项过，漏一项扣一项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checklist=飞行前检查单：功能/规范/演示逐项打勾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终验不靠记忆靠清单——工程师与飞行员同一套方法 □全部功能可跑 □PEP8规范 □运行截图齐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答辩四段结构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误区：先讲代码再演示——先跑通给结果，评委要有耐心阈值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四段=时间盒：1分钟分工+5分钟演示+2分钟总结+提问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小组答辩8分钟时间盒——超时直接打断 '我们4人分工…→现在演示…→收获是…'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bad-case预案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误区：崩溃不扣死分，崩溃无预案才扣——兜底体现工程态度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bad-case预案=答辩灭火器：评委必点脏数据，提前备好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预演评委可能的刁钻输入——温度=abc不能崩 输入'温度=abc'→友好报错并提示重输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