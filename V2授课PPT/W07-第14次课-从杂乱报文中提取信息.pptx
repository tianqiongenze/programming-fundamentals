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7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64" r:id="rId15"/>
    <p:sldId id="280" r:id="rId32"/>
    <p:sldId id="308" r:id="rId60"/>
    <p:sldId id="367" r:id="rId18"/>
    <p:sldId id="368" r:id="rId19"/>
    <p:sldId id="369" r:id="rId20"/>
    <p:sldId id="316" r:id="rId68"/>
    <p:sldId id="335" r:id="rId87"/>
    <p:sldId id="362" r:id="rId114"/>
    <p:sldId id="363" r:id="rId115"/>
    <p:sldId id="365" r:id="rId16"/>
    <p:sldId id="366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5" Type="http://schemas.openxmlformats.org/officeDocument/2006/relationships/slide" Target="slides/slide2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32" Type="http://schemas.openxmlformats.org/officeDocument/2006/relationships/slide" Target="slides/slide3.xml"/><Relationship Id="rId60" Type="http://schemas.openxmlformats.org/officeDocument/2006/relationships/slide" Target="slides/slide4.xml"/><Relationship Id="rId68" Type="http://schemas.openxmlformats.org/officeDocument/2006/relationships/slide" Target="slides/slide5.xml"/><Relationship Id="rId87" Type="http://schemas.openxmlformats.org/officeDocument/2006/relationships/slide" Target="slides/slide6.xml"/><Relationship Id="rId114" Type="http://schemas.openxmlformats.org/officeDocument/2006/relationships/slide" Target="slides/slide7.xml"/><Relationship Id="rId1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开场30秒：本次课《从杂乱报文中提取信息》，80分钟＝2课时×40分钟。课前已发工单+starter+微课知识卡，资讯·计划线上完成。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情境说书（30秒，口头讲，不必逐字念）：车间数据三张皮：设备报文、CSV台账、JSON配置互不相认。集团数据中台来函要求统一格式上报——工单1.1：写一个格式转换器，让三种方言说普通话。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工单发布话术：'精密制造事业部发来工单1.1《工业数据格式转换工具》，及格线是≥，优秀线看A层标准'——念完发starter。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项目4 持校园卡，记生活账 | 预习知识点：列表操作(增删改查/切片)；列表推导式 | 课中检查知识点：能管理设备列表；能用[x*2 for x in data]变换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从杂乱报文中提取信息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第七周 · 第14次课（2课时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CE（全程主编辑器）+ Jupyter（每周notebook）+ Git/GitHub（每周提交）</a:t>
            </a:r>
          </a:p>
        </p:txBody>
      </p:sp>
      <p:pic>
        <p:nvPicPr>
          <p:cNvPr id="7" name="Picture 6" descr="W7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车间数据三张皮：设备报文、CSV台账、JSON配置互不相认。集团数据中台来函要求统一格式上报——工单1.1：写一个格式转换器，让三种方言说普通话。</a:t>
            </a:r>
          </a:p>
        </p:txBody>
      </p:sp>
      <p:pic>
        <p:nvPicPr>
          <p:cNvPr id="9" name="Picture 8" descr="W7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从杂乱报文中提取信息（1）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字符串处理：split/join/strip/replace；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正则表达式基础：re.match、re.search、re.findall、常用模式（数字、字母、中文）；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工单项目1.1实操：编写工业数据格式转换工具（正则提取关键字段+容器组织数据）；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综合演练：解析“设备ID:压力值:状态”格式的报文串。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实施任务：工单1.1《工业数据格式转换工具》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批量转换文件并统计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异常报文(缺字段/乱序)容错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决策矩阵拍照入工单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≥2种格式+正则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批量转换+统计+规范率≥90%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完成工单项目1.1《工业数据格式转换工具》：及格标准处理≥2种格式+使用正则；优秀标准≥3种格式+结构清晰+规范率≥90%；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完成10条报文解析练习；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预习文件读写操作。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下次课预告（第8周）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with读写CSV与JSON——应用：见工单st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with语句的好处是什么？utf-8乱码怎么处理？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本讲对应工单：《程序设计基础》分层任务工单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本课重难点地图 · 老师划重点（动手前必看）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13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动手前先看这页：重点要会什么、难点会卡在哪、哪里最容易错、学没学会怎么自测。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1783080"/>
            <a:ext cx="5532120" cy="312724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1783080"/>
            <a:ext cx="553212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1819656"/>
            <a:ext cx="53126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重点 · 必会必考（本课知识点全景）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2267712"/>
            <a:ext cx="5257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列表与字典选型｜列表=点名册(有序可重复)；字典=查号台(按键秒查O(1))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集合与元组｜集合=去重筐(无序)；元组=封条箱子(装好不许改)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正则八积木｜正则=给文本画的'通缉画像'：\d数字\w字符+至少1 []任选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re三方法｜match=从头核身份/findall=全城搜人/search=全…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r前缀防转义｜r前缀='原样念'：\d不被Python抢先翻译一层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统一schema｜统一schema=进港集装箱规格统一——码头只认一种箱型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44768" y="1783080"/>
            <a:ext cx="5586984" cy="148132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44768" y="1783080"/>
            <a:ext cx="5586984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54496" y="1819656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难点 · 易卡壳（下一页逐个击破）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2231136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▲ 选型口诀：按顺序用列表按名字找用字典——选错全程序别扭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误区：元组作字典键可以列表不行——可变对象不可哈希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误区：想一次写出完美正则——先匹配简单版再逐步收紧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3401568"/>
            <a:ext cx="558698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3401568"/>
            <a:ext cx="5586984" cy="365760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54496" y="3438144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高频易错 · 动手前先记住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849624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✗ 正则把整行吞了 → 用[\d.]+限定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键名带空格 → 切分后strip()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str当float用 → 数值字段float()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047488"/>
            <a:ext cx="11274552" cy="120700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5047488"/>
            <a:ext cx="1127455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5084064"/>
            <a:ext cx="11055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达标自问 · 学没学会，问自己这四句（当堂评分同口径）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" y="5458968"/>
            <a:ext cx="109728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及格线我能过吗——≥2种格式+正则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优秀线我够吗——批量转换+统计+规范率≥90%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③ 技能点我能独立做出来吗——正则解析报文键值对；CSV/JSON双格式解析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④ 报错了先查「常见错误速查」页再举手——错误信息逐字读一遍，八成自己能修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B7280"/>
                </a:solidFill>
                <a:latin typeface="微软雅黑"/>
              </a:rPr>
              <a:t>素材来源：同周《第13次课-用容器装下整条产线》知识卡与避坑清单（逐字摘录）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难点逐个击破 · 零基础照做就能会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13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每个难点四步走：先看「为什么容易栽」对号入座 → 记住「一招破解」→ 照「动手验证」做一遍 → 做不出回知识详解页。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17830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17830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1828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难点1：B01 列表与字典选型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选型口诀：按顺序用列表按名字找用字典——选错全程序别扭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34255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255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列表=点名册(有序可重复)；字典=查号台(按键秒查O(1))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10143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10143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设备清单用列表；'编号→温度'台账用字典 devs=['PUMP-03','FAN-02']; t={'PUMP-03':78.5}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3832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33832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3429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难点2：B02 集合与元组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误区：元组作字典键可以列表不行——可变对象不可哈希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255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34255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集合=去重筐(无序)；元组=封条箱子(装好不许改)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0143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10143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设备类型去重；坐标/配置等只读数据 set(['PUMP','PUMP','FAN'])→{'PUMP','FAN'}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49834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49834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难点3：B03 正则八积木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误区：想一次写出完美正则——先匹配简单版再逐步收紧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34255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34255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正则=给文本画的'通缉画像'：\d数字\w字符+至少1 []任选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10143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10143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从日志里抠设备编号/温度——字符串里的寻人启事 r'DEV-\d+' 一眼匹配 DEV-001/DEV-002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承上启下 · 动手前避坑清单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13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本讲是动手冲刺课：先把上周完整讲解里的高频翻车点过一遍，再开工——每条都是历届学生真实踩过的坑。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正则把整行吞了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原因：贪婪.*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解决：用[\d.]+限定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99632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99632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键名带空格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原因：没strip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解决：切分后strip()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973068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3973068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4037076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str当float用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4357116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原因：忘了转换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解决：数值字段float()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B7280"/>
                </a:solidFill>
                <a:latin typeface="微软雅黑"/>
              </a:rPr>
              <a:t>素材来源：同周《第13次课-用容器装下整条产线》知识卡与避坑清单（逐字摘录）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