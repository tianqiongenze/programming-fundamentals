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2" r:id="rId44"/>
    <p:sldId id="294" r:id="rId46"/>
    <p:sldId id="296" r:id="rId48"/>
    <p:sldId id="299" r:id="rId51"/>
    <p:sldId id="302" r:id="rId54"/>
    <p:sldId id="307" r:id="rId59"/>
    <p:sldId id="309" r:id="rId61"/>
    <p:sldId id="310" r:id="rId62"/>
    <p:sldId id="314" r:id="rId66"/>
    <p:sldId id="315" r:id="rId67"/>
    <p:sldId id="316" r:id="rId68"/>
    <p:sldId id="317" r:id="rId69"/>
    <p:sldId id="365" r:id="rId80"/>
    <p:sldId id="366" r:id="rId77"/>
    <p:sldId id="367" r:id="rId75"/>
    <p:sldId id="368" r:id="rId84"/>
    <p:sldId id="369" r:id="rId73"/>
    <p:sldId id="318" r:id="rId70"/>
    <p:sldId id="320" r:id="rId72"/>
    <p:sldId id="322" r:id="rId74"/>
    <p:sldId id="324" r:id="rId76"/>
    <p:sldId id="326" r:id="rId78"/>
    <p:sldId id="327" r:id="rId79"/>
    <p:sldId id="329" r:id="rId81"/>
    <p:sldId id="330" r:id="rId82"/>
    <p:sldId id="331" r:id="rId83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9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31.xml"/><Relationship Id="rId66" Type="http://schemas.openxmlformats.org/officeDocument/2006/relationships/slide" Target="slides/slide32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8.xml"/><Relationship Id="rId72" Type="http://schemas.openxmlformats.org/officeDocument/2006/relationships/slide" Target="slides/slide39.xml"/><Relationship Id="rId73" Type="http://schemas.openxmlformats.org/officeDocument/2006/relationships/slide" Target="slides/slide78.xml"/><Relationship Id="rId74" Type="http://schemas.openxmlformats.org/officeDocument/2006/relationships/slide" Target="slides/slide40.xml"/><Relationship Id="rId75" Type="http://schemas.openxmlformats.org/officeDocument/2006/relationships/slide" Target="slides/slide76.xml"/><Relationship Id="rId76" Type="http://schemas.openxmlformats.org/officeDocument/2006/relationships/slide" Target="slides/slide41.xml"/><Relationship Id="rId77" Type="http://schemas.openxmlformats.org/officeDocument/2006/relationships/slide" Target="slides/slide37.xml"/><Relationship Id="rId78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36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77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1" Type="http://schemas.openxmlformats.org/officeDocument/2006/relationships/slide" Target="slides/slide73.xml"/><Relationship Id="rId115" Type="http://schemas.openxmlformats.org/officeDocument/2006/relationships/slide" Target="slides/slide74.xml"/><Relationship Id="rId116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开场30秒：本次课《一键生成质量日报》，80分钟＝2课时×40分钟。课前已发工单+starter+微课知识卡，资讯·计划线上完成。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情境说书（30秒，口头讲，不必逐字念）：集团质量月检查，要求图文并茂的日报。现在质检照片和统计表还是两个世界——工单1.4：Pillow标注缺陷+reportlab生成PDF质量日报。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详解B1·Pillow四步：先读定义→场景为什么用它→看代码实例→扩展给A层。C/D层掌握前三格，A层加扩展格。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详解B2·rectangle标注框：先读定义→场景为什么用它→看代码实例→扩展给A层。C/D层掌握前三格，A层加扩展格。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详解B3·reportlab三件：先读定义→场景为什么用它→看代码实例→扩展给A层。C/D层掌握前三格，A层加扩展格。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详解B4·中文字体注册：先读定义→场景为什么用它→看代码实例→扩展给A层。C/D层掌握前三格，A层加扩展格。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详解B6·自动生成价值：先读定义→场景为什么用它→看代码实例→扩展给A层。C/D层掌握前三格，A层加扩展格。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现场演示《标注+PDF》：三步走——先整段跑通看结果，再逐行讲关键语句，最后现场改一个参数看输出变化（演10分钟的核心素材）。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工单发布话术：'精密制造事业部发来工单1.4《工业图像处理与报告生成》，及格线是标，优秀线看A层标准'——念完发starter。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错误速查：现场演示第一条——制造「PDF中文空白」，带着学生按'现象→原因→解决'三步排查。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预习知识点：面向对象基础(class/__init__/self)；属性与方法 | 课中检查知识点：能定义Device类并实例化；能解释self的含义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一键生成质量日报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一键生成质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量日报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reportlab三件：Paragraph/Image/Table · 中文字体注册TTFont后setFont——应用：见工单starter与教师参考实现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1.4《工业图像处理与报告生成》——本课工单即考核单元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目标：能够对故障图像进行缺陷标注；能够生成图文并茂的PDF质量报告；代码规范率≥85%。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目标：培养“交付物意识”——程序输出要面向使用者（报告即产品），提升职业化表达素养。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报告的读者是谁？他要先看什么？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悦读启航，领悟人生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面向对象基础(class/__init__/self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属性与方法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课中检查｜上次课（W9）抽查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能with open读写设备日志文件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能逐行解析CSV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题目：报告的读者是谁？他要先看什么？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集团质量月检查，要求图文并茂的日报。现在质检照片和统计表还是两个世界——工单1.4：Pillow标注缺陷+reportlab生成PDF质量日报。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任务背景：集团质量月检查，要求图文并茂的日报。现在质检照片和统计表还是两个世界——工单1.4：Pillow标注缺陷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掌握Pillow图像读写、缩放裁剪与绘制标注的方法；掌握reportlab生成PDF报告的基本流程。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能够对故障图像进行缺陷标注；能够生成图文并茂的PDF质量报告；代码规范率≥85%。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培养“交付物意识”——程序输出要面向使用者（报告即产品），提升职业化表达素养。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对应工单1.4评分：功能40%+技术25%+规范20%+素养15%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知识详解：Pillow四步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Pillow四步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Pillow四步=照片处理流水线：开图→处理→画笔→保存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缺陷图标注/缩放——产线图像处理入门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im=Image.open('p.jpg'); im2=im.resize((800,600))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误区：图像原点在左上角——与数学坐标系上下相反，y往下长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知识详解：rectangle标注框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rectangle标注框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rectangle=画框工具：给[左,上,右,下]四个角坐标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把检测到的缺陷框出来给人看——检测可视化第一手法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draw.rectangle([120,80,260,190], outline='red', width=3)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误区：坐标写反画出反向框——调试先核对左上右下顺序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知识应用（2）：rectangle画框[x1,y1,x2,y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rectangle画框[x1,y1,x2,y2]。在两江智造产线上的用法：见工单starter与教师参考实现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知识详解：reportlab三件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reportlab三件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reportlab三件套=排报纸：Paragraph文字/Image贴图/Table表格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车间日报三大内容块——四段式日报的零件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from reportlab.platypus import Paragraph, Image,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误区：三件不append进story直接build——零件没上流水线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知识详解：中文字体注册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中文字体注册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注册字体=给PDF请翻译：TTFont登记后setFont才说中文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PDF中文方框的解法——系统默认字体不认中文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pdfmetrics.registerFont(TTFont('ZH','ZH_Font.ttf'))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误区：注册名'ZH'与setFont里名字不一致——两处必须对上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四段式=新闻倒金字塔：结论先行→分析→异常→附表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车间日报标准结构——领导只读第一段也能懂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story=[标题, 概览段, 分析图, 异常表, 附表]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误区：把结论埋在最后——评委/领导没耐心翻页找重点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知识详解：自动生成价值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自动生成价值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脚本2分钟出日报 vs 人工排版2小时——一次编写天天受益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自动化的说服力——工单验收'生成&lt;2分钟'硬指标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python make_report.py → report_20260926.pdf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复利思维：自动化省下的时间是持续的——写脚本才是真摸鱼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PDF图文表混排生成——应用：见工单starter与教师参考实现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中文字体注册与使用——应用：见工单starter与教师参考实现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按读者视角组织报告层级——应用：见工单starter与教师参考实现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一键生成质量日报（1）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reportlab基础：画布、字体注册、段落与表格；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图文混排：插入标注图像与统计表格；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工单项目1.4实操：处理设备故障图像（标注缺陷区域）并生成包含图表和图像的PDF报告。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关键代码：标注+PDF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 = ImageDraw.Draw(img.copy())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d.rectangle([120,80,210,120], outline=(255,0,0), width=3)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d.text((120,66), "scratch 9.0mm", fill=(255,0,0))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pdfmetrics.registerFont(TTFont("ZH", "fonts/ZH_Font.ttf"))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doc.build([Paragraph("设备质量日报", st),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RLImage("marked.png", width=120*mm, height=90*mm)])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决策：信息层级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段落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读者关注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排序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概览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明细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附表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本课决策题：决策：信息层级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实施任务：工单1.4《工业图像处理与报告生成》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四段式版式调整(信息层级)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多页报告或自绘封面(冲优)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生成耗时记录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标注完成+PDF可生成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版式专业；美观度≥4/5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标注图 2723 字节（400×300）｜ PDF 56310 字节 / 3 页｜三要素: 图✓/表✓/结论✓｜字号 3 级｜边距 20.0/20.0/20.0/20.0｜对齐 封面标题居中、表格居中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规范率门槛≥80% [达标] ｜ 功能OK ｜ 标注图 400×300 落盘（&gt;1000 字节）+ PDF 可生成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规范率门槛≥85% [达标] ｜ 功能OK ｜ PDF 三要素实测：嵌图 + 表格 + 结论文本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排版实测：中文字体 + ≥3 级字号 + 回读页边距 + 对齐生效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且多页报告（实测页数≥2：封面+概览+明细）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（人工答辩项，机器不代判）排版视觉专业度（观感/留白/配色）——答辩打分；标注框与真实缺陷位置的对应关系（现场核对）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最低合格率 98.14%（二号产线）需当日复盘。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口径: 合格率=合格/产出；达成率=产出/计划。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坏数据不进结果集；报告三要素（图/表/结论）以 PDF 实测为准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工程化项目/w10_daily_report/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src/daily_report/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标注体验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改坐标再画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观察标注变化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能改框位置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图+PDF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画框标注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最简PDF输出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确认中文正常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PDF能打开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图文表三要素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标注缺陷图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PDF标题+结论+图+表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生成并检查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排版规范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封面+多页报告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自绘封面页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概览+明细双页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耗时&lt;2min记录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可直接上交水准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自动邮件发送（smtplib+附件），附测试邮箱配置说明)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四段式版式调整(信息层级)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多页报告或自绘封面(冲优)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生成耗时记录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Image尺寸用width=120*mm等比例，防拉伸变形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生成耗时打印出来：本工单要求&lt;2分钟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PDF文件名带日期：质量日报_0415.pdf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PDF中文空白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字体未注册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registerFont+setFont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文字压住框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y坐标不当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画在框上方y-14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图变形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宽高没等比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按原始比例设宽高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D·学徒（≥60）：标注体验——跟做保底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C·操作员（≥70）：图+PDF——基础完成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B·组长（≥80）：图文表三要素——标准达成+帮带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A·师傅（≥90）：封面+多页报告——进阶拓展+费曼讲解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步骤1：四段式版式调整(信息层级)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步骤2：多页报告或自绘封面(冲优)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步骤3：生成耗时记录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提交物与评分（工单1.4）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学号_姓名_1.4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为自己的报告设计一个封面；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预习网络基础知识（IP、端口、协议）。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已生成 质量日报.pdf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1.4的技能点即其最小实现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微课知识卡：图像缩放与缺陷框标注——应用：见工单starter与教师参考实现（5分钟视频+导学单）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Pillow：open/copy/resize/draw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rectangle画框[x1,y1,x2,y2]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reportlab三件：Paragraph/Image/Table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一键生成质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量日报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Pillow：open/copy/resize/draw · rectangle画框[x1,y1,x2,y2]——应用：见工单starter与教师参考实现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图像缩放与缺陷框标注——应用：见工单starter与教师参考实现 · PDF图文表混排生成——应用：见工单starter与教师参考实现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PDF中文空白 · 文字压住框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本周主题：图像缩放与缺陷框标注——应用：见工单starter与教师参考实现——5分钟视频+导学单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报告的读者是谁？他要先看什么？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排错题：出现「PDF中文空白」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原因：字体未注册；解决：registerFont+setFont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Pillow：open/copy/resize/draw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知识：Pillow：open/copy/res；rectangle画框[x1,y1,x2；reportlab三件：Paragrap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技能：图像缩放与缺陷框标注——应用：见工单starter与教师参考实现；PDF图文表混排生成——应用：见工单starter与教师参考实现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交付：工单1.4《工业图像处理与报告生成》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连接虚拟PLC读取寄存器——应用：见工单star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MQTT主题device/+/status中的+是什么意思？寄存器读数678代表多少℃？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w10_daily_report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标注图 2723 字节（400×300）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PDF 56310 字节 / 3 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三要素: 图✓/表✓/结论✓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字号 3 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边距 20.0/20.0/20.0/20.0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标注图 400×300 落盘（&gt;1000 字节）+ PDF 可生成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PDF 三要素实测：嵌图 + 表格 + 结论文本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排版实测：中文字体 + ≥3 级字号 + 回读页边距 + 对齐生效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且多页报告（实测页数≥2：封面+概览+明细）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w10_daily_report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项目：02-程序设计基础/工程化项目/w10_daily_report/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工具/ppt97/evidence/w10_daily_report/（capture97.py 真跑捕获，未改写数字）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w10_daily_report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marked_defect.png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output/marked_defect.png ｜ 2 KB ｜ run.py 本次落盘</a:t>
            </a:r>
          </a:p>
        </p:txBody>
      </p:sp>
      <p:pic>
        <p:nvPicPr>
          <p:cNvPr id="19" name="Picture 18" descr="marked_de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6808" y="1993392"/>
            <a:ext cx="5437632" cy="4078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