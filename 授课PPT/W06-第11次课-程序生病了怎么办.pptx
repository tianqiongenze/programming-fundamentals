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3" r:id="rId15"/>
    <p:sldId id="264" r:id="rId16"/>
    <p:sldId id="266" r:id="rId18"/>
    <p:sldId id="267" r:id="rId19"/>
    <p:sldId id="271" r:id="rId23"/>
    <p:sldId id="273" r:id="rId25"/>
    <p:sldId id="274" r:id="rId26"/>
    <p:sldId id="275" r:id="rId27"/>
    <p:sldId id="276" r:id="rId28"/>
    <p:sldId id="277" r:id="rId29"/>
    <p:sldId id="278" r:id="rId30"/>
    <p:sldId id="280" r:id="rId32"/>
    <p:sldId id="281" r:id="rId33"/>
    <p:sldId id="282" r:id="rId34"/>
    <p:sldId id="287" r:id="rId39"/>
    <p:sldId id="289" r:id="rId41"/>
    <p:sldId id="292" r:id="rId44"/>
    <p:sldId id="294" r:id="rId46"/>
    <p:sldId id="296" r:id="rId48"/>
    <p:sldId id="297" r:id="rId49"/>
    <p:sldId id="299" r:id="rId51"/>
    <p:sldId id="301" r:id="rId53"/>
    <p:sldId id="306" r:id="rId58"/>
    <p:sldId id="308" r:id="rId60"/>
    <p:sldId id="309" r:id="rId61"/>
    <p:sldId id="311" r:id="rId63"/>
    <p:sldId id="313" r:id="rId65"/>
    <p:sldId id="315" r:id="rId67"/>
    <p:sldId id="316" r:id="rId68"/>
    <p:sldId id="364" r:id="rId79"/>
    <p:sldId id="365" r:id="rId81"/>
    <p:sldId id="317" r:id="rId69"/>
    <p:sldId id="319" r:id="rId71"/>
    <p:sldId id="321" r:id="rId73"/>
    <p:sldId id="323" r:id="rId75"/>
    <p:sldId id="325" r:id="rId77"/>
    <p:sldId id="326" r:id="rId78"/>
    <p:sldId id="328" r:id="rId80"/>
    <p:sldId id="330" r:id="rId82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62" r:id="rId114"/>
    <p:sldId id="363" r:id="rId11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3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2" Type="http://schemas.openxmlformats.org/officeDocument/2006/relationships/slide" Target="slides/slide18.xml"/><Relationship Id="rId33" Type="http://schemas.openxmlformats.org/officeDocument/2006/relationships/slide" Target="slides/slide19.xml"/><Relationship Id="rId34" Type="http://schemas.openxmlformats.org/officeDocument/2006/relationships/slide" Target="slides/slide20.xml"/><Relationship Id="rId39" Type="http://schemas.openxmlformats.org/officeDocument/2006/relationships/slide" Target="slides/slide21.xml"/><Relationship Id="rId41" Type="http://schemas.openxmlformats.org/officeDocument/2006/relationships/slide" Target="slides/slide22.xml"/><Relationship Id="rId44" Type="http://schemas.openxmlformats.org/officeDocument/2006/relationships/slide" Target="slides/slide23.xml"/><Relationship Id="rId46" Type="http://schemas.openxmlformats.org/officeDocument/2006/relationships/slide" Target="slides/slide24.xml"/><Relationship Id="rId48" Type="http://schemas.openxmlformats.org/officeDocument/2006/relationships/slide" Target="slides/slide25.xml"/><Relationship Id="rId49" Type="http://schemas.openxmlformats.org/officeDocument/2006/relationships/slide" Target="slides/slide26.xml"/><Relationship Id="rId51" Type="http://schemas.openxmlformats.org/officeDocument/2006/relationships/slide" Target="slides/slide27.xml"/><Relationship Id="rId53" Type="http://schemas.openxmlformats.org/officeDocument/2006/relationships/slide" Target="slides/slide28.xml"/><Relationship Id="rId58" Type="http://schemas.openxmlformats.org/officeDocument/2006/relationships/slide" Target="slides/slide29.xml"/><Relationship Id="rId60" Type="http://schemas.openxmlformats.org/officeDocument/2006/relationships/slide" Target="slides/slide30.xml"/><Relationship Id="rId61" Type="http://schemas.openxmlformats.org/officeDocument/2006/relationships/slide" Target="slides/slide31.xml"/><Relationship Id="rId63" Type="http://schemas.openxmlformats.org/officeDocument/2006/relationships/slide" Target="slides/slide32.xml"/><Relationship Id="rId65" Type="http://schemas.openxmlformats.org/officeDocument/2006/relationships/slide" Target="slides/slide33.xml"/><Relationship Id="rId67" Type="http://schemas.openxmlformats.org/officeDocument/2006/relationships/slide" Target="slides/slide34.xml"/><Relationship Id="rId68" Type="http://schemas.openxmlformats.org/officeDocument/2006/relationships/slide" Target="slides/slide35.xml"/><Relationship Id="rId69" Type="http://schemas.openxmlformats.org/officeDocument/2006/relationships/slide" Target="slides/slide38.xml"/><Relationship Id="rId71" Type="http://schemas.openxmlformats.org/officeDocument/2006/relationships/slide" Target="slides/slide39.xml"/><Relationship Id="rId73" Type="http://schemas.openxmlformats.org/officeDocument/2006/relationships/slide" Target="slides/slide40.xml"/><Relationship Id="rId75" Type="http://schemas.openxmlformats.org/officeDocument/2006/relationships/slide" Target="slides/slide41.xml"/><Relationship Id="rId77" Type="http://schemas.openxmlformats.org/officeDocument/2006/relationships/slide" Target="slides/slide42.xml"/><Relationship Id="rId78" Type="http://schemas.openxmlformats.org/officeDocument/2006/relationships/slide" Target="slides/slide43.xml"/><Relationship Id="rId79" Type="http://schemas.openxmlformats.org/officeDocument/2006/relationships/slide" Target="slides/slide36.xml"/><Relationship Id="rId80" Type="http://schemas.openxmlformats.org/officeDocument/2006/relationships/slide" Target="slides/slide44.xml"/><Relationship Id="rId81" Type="http://schemas.openxmlformats.org/officeDocument/2006/relationships/slide" Target="slides/slide37.xml"/><Relationship Id="rId82" Type="http://schemas.openxmlformats.org/officeDocument/2006/relationships/slide" Target="slides/slide45.xml"/><Relationship Id="rId84" Type="http://schemas.openxmlformats.org/officeDocument/2006/relationships/slide" Target="slides/slide46.xml"/><Relationship Id="rId85" Type="http://schemas.openxmlformats.org/officeDocument/2006/relationships/slide" Target="slides/slide47.xml"/><Relationship Id="rId86" Type="http://schemas.openxmlformats.org/officeDocument/2006/relationships/slide" Target="slides/slide48.xml"/><Relationship Id="rId87" Type="http://schemas.openxmlformats.org/officeDocument/2006/relationships/slide" Target="slides/slide49.xml"/><Relationship Id="rId88" Type="http://schemas.openxmlformats.org/officeDocument/2006/relationships/slide" Target="slides/slide50.xml"/><Relationship Id="rId89" Type="http://schemas.openxmlformats.org/officeDocument/2006/relationships/slide" Target="slides/slide51.xml"/><Relationship Id="rId90" Type="http://schemas.openxmlformats.org/officeDocument/2006/relationships/slide" Target="slides/slide52.xml"/><Relationship Id="rId91" Type="http://schemas.openxmlformats.org/officeDocument/2006/relationships/slide" Target="slides/slide53.xml"/><Relationship Id="rId92" Type="http://schemas.openxmlformats.org/officeDocument/2006/relationships/slide" Target="slides/slide54.xml"/><Relationship Id="rId93" Type="http://schemas.openxmlformats.org/officeDocument/2006/relationships/slide" Target="slides/slide55.xml"/><Relationship Id="rId94" Type="http://schemas.openxmlformats.org/officeDocument/2006/relationships/slide" Target="slides/slide56.xml"/><Relationship Id="rId95" Type="http://schemas.openxmlformats.org/officeDocument/2006/relationships/slide" Target="slides/slide57.xml"/><Relationship Id="rId96" Type="http://schemas.openxmlformats.org/officeDocument/2006/relationships/slide" Target="slides/slide58.xml"/><Relationship Id="rId97" Type="http://schemas.openxmlformats.org/officeDocument/2006/relationships/slide" Target="slides/slide59.xml"/><Relationship Id="rId98" Type="http://schemas.openxmlformats.org/officeDocument/2006/relationships/slide" Target="slides/slide60.xml"/><Relationship Id="rId99" Type="http://schemas.openxmlformats.org/officeDocument/2006/relationships/slide" Target="slides/slide61.xml"/><Relationship Id="rId100" Type="http://schemas.openxmlformats.org/officeDocument/2006/relationships/slide" Target="slides/slide62.xml"/><Relationship Id="rId101" Type="http://schemas.openxmlformats.org/officeDocument/2006/relationships/slide" Target="slides/slide63.xml"/><Relationship Id="rId102" Type="http://schemas.openxmlformats.org/officeDocument/2006/relationships/slide" Target="slides/slide64.xml"/><Relationship Id="rId103" Type="http://schemas.openxmlformats.org/officeDocument/2006/relationships/slide" Target="slides/slide65.xml"/><Relationship Id="rId104" Type="http://schemas.openxmlformats.org/officeDocument/2006/relationships/slide" Target="slides/slide66.xml"/><Relationship Id="rId105" Type="http://schemas.openxmlformats.org/officeDocument/2006/relationships/slide" Target="slides/slide67.xml"/><Relationship Id="rId106" Type="http://schemas.openxmlformats.org/officeDocument/2006/relationships/slide" Target="slides/slide68.xml"/><Relationship Id="rId107" Type="http://schemas.openxmlformats.org/officeDocument/2006/relationships/slide" Target="slides/slide69.xml"/><Relationship Id="rId108" Type="http://schemas.openxmlformats.org/officeDocument/2006/relationships/slide" Target="slides/slide70.xml"/><Relationship Id="rId109" Type="http://schemas.openxmlformats.org/officeDocument/2006/relationships/slide" Target="slides/slide71.xml"/><Relationship Id="rId110" Type="http://schemas.openxmlformats.org/officeDocument/2006/relationships/slide" Target="slides/slide72.xml"/><Relationship Id="rId114" Type="http://schemas.openxmlformats.org/officeDocument/2006/relationships/slide" Target="slides/slide73.xml"/><Relationship Id="rId115" Type="http://schemas.openxmlformats.org/officeDocument/2006/relationships/slide" Target="slides/slide7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开场30秒：本次课《程序生病了怎么办》，80分钟＝2课时×40分钟。课前已发工单+starter+微课知识卡，资讯·计划线上完成。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目录页：给学生'地图感'——翻到哪部分干什么，30秒。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分支详解二：强调'技能=今天的验收口径'，评价权重即打分表。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讲10→演10→模仿10→练习10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凌晨的断电让采集程序崩在中途，丢了半小时数据。王主任发火：'程序不能一摔就死。'——工单0.5：异常处理+日志，让程序'摔了能爬起来还留下案发记录'（本周中期诊断）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详解B1·异常是对象：先读定义→场景为什么用它→看代码实例→扩展给A层。C/D层掌握前三格，A层加扩展格。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详解B2·try/except/else/finally：先读定义→场景为什么用它→看代码实例→扩展给A层。C/D层掌握前三格，A层加扩展格。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详解B3·精确捕获：先读定义→场景为什么用它→看代码实例→扩展给A层。C/D层掌握前三格，A层加扩展格。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详解B4·禁裸except：先读定义→场景为什么用它→看代码实例→扩展给A层。C/D层掌握前三格，A层加扩展格。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应用页4：把知识点放回产线场景——先看代码输出，再回看定义，强化'学以致用'。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详解B5·logging三级：先读定义→场景为什么用它→看代码实例→扩展给A层。C/D层掌握前三格，A层加扩展格。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详解B6·finally收尾：先读定义→场景为什么用它→看代码实例→扩展给A层。C/D层掌握前三格，A层加扩展格。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技能点＝今天'做完你应该会'，逐条对应工单步骤与评分点。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现场演示《健壮读取》：三步走——先整段跑通看结果，再逐行讲关键语句，最后现场改一个参数看输出变化（演10分钟的核心素材）。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流程图页：可快速带过，作为'我们现在在哪一步'的路标。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工单发布话术：'精密制造事业部发来工单0.5《健壮的工业数据采集程序》，及格线是≥，优秀线看A层标准'——念完发starter。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错误速查：现场演示第一条——制造「裸except吞异常」，带着学生按'现象→原因→解决'三步排查。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项目3 砥砺奋斗，成就精彩 | 预习知识点：模块导入(import)；标准库random/time；异常处理try-except | 课中检查知识点：能import random生成测试数据；能用try-except捕获文件异常（中期诊断周）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提醒：运行截图/实拍照片贴到工单过程记录栏，作为过程性考核证据。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部分小结：评价收束。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学习策略：四个方法贯穿全学期——第一周讲透，以后每周复用。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进阶路线：把一门课放进三年坐标系——学完这周能走到哪。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达标预期：四层的预期比例——D层100%保底是底线承诺。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预习清单：三项任务5-15分钟——闭环从课前开始。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口袋书：三条概念卡——期末汇总成全册，学生自查工具。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好差对比：两份同功能输出对比——规范分不是白给的。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场景应对：四种状态四种动作——课堂自主运转的说明书。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微课资源：四个自学入口——补弱看微课，拓强看多解法。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答辩预演：每周2分钟练一环——期末不慌。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实录清单：过程性考核的取证清单——学生自查，教师抽查。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Python编程基础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程序生病了怎么办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第六周 · 第11次课（2课时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CE（全程主编辑器）+ Jupyter（每周notebook）+ Git/GitHub（每周提交）</a:t>
            </a:r>
          </a:p>
        </p:txBody>
      </p:sp>
      <p:pic>
        <p:nvPicPr>
          <p:cNvPr id="7" name="Picture 6" descr="W6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性质·岗位·证书：为什么学这门课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四步法节奏：讲-演-模仿-练习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目标+两江智造本课剧情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讲10′+演10′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基础知识大卡+现场演示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模仿与练习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10′+10′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跟做保底→独立完成（工单分层）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三层质检·当堂评分·课后任务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资讯·计划已于课前线上完成——课堂从决策/演示直接开始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74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本课目录（结构速览）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①课程定位：定位/知识地图/课证赛岗——为什么学这门课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②课堂流程：80分钟时间盒/分层节奏——今天怎么安排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③目标与情境：三维目标/剧情拆解/随堂自测——学什么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④知识精讲：知识卡×应用×深化×代码走读——怎么教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⑤任务实施：工单/四层任务/避坑/核对清单——怎么做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0000" y="55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000" y="54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⑥检查评价+⑦拓展：质检/评分/工具箱/一图流——怎么收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74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本课在课程体系中的位置（课程标准摘录）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74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课程定位：Python编程基础（课程标准摘录）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专业核心基础课：面向零基础新生的编程第一课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工业数据采集技术员、边缘计算运维、平台运维员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Python开发（工信部）、AI应用实践、企业应用实施工程师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前：计算机文化基础 → 本课(第1-12周) → 后：AI应用基础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74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程序生病了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怎么办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异常=运行时错误对象；类型即线索——应用：见工单starter与教师参考实现 · try/except/else/finally四段结构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精确捕获：FileNotFoundError/ValueError · 禁止裸except(吞Ctrl+C)——应用：见工单starter与教师参考实现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配置双输出日志(控制台+文件)——应用：见工单starter与教师参考实现 · 捕获多类型异常并分级记录——应用：见工单starter与教师参考实现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74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技能线：配置双输出日志(控制台+文件)——应用：见工单starter与教师参考实现；捕获多类型异常并分级记录——应用：见工单starter与教师参考实现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3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74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精密制造事业部：工业数据采集技术员、边缘计算运维员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0.5《健壮的工业数据采集程序》——本课工单即考核单元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Python开发职业技能等级证书（工信部）——本课对应初级操作题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世界职业院校技能大赛（人工智能赛道）数据采集/处理赛项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74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80分钟时间盒与个人节奏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74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复习检查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课前5分钟：代码听写/找错微练习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18min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精讲原理与工业应用背景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18min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教师实时代码演示（关键步骤慢放）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模仿·练习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31min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跟做→独立完成小任务（人人有产出）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8min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当堂评分 + 避坑清单更新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0000" y="605800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共80分钟（四步法）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74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带着目标进课堂（Predict·预测）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74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目标：掌握try/except/finally异常处理结构；掌握logging日志模块的基本使用；了解程序调试的常用方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74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目标：能够编写捕获≥3种异常并记录日志的健壮采集程序；能够使用日志定位问题；代码规范率≥80%。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达标线：代码能跑+输出符合工单样例=过关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74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目标：树立“程序会出错”的工程危机意识，培养防患于未然的健壮性设计习惯。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怎么养：规范命名/及时提交/报错必究——每个工单都在练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达标线：提交记录连续+命名规范=过关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74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finally块无论是否异常都执行吗？裸except为什么禁止？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预习微课已观看；跟打练习截图已交；PyCharm CE环境正常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74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《Python程序设计项目化教》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项目3 砥砺奋斗，成就精彩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模块导入(import)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标准库random/time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0000" y="5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0000" y="494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异常处理try-except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课中检查｜上次课（W5）抽查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能封装告警判断为函数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58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00000" y="362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50000" y="354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能说明return的作用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00000" y="438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74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题目：finally块无论是否异常都执行吗？裸except为什么禁止？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常见错误：背概念不看场景；看到代码就慌，先读注释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本课回收：这道题的考点会在知识卡X和随堂自测中再次出现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74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凌晨的断电让采集程序崩在中途，丢了半小时数据。王主任发火：'程序不能一摔就死。'——工单0.5：异常处理+日志，让程序'摔了能爬起来还留下案发记录'（本周中期诊断）。</a:t>
            </a:r>
          </a:p>
        </p:txBody>
      </p:sp>
      <p:pic>
        <p:nvPicPr>
          <p:cNvPr id="9" name="Picture 8" descr="W6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74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任务背景：凌晨的断电让采集程序崩在中途，丢了半小时数据。王主任发火：'程序不能一摔就死。'——工单0.5：异常处理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冲突点：产线数据量大/格式杂/时限紧——手工做不完，必须编程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决策点：先做什么再做什么？数据从哪来？输出给谁看？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带着这三个问题进入知识精讲——每个知识点都是解药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74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三维目标 → 怎么算达标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掌握try/except/finally异常处理结构；掌握logging日志模块的基本使用；了解程序调试的常用方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能够编写捕获≥3种异常并记录日志的健壮采集程序；能够使用日志定位问题；代码规范率≥80%。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树立“程序会出错”的工程危机意识，培养防患于未然的健壮性设计习惯。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达标口径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对应工单0.5评分：功能40%+技术25%+规范20%+素养15%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74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详解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74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知识详解：异常是对象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异常是对象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异常=程序出错时扔出的'事故报告单'，类型名即线索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读文件失败/除零——崩溃前的最后信号，接住就能救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ZeroDivisionError/ValueError/FileNotFoundError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误区：从最后一行往上读栈——错误类型→说明→行号倒着看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74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知识详解：try/except/else/fina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try/except/else/finally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try=试做/except=出事接住/else=没出事才做/finally=必做收尾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采集主循环的防护壳——单点出错不能停整条产线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try: read() except FileNotFoundError: 默认值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误区：把大段代码塞进try——只包会出错的那几句，窄包才好查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74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知识详解：精确捕获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精确捕获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except接具体类型=对症下药——一个except管一种病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缺文件用默认值/类型错提示重输——不同错误不同对策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except FileNotFoundError: … except ValueError: …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误区：父类异常写前面会截胡后面所有——从小到大排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74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知识详解：禁裸except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禁裸except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裸except=把警报器全拆了——连Ctrl+C都吞程序杀不死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新手最危险写法：except: pass——错误静默埋雷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except Exception as e: print(e) 至少留痕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误区：以为吞错程序更稳——恰恰相反，吞错让bug藏到最深处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74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知识应用（4）：禁止裸except(吞Ctrl+C)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禁止裸except(吞Ctrl+C)。在两江智造产线上的用法：见工单starter与教师参考实现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74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知识详解：logging三级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logging三级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logging=车间广播系统：INFO日常/WARNING注意/ERROR出事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print混在结果里没法关——logging按级分流可开关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logging.error(f'设备{code}连接失败')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误区：忘basicConfig看不见输出——先配级别再打日志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74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知识详解：finally收尾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finally收尾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finally=无论成败必做的鞠躬——关文件断连接写统计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资源不泄漏：采集崩了连接也得断干净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finally: f.close() ——或直接用with替代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误区：with open就是自动版finally——优先with，finally兜底非with场景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74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配置双输出日志(控制台+文件)——应用：见工单starter与教师参考实现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捕获多类型异常并分级记录——应用：见工单starter与教师参考实现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输出采集统计(成功/跳过/失败)——应用：见工单starter与教师参考实现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脏数据写入bad_records备查——应用：见工单starter与教师参考实现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74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程序生病了怎么办（1）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异常的概念与常见类型：ValueError、FileNotFoundError、TypeError；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try/except/else/finally结构；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异常的捕获策略：精确捕获vs宽泛捕获；raise主动抛出。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74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关键代码：健壮读取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try: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t, p = line.split(","); float(t); float(p)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log.info("第%d条成功:%s", i, line); ok += 1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except ValueError: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log.warning("脏数据跳过:%r", line); skip += 1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finally: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pass                       # 收尾:写统计/关资源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74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课堂教法四步法（每课时40分钟）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96000" y="2600000"/>
            <a:ext cx="25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讲10min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3496000" y="2600000"/>
            <a:ext cx="25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演10min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6000" y="2600000"/>
            <a:ext cx="250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模仿10min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96000" y="2600000"/>
            <a:ext cx="2500000" cy="15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练习10min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0000" y="46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PRIMM融合：预测→运行→研究→修改→创造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74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步骤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74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本课决策题：课堂教法：四步法（第1-6周）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问②值吗——开发时间/运行速度/可维护性三角权衡（工程账）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74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实施任务：工单0.5《健壮的工业数据采集程序》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logging三级日志(INFO/WARN/ERROR)配置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捕获FileNotFoundError/ValueError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finally完整结构1处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≥2种异常+基本日志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≥3种异常+日志可定位到行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74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采集统计: 成功3 跳过2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74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项目位置与一键运行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工程化项目/w06_robust_collector/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run.py          # 输出 output/report.txt + result.json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-m pytest -q    # 全量测试应全绿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国标与 TOGAF 落地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GB/T 9385 需求规格 / 15532 测试 / 8567 文档 / 8566 过程组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TOGAF 四域：业务 · 数据 · 应用 · 技术架构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docs/07 ADR-001 架构决策记录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目录结构（23 个文件）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config/rules.yaml      规则外置：改配置不改代码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src/robust_collector/  config · core · io_utils · report · pipeline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tests/      正常 / 边界 / 异常三档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验收口径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pytest 全绿；run.py 产出报告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改配置不改代码；二次运行结果一致（种子固定）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8 份过程文档齐全 → 可直接构成答辩材料链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74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故障注入体验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删数据文件触发异常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看日志ERROR行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恢复文件再跑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能读日志定位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74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基础捕获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捕获文件缺失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捕获转换错误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WARNING记录跳过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2异常+基本日志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74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完整健壮程序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日志双输出配置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try/except/finally完整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统计输出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3异常+finally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74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断点续采+bad_records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脏数据写csv备查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异常后从断点继续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日志带行号定位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3异常+可定位日志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(A层加码: 脏数据自动写入bad_records.csv，附统计（成功/跳过/失败）)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74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logging三级日志(INFO/WARN/ERROR)配置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31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2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31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捕获FileNotFoundError/ValueError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7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7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66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finally完整结构1处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禁止裸except:——会吞掉Ctrl+C等一切异常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FileHandler加encoding='utf-8'防中文乱码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except里至少记ERROR，别pass装没事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74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裸except吞异常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连Ctrl+C都拦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写明异常类型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日志中文乱码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编码缺省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FileHandler(encoding='utf-8')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except里pass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错误被掩盖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至少log.error记录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74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D·学徒（≥60）：故障注入体验——跟做保底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C·操作员（≥70）：基础捕获——基础完成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B·组长（≥80）：完整健壮程序——标准达成+帮带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A·师傅（≥90）：断点续采+bad_records——进阶拓展+费曼讲解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规则：每人按工单勾选自己的层；每4周按达标情况动态升降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74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输出格式符合工单样例（对齐/单位/小数位）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文件命名：学号_姓名_工单号.py（不对=扣规范分）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运行截图已贴工单过程记录栏（过程性证据）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conda环境正确（提示符显示(py02）再运行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74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74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74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提交物与评分（工单0.5）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学号_姓名_0.5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74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完成工单项目0.5《健壮的工业数据采集程序》：及格标准处理≥2种异常+基本日志；优秀标准≥3种异常+try/except/finally完整+日志可追踪；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完成中期自评表与学习计划修订；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预习列表与字典容器。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74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工匠精神：规范命名、及时保存、报错必究的编码习惯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工程伦理：数据安全与隐私保护, 不抄代码、引用注明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协作素养：ABCD角色轮换履职, 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74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采集统计: 成功3 跳过2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74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74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pip装包很慢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配清华镜像：pip config set global.index-url https://pypi.tuna.tsinghua.edu.cn/simple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Jupyter启动不了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先conda activate py02再jupyter notebook；看报错第一行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代码能跑但不规范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对照PEP 8卡：snake_case命名+4空格缩进+f-string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74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0.5任务书——步骤/及格线/评分细则都在里面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学生代码框架/——TODO注释即步骤提示，未填也能跑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Jupyter实训/——本周notebook师生版，先跑教师版看答案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做完按Ctrl+K提交推送——每周至少1次，工程素养分依据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74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检查与评价 · 小结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2800000" cy="42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3300000"/>
            <a:ext cx="28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0000" y="4300000"/>
            <a:ext cx="28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部分小结</a:t>
            </a:r>
          </a:p>
        </p:txBody>
      </p:sp>
      <p:sp>
        <p:nvSpPr>
          <p:cNvPr id="8" name="Rectangle 7"/>
          <p:cNvSpPr/>
          <p:nvPr/>
        </p:nvSpPr>
        <p:spPr>
          <a:xfrm>
            <a:off x="3900000" y="2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80000" y="19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三层质检：自检→互查签字→教师抽查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00000" y="27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80000" y="26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评分四级量表+四权重已明确，24小时内平台反馈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00000" y="34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80000" y="33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课后任务+下次课预告形成学习闭环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74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74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车间设备台账还靠Excel手抄，格式天天错、查找靠肉眼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Python变量+f-string+文件读写，30行代码生成规范台账卡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0.5的技能点即其最小实现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下一步：把台账接到数据库（03课P5）/自动采集（02课W11）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74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报错必究——每个红色报错都是产线隐患的预演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协作素养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ABCD轮换履职——师傅带徒弟，贡献表如实填报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代码抄作业=岗位上的'无证驾驶'，害人害己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74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学习策略：这门课怎么学最有效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先例后理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先跑代码看结果，再回头懂原理——PRIMM教学法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费曼技巧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A层讲给D层听——讲得清才是真懂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错题资产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每个报错记入错误速查表——期末它是你的复习宝典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提交习惯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小步提交（每完成一步就commit）——回退不求人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74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进阶路线图（从今天的课往哪走）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本周：工单核心技能→下周：组合应用→期末：综合项目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横向：本课技能在03课P项目链中的位置（工程化/全栈）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纵向：证书线——初级操作题→中级工程题（1+X/工信部）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竞赛线：校级选拔→世界职业院校技能大赛（人工智能赛道）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岗位线：跟做学徒→独立操作→带组师傅→产线负责人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74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本周各层达标预期（%）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1896000" y="2600000"/>
            <a:ext cx="1400000" cy="28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96000" y="204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D层·跟做保底</a:t>
            </a:r>
          </a:p>
        </p:txBody>
      </p:sp>
      <p:sp>
        <p:nvSpPr>
          <p:cNvPr id="8" name="Rectangle 7"/>
          <p:cNvSpPr/>
          <p:nvPr/>
        </p:nvSpPr>
        <p:spPr>
          <a:xfrm>
            <a:off x="3996000" y="3160000"/>
            <a:ext cx="1400000" cy="224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96000" y="26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80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C层·基础完成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0" y="3720000"/>
            <a:ext cx="1400000" cy="1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96000" y="316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B层·标准达成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96000" y="4560000"/>
            <a:ext cx="1400000" cy="8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6000" y="40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A层·进阶拓展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00000" y="5400000"/>
            <a:ext cx="9400000" cy="3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000" y="6100000"/>
            <a:ext cx="109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预期≠上限：动态升降制下人人可冲上一层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74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课前预习清单（下次课前完成）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微课知识卡：配置双输出日志(控制台+文件)——应用：见工单starter与教（5分钟视频+导学单）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Jupyter实训notebook：先跑教师版看答案，再试学生版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预习快问：下次课quiz从微课与导学单出题——带着答案来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Git推送本周工单：还没提交的课后补上（周达标率依据）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74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知识口袋书（本课概念速记）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 异常=运行时错误对象；类型即线索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 try/except/else/finally四段结构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 精确捕获：FileNotFoundError/ValueError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用法：睡前30秒过一遍——口袋书越翻越薄，技能越练越厚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74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输出对比：好的 vs 差的（规范从第一课开始）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好的输出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表头对齐·单位齐全·小数位统一·命名规范（snake_case）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差的输出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数字裸奔无单位·列不对齐·temp1/temp2乱命名·中文引号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差多少分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同样的功能——规范20%+素养15%两项就能差出35分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为什么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车间台账要给人看——读不懂的输出=没交付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74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程序生病了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怎么办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异常=运行时错误对象；类型即线索——应用：见工单starter与教师参考实现 · try/except/else/finally四段结构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配置双输出日志(控制台+文件)——应用：见工单starter与教师参考实现 · 捕获多类型异常并分级记录——应用：见工单starter与教师参考实现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裸except吞异常 · 日志中文乱码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工单0.5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74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常见场景应对（卡住了怎么办）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场景①代码报错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读报错最后一行→查错误速查表→还没解决举手（附截图）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场景②不知道做啥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回看操作核对清单□——第一个没勾的就是下一步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场景③做完了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90秒最后一查→Git提交→帮同组D/C层（B层职责）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场景④提前全完成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A层拓展任务→费曼准备→预习下次课微课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66 / 74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微课与自学资源（课后补弱/拓强）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微课知识卡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本周主题：配置双输出日志(控制台+文件)——应用：见工单starter与教——5分钟视频+导学单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数字人版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同内容数字人讲解——喜欢听的换着看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Jupyter师生版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教师版有完整答案——先看懂再独立做学生版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多解法手册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教师参考/多解法手册——同一任务三种深度解法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67 / 74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答辩预演（期末综合项目的彩排）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①30秒讲需求：这个工单解决什么问题、给谁用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②60秒讲方案：数据从哪来→怎么处理→输出什么（三段式）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③60秒讲亮点：我踩过的坑+怎么爬出来的（错误速查表就是素材）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④答辩礼仪：指着屏幕讲，不念稿；被问住就说'这个我课后验证'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从本周开始练——期末答辩=12周彩排的总和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68 / 74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课堂实录清单（过程性考核证据）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运行截图：代码+输出同框（截全不截半）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工单过程栏：步骤勾选+决策理由+自查记录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Git提交：本次课至少1条commit（message规范）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同伴签字：互查通过后签名（讲得清才算会）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四项齐全=过程分满分；缺一项课后24小时内补齐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69 / 74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函数封装+异常处理——可复用，B层路线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向量化/推导式/设计模式——性能优雅，A层路线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先让它跑起来→再让它对→最后让它快（KISS原则）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70 / 74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自测答案与讲解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课前快问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finally块无论是否异常都执行吗？裸except为什么禁止？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排错题：出现「裸except吞异常」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原因：连Ctrl+C都拦；解决：写明异常类型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复述题：用自己的话说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异常=运行时错误对象；类型即线索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错题怎么办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回看对应知识卡+应用页，再跑一遍starter验证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71 / 74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知识：异常=运行时错误对象；类型即线索；try/except/else/fina；精确捕获：FileNotFoundErr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技能：配置双输出日志(控制台+文件)——应用：见工单starter与教师参考实现；捕获多类型异常并分级记录——应用：见工单starter与教师参考实现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交付：工单0.5《健壮的工业数据采集程序》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习惯：做完就Ctrl+K提交Git——每周至少1次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2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72 / 74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73 / 74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下次课预告（第7周）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正则解析报文键值对——应用：见工单starter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正则八块积木：\d \w [] + * 分别匹配什么？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