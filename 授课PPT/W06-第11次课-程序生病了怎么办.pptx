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8" r:id="rId74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4" r:id="rId46"/>
    <p:sldId id="296" r:id="rId48"/>
    <p:sldId id="297" r:id="rId49"/>
    <p:sldId id="299" r:id="rId51"/>
    <p:sldId id="301" r:id="rId53"/>
    <p:sldId id="306" r:id="rId58"/>
    <p:sldId id="308" r:id="rId60"/>
    <p:sldId id="309" r:id="rId61"/>
    <p:sldId id="311" r:id="rId63"/>
    <p:sldId id="313" r:id="rId65"/>
    <p:sldId id="315" r:id="rId67"/>
    <p:sldId id="316" r:id="rId68"/>
    <p:sldId id="364" r:id="rId79"/>
    <p:sldId id="365" r:id="rId81"/>
    <p:sldId id="366" r:id="rId76"/>
    <p:sldId id="367" r:id="rId83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  <p:sldId id="369" r:id="rId72"/>
    <p:sldId id="370" r:id="rId7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3" Type="http://schemas.openxmlformats.org/officeDocument/2006/relationships/slide" Target="slides/slide28.xml"/><Relationship Id="rId58" Type="http://schemas.openxmlformats.org/officeDocument/2006/relationships/slide" Target="slides/slide29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3" Type="http://schemas.openxmlformats.org/officeDocument/2006/relationships/slide" Target="slides/slide32.xml"/><Relationship Id="rId65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40.xml"/><Relationship Id="rId70" Type="http://schemas.openxmlformats.org/officeDocument/2006/relationships/slide" Target="slides/slide79.xml"/><Relationship Id="rId71" Type="http://schemas.openxmlformats.org/officeDocument/2006/relationships/slide" Target="slides/slide41.xml"/><Relationship Id="rId72" Type="http://schemas.openxmlformats.org/officeDocument/2006/relationships/slide" Target="slides/slide78.xml"/><Relationship Id="rId73" Type="http://schemas.openxmlformats.org/officeDocument/2006/relationships/slide" Target="slides/slide42.xml"/><Relationship Id="rId74" Type="http://schemas.openxmlformats.org/officeDocument/2006/relationships/slide" Target="slides/slide77.xml"/><Relationship Id="rId75" Type="http://schemas.openxmlformats.org/officeDocument/2006/relationships/slide" Target="slides/slide43.xml"/><Relationship Id="rId76" Type="http://schemas.openxmlformats.org/officeDocument/2006/relationships/slide" Target="slides/slide38.xml"/><Relationship Id="rId77" Type="http://schemas.openxmlformats.org/officeDocument/2006/relationships/slide" Target="slides/slide44.xml"/><Relationship Id="rId78" Type="http://schemas.openxmlformats.org/officeDocument/2006/relationships/slide" Target="slides/slide45.xml"/><Relationship Id="rId79" Type="http://schemas.openxmlformats.org/officeDocument/2006/relationships/slide" Target="slides/slide36.xml"/><Relationship Id="rId80" Type="http://schemas.openxmlformats.org/officeDocument/2006/relationships/slide" Target="slides/slide46.xml"/><Relationship Id="rId81" Type="http://schemas.openxmlformats.org/officeDocument/2006/relationships/slide" Target="slides/slide37.xml"/><Relationship Id="rId82" Type="http://schemas.openxmlformats.org/officeDocument/2006/relationships/slide" Target="slides/slide47.xml"/><Relationship Id="rId83" Type="http://schemas.openxmlformats.org/officeDocument/2006/relationships/slide" Target="slides/slide39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6" Type="http://schemas.openxmlformats.org/officeDocument/2006/relationships/slide" Target="slides/slide70.xml"/><Relationship Id="rId107" Type="http://schemas.openxmlformats.org/officeDocument/2006/relationships/slide" Target="slides/slide71.xml"/><Relationship Id="rId108" Type="http://schemas.openxmlformats.org/officeDocument/2006/relationships/slide" Target="slides/slide72.xml"/><Relationship Id="rId109" Type="http://schemas.openxmlformats.org/officeDocument/2006/relationships/slide" Target="slides/slide73.xml"/><Relationship Id="rId110" Type="http://schemas.openxmlformats.org/officeDocument/2006/relationships/slide" Target="slides/slide74.xml"/><Relationship Id="rId114" Type="http://schemas.openxmlformats.org/officeDocument/2006/relationships/slide" Target="slides/slide75.xml"/><Relationship Id="rId115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开场30秒：本次课《程序生病了怎么办》，80分钟＝2课时×40分钟。课前已发工单+starter+微课知识卡，资讯·计划线上完成。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详解B1·异常是对象：先读定义→场景为什么用它→看代码实例→扩展给A层。C/D层掌握前三格，A层加扩展格。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详解B2·try/except/else/finally：先读定义→场景为什么用它→看代码实例→扩展给A层。C/D层掌握前三格，A层加扩展格。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详解B3·精确捕获：先读定义→场景为什么用它→看代码实例→扩展给A层。C/D层掌握前三格，A层加扩展格。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详解B4·禁裸except：先读定义→场景为什么用它→看代码实例→扩展给A层。C/D层掌握前三格，A层加扩展格。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详解B5·logging三级：先读定义→场景为什么用它→看代码实例→扩展给A层。C/D层掌握前三格，A层加扩展格。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详解B6·finally收尾：先读定义→场景为什么用它→看代码实例→扩展给A层。C/D层掌握前三格，A层加扩展格。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程序生病了怎么办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0.5《健壮的工业数据采集程序》——本课工单即考核单元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目标：能够编写捕获≥3种异常并记录日志的健壮采集程序；能够使用日志定位问题；代码规范率≥80%。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目标：树立“程序会出错”的工程危机意识，培养防患于未然的健壮性设计习惯。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砥砺奋斗，成就精彩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模块导入(import)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标准库random/time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异常处理try-except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课中检查｜上次课（W5）抽查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能封装告警判断为函数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能说明return的作用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题目：finally块无论是否异常都执行吗？裸except为什么禁止？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任务背景：凌晨的断电让采集程序崩在中途，丢了半小时数据。王主任发火：'程序不能一摔就死。'——工单0.5：异常处理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知识详解：异常是对象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异常是对象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异常=程序出错时扔出的'事故报告单'，类型名即线索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读文件失败/除零——崩溃前的最后信号，接住就能救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ZeroDivisionError/ValueError/FileNotFoundError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误区：从最后一行往上读栈——错误类型→说明→行号倒着看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知识详解：try/except/else/fina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try/except/else/finally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try=试做/except=出事接住/else=没出事才做/finally=必做收尾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采集主循环的防护壳——单点出错不能停整条产线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read() except FileNotFoundError: 默认值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误区：把大段代码塞进try——只包会出错的那几句，窄包才好查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知识详解：精确捕获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精确捕获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except接具体类型=对症下药——一个except管一种病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缺文件用默认值/类型错提示重输——不同错误不同对策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except FileNotFoundError: … except ValueError: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误区：父类异常写前面会截胡后面所有——从小到大排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知识详解：禁裸except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禁裸except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裸except=把警报器全拆了——连Ctrl+C都吞程序杀不死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新手最危险写法：except: pass——错误静默埋雷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except Exception as e: print(e) 至少留痕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误区：以为吞错程序更稳——恰恰相反，吞错让bug藏到最深处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知识应用（4）：禁止裸except(吞Ctrl+C)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禁止裸except(吞Ctrl+C)。在两江智造产线上的用法：见工单starter与教师参考实现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知识详解：logging三级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logging三级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logging=车间广播系统：INFO日常/WARNING注意/ERROR出事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print混在结果里没法关——logging按级分流可开关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logging.error(f'设备{code}连接失败')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误区：忘basicConfig看不见输出——先配级别再打日志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知识详解：finally收尾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finally收尾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finally=无论成败必做的鞠躬——关文件断连接写统计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资源不泄漏：采集崩了连接也得断干净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finally: f.close() ——或直接用with替代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误区：with open就是自动版finally——优先with，finally兜底非with场景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程序生病了怎么办（1）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异常的概念与常见类型：ValueError、FileNotFoundError、TypeError；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try/except/else/finally结构；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异常的捕获策略：精确捕获vs宽泛捕获；raise主动抛出。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logging三级日志(INFO/WARN/ERROR)配置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捕获FileNotFoundError/ValueError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finally完整结构1处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≥3种异常+日志可定位到行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实测捕获异常 3 种 ｜ 日志 65 行（INFO 35/WARNING 24/ERROR 6）｜ 定位到行 42 处 ｜ bad_records.csv 4 行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处理≥2 种异常 + 基本日志（run.log 非空）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INFO/WARNING/ERROR 三级日志分明；统计输出正确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种异常 + 完整 finally；日志可定位到行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且脏数据自动写入 bad_records.csv 备查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坏数据不进结果集，已自动写入 bad_records.csv 备查；人工复核隔离区后决定重采或补录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工程化项目/w06_robust_collector/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src/robust_collector/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w06_robust_collector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实测捕获异常 3 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日志 65 行（INFO 35/WARNING 24/ERROR 6）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定位到行 42 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bad_records.csv 4 行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处理≥2 种异常 + 基本日志（run.log 非空）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INFO/WARNING/ERROR 三级日志分明；统计输出正确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种异常 + 完整 finally；日志可定位到行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且脏数据自动写入 bad_records.csv 备查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w06_robust_collector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项目：02-程序设计基础/工程化项目/w06_robust_collector/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工具/ppt97/evidence/w06_robust_collector/（capture97.py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脏数据自动写入bad_records.csv，附统计（成功/跳过/失败）)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logging三级日志(INFO/WARN/ERROR)配置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捕获FileNotFoundError/ValueError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7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7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6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finally完整结构1处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禁止裸except:——会吞掉Ctrl+C等一切异常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FileHandler加encoding='utf-8'防中文乱码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except里至少记ERROR，别pass装没事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D·学徒（≥60）：故障注入体验——跟做保底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C·操作员（≥70）：基础捕获——基础完成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B·组长（≥80）：完整健壮程序——标准达成+帮带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A·师傅（≥90）：断点续采+bad_records——进阶拓展+费曼讲解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采集统计: 成功3 跳过2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微课知识卡：配置双输出日志(控制台+文件)——应用：见工单starter与教（5分钟视频+导学单）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异常=运行时错误对象；类型即线索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try/except/else/finally四段结构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精确捕获：FileNotFoundError/ValueError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裸except吞异常 · 日志中文乱码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本周主题：配置双输出日志(控制台+文件)——应用：见工单starter与教——5分钟视频+导学单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原因：连Ctrl+C都拦；解决：写明异常类型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异常=运行时错误对象；类型即线索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知识：异常=运行时错误对象；类型即线索；try/except/else/fina；精确捕获：FileNotFoundErr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交付：工单0.5《健壮的工业数据采集程序》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