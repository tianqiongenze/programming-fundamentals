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5" r:id="rId47"/>
    <p:sldId id="298" r:id="rId50"/>
    <p:sldId id="299" r:id="rId51"/>
    <p:sldId id="301" r:id="rId53"/>
    <p:sldId id="304" r:id="rId56"/>
    <p:sldId id="308" r:id="rId60"/>
    <p:sldId id="310" r:id="rId62"/>
    <p:sldId id="311" r:id="rId63"/>
    <p:sldId id="315" r:id="rId67"/>
    <p:sldId id="316" r:id="rId68"/>
    <p:sldId id="317" r:id="rId69"/>
    <p:sldId id="318" r:id="rId70"/>
    <p:sldId id="366" r:id="rId81"/>
    <p:sldId id="367" r:id="rId78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1" r:id="rId83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4" r:id="rId116"/>
    <p:sldId id="365" r:id="rId1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7" Type="http://schemas.openxmlformats.org/officeDocument/2006/relationships/slide" Target="slides/slide24.xml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3" Type="http://schemas.openxmlformats.org/officeDocument/2006/relationships/slide" Target="slides/slide27.xml"/><Relationship Id="rId56" Type="http://schemas.openxmlformats.org/officeDocument/2006/relationships/slide" Target="slides/slide28.xml"/><Relationship Id="rId60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8.xml"/><Relationship Id="rId73" Type="http://schemas.openxmlformats.org/officeDocument/2006/relationships/slide" Target="slides/slide39.xml"/><Relationship Id="rId75" Type="http://schemas.openxmlformats.org/officeDocument/2006/relationships/slide" Target="slides/slide40.xml"/><Relationship Id="rId77" Type="http://schemas.openxmlformats.org/officeDocument/2006/relationships/slide" Target="slides/slide41.xml"/><Relationship Id="rId78" Type="http://schemas.openxmlformats.org/officeDocument/2006/relationships/slide" Target="slides/slide37.xml"/><Relationship Id="rId79" Type="http://schemas.openxmlformats.org/officeDocument/2006/relationships/slide" Target="slides/slide42.xml"/><Relationship Id="rId80" Type="http://schemas.openxmlformats.org/officeDocument/2006/relationships/slide" Target="slides/slide43.xml"/><Relationship Id="rId81" Type="http://schemas.openxmlformats.org/officeDocument/2006/relationships/slide" Target="slides/slide36.xml"/><Relationship Id="rId82" Type="http://schemas.openxmlformats.org/officeDocument/2006/relationships/slide" Target="slides/slide44.xml"/><Relationship Id="rId83" Type="http://schemas.openxmlformats.org/officeDocument/2006/relationships/slide" Target="slides/slide45.xml"/><Relationship Id="rId84" Type="http://schemas.openxmlformats.org/officeDocument/2006/relationships/slide" Target="slides/slide46.xml"/><Relationship Id="rId86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97" Type="http://schemas.openxmlformats.org/officeDocument/2006/relationships/slide" Target="slides/slide58.xml"/><Relationship Id="rId98" Type="http://schemas.openxmlformats.org/officeDocument/2006/relationships/slide" Target="slides/slide59.xml"/><Relationship Id="rId99" Type="http://schemas.openxmlformats.org/officeDocument/2006/relationships/slide" Target="slides/slide60.xml"/><Relationship Id="rId100" Type="http://schemas.openxmlformats.org/officeDocument/2006/relationships/slide" Target="slides/slide61.xml"/><Relationship Id="rId101" Type="http://schemas.openxmlformats.org/officeDocument/2006/relationships/slide" Target="slides/slide62.xml"/><Relationship Id="rId102" Type="http://schemas.openxmlformats.org/officeDocument/2006/relationships/slide" Target="slides/slide63.xml"/><Relationship Id="rId103" Type="http://schemas.openxmlformats.org/officeDocument/2006/relationships/slide" Target="slides/slide64.xml"/><Relationship Id="rId104" Type="http://schemas.openxmlformats.org/officeDocument/2006/relationships/slide" Target="slides/slide65.xml"/><Relationship Id="rId105" Type="http://schemas.openxmlformats.org/officeDocument/2006/relationships/slide" Target="slides/slide66.xml"/><Relationship Id="rId106" Type="http://schemas.openxmlformats.org/officeDocument/2006/relationships/slide" Target="slides/slide67.xml"/><Relationship Id="rId107" Type="http://schemas.openxmlformats.org/officeDocument/2006/relationships/slide" Target="slides/slide68.xml"/><Relationship Id="rId108" Type="http://schemas.openxmlformats.org/officeDocument/2006/relationships/slide" Target="slides/slide69.xml"/><Relationship Id="rId109" Type="http://schemas.openxmlformats.org/officeDocument/2006/relationships/slide" Target="slides/slide70.xml"/><Relationship Id="rId110" Type="http://schemas.openxmlformats.org/officeDocument/2006/relationships/slide" Target="slides/slide71.xml"/><Relationship Id="rId111" Type="http://schemas.openxmlformats.org/officeDocument/2006/relationships/slide" Target="slides/slide72.xml"/><Relationship Id="rId112" Type="http://schemas.openxmlformats.org/officeDocument/2006/relationships/slide" Target="slides/slide73.xml"/><Relationship Id="rId116" Type="http://schemas.openxmlformats.org/officeDocument/2006/relationships/slide" Target="slides/slide74.xml"/><Relationship Id="rId117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开场30秒：本次课《把故障数据画成一朵云》，80分钟＝2课时×40分钟。课前已发工单+starter+微课知识卡，资讯·计划线上完成。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情境说书（30秒，口头讲，不必逐字念）：月底设备分析会，王主任要'一页纸看清故障规律'。半年的报修单有几百条文字——工单1.3：分词+词云，让文字变成一眼可读的图。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详解B1·pip与离线whl：先读定义→场景为什么用它→看代码实例→扩展给A层。C/D层掌握前三格，A层加扩展格。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详解B2·jieba分词：先读定义→场景为什么用它→看代码实例→扩展给A层。C/D层掌握前三格，A层加扩展格。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详解B3·停用词过滤：先读定义→场景为什么用它→看代码实例→扩展给A层。C/D层掌握前三格，A层加扩展格。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详解B4·Counter词频：先读定义→场景为什么用它→看代码实例→扩展给A层。C/D层掌握前三格，A层加扩展格。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详解B5·TF-IDF关键词：先读定义→场景为什么用它→看代码实例→扩展给A层。C/D层掌握前三格，A层加扩展格。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详解B6·wordcloud中文字体：先读定义→场景为什么用它→看代码实例→扩展给A层。C/D层掌握前三格，A层加扩展格。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现场演示《词云核心》：三步走——先整段跑通看结果，再逐行讲关键语句，最后现场改一个参数看输出变化（演10分钟的核心素材）。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工单发布话术：'精密制造事业部发来工单1.3《工业故障分析报告生成系统》，及格线是分，优秀线看A层标准'——念完发starter。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错误速查：现场演示第一条——制造「中文变方块」，带着学生按'现象→原因→解决'三步排查。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预习知识点：文件读写(open/with)；CSV/文本处理 | 课中检查知识点：能with open读写设备日志文件；能逐行解析CSV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把故障数据画成一朵云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第18次课（2课时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把故障数据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画成一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 · Counter词频统计most_common——应用：见工单starter与教师参考实现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技能线：完成分词+停用词管线——应用：见工单starter与教师参考实现；生成词云与Top10柱状图——应用：见工单starter与教师参考实现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1.3《工业故障分析报告生成系统》——本课工单即考核单元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目标：能够完成“文本→分词→关键词→词云”的完整分析链路；能够结合matplotlib呈现分析结果；代码规范率≥85%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目标：体会数据可视化对管理决策的沟通价值，培养从数据中提炼洞察的分析习惯。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TF-IDF关键词和词频Top10会一样吗？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持校园卡，记生活账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文件读写(open/with)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CSV/文本处理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课中检查｜上次课（W8）抽查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能按code查设备台账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能json.loads/dumps转换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题目：TF-IDF关键词和词频Top10会一样吗？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月底设备分析会，王主任要'一页纸看清故障规律'。半年的报修单有几百条文字——工单1.3：分词+词云，让文字变成一眼可读的图。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任务背景：月底设备分析会，王主任要'一页纸看清故障规律'。半年的报修单有几百条文字——工单1.3：分词+词云，让文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能够完成“文本→分词→关键词→词云”的完整分析链路；能够结合matplotlib呈现分析结果；代码规范率≥85%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体会数据可视化对管理决策的沟通价值，培养从数据中提炼洞察的分析习惯。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对应工单1.3评分：功能40%+技术25%+规范20%+素养15%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知识详解：pip与离线whl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pip与离线whl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pip=应用商店；whl=下载好的安装包——断网也能装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机房无外网时用whl装jieba/wordcloud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pip install jieba-0.42.1-py3-none-any.whl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误区：没激活环境就装——装到base等于白装，先conda activate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知识详解：jieba分词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jieba分词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jieba=中文切词刀：英文按空格切，中文得靠它切词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'泵体振动异常'→['泵体','振动','异常']——文本分析第一步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words = list(jieba.cut(text))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误区：cut_all=True切太碎——教学与统计默认精确模式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知识详解：停用词过滤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停用词过滤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停用词=搭头话：'的/了/在'没信息量，先请出场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虚词霸榜时词频统计没意义——先过滤再计数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words = [w for w in words if w not in stopwords]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误区：词频不看停用词→Top10全是'的了我们'——白统计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知识详解：Counter词频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Counter词频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Counter=计票员：过一遍全记下，most_common(n)念前n名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故障报告高频词排行——维修重点的风向标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Counter(words).most_common(10)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误区：手写dict计数30行——Counter一行搞定，字典子类白送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知识应用（4）：Counter词频统计most_common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Counter词频统计most_common。在两江智造产线上的用法：见工单starter与教师参考实现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知识详解：TF-IDF关键词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TF-IDF关键词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TF-IDF=本篇常讲+别人少讲=这篇的关键词——稀有度加权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'气蚀'比'设备'更能代表这篇报告——专属词升权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TfidfVectorizer().fit_transform(docs)——sklearn一行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误区：TF-IDF值不是词频——是权重分，值越大越具代表性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知识详解：wordcloud中文字体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wordcloud中文字体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wordcloud不认中文字体=画一页方框——font_path指定字体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词云是故障报告的可视化封面——领导先看图后看数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wc = WordCloud(font_path='ZH_Font.ttf')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误区：路径错不报错只方框——先单独generate再to_file排查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生成词云与Top10柱状图——应用：见工单starter与教师参考实现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extract_tags提取关键词——应用：见工单starter与教师参考实现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撰写数据支撑的故障洞察——应用：见工单starter与教师参考实现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把故障数据画成一朵云（1）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wordcloud词云生成：参数配置、中文字体设置、蒙版形状；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matplotlib基础绘图：柱状图展示高频故障词；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工单项目1.3实操：读取故障说明文本→分词→关键词提取→词云可视化，完成《工业故障分析报告》；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分组汇报：从词云中发现了什么故障规律。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关键代码：词云核心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words = [w for t in texts for w in jieba.cut(t)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if w not in STOP and len(w) &gt; 1]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wordcloud import WordCloud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 = WordCloud(font_path="../教学实施资料/fonts/SourceHanSansCN-Regular.otf", width=800,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height=400, background_color="white")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wc.generate(" ".join(words)); wc.to_file("cloud.png")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决策：可视化重点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图表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信息量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美观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词云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柱状图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本课决策题：决策：可视化重点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实施任务：工单1.3《工业故障分析报告生成系统》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词云生成(字体fonts/SimHei.ttf)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extract_tags Top20关键词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撰写≤150字故障规律洞察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分词正确+词云生成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词云美观+洞察有数据支撑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Top10: [('注塑机', 3), ('液压油', 3), ('温升高', 3), ('车床', 3), ('主轴', 3…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关键词: ['报警', '注塑机', '掉线', '温升高', '空压机', '液压油', '异响', 'PLC']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工程化项目/w09_text_report/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src/text_report/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分词观察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运行分词示例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加停用词再跑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对比两次Top词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能读Top10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jieba分词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Counter统计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wordcloud出图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能出cloud.png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词云+词频+关键词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分词停用词管线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词云+柱状图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extract_tags Top20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三件产出齐全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分组对比词云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按系统分组两朵词云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对比Top词差异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150字洞察结论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洞察有数字支撑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接入班级语料库（每人2条），对比扩库前后Top10变化)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词云生成(字体fonts/SimHei.ttf)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extract_tags Top20关键词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撰写≤150字故障规律洞察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generate_from_frequencies吃字典，generate吃整段文本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词云宽高800×400、白底，投影清晰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洞察要有数字支撑，忌空话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中文变方块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没指定字体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font_path必填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Top10全是虚词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停用词未滤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扩STOP表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frequencies用错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传参类型错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generate吃文本串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D·学徒（≥60）：分词观察——跟做保底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C·操作员（≥70）：词云生成——基础完成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B·组长（≥80）：词云+词频+关键词——标准达成+帮带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A·师傅（≥90）：分组对比词云——进阶拓展+费曼讲解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步骤1：词云生成(字体fonts/SimHei.ttf)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步骤2：extract_tags Top20关键词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步骤3：撰写≤150字故障规律洞察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完成工单项目1.3《工业故障分析报告生成系统》：及格标准正确分词+生成词云；优秀标准分词准确+词云美观+洞察深入+规范率≥90%；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撰写200字故障规律分析结论；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预习Pillow图像处理基础。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Top10: [('注塑机', 3), ('液压油', 3), ('温升高', 3), ('车床', 3), ('主轴', 3…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关键词: ['报警', '注塑机', '掉线', '温升高', '空压机', '液压油', '异响', 'PLC']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微课知识卡：完成分词+停用词管线——应用：见工单starter与教师参考实现（5分钟视频+导学单）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pip安装与离线whl安装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jieba.cut精确分词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停用词过滤提升信噪比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把故障数据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画成一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中文变方块 · Top10全是虚词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本周主题：完成分词+停用词管线——应用：见工单starter与教师参考实现——5分钟视频+导学单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TF-IDF关键词和词频Top10会一样吗？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排错题：出现「中文变方块」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原因：没指定字体；解决：font_path必填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pip安装与离线whl安装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知识：pip安装与离线whl安装；jieba.cut精确分词；停用词过滤提升信噪比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技能：完成分词+停用词管线——应用：见工单starter与教师参考实现；生成词云与Top10柱状图——应用：见工单starter与教师参考实现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交付：工单1.3《工业故障分析报告生成系统》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图像缩放与缺陷框标注——应用：见工单starte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