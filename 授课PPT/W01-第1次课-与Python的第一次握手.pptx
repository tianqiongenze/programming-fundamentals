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7" r:id="rId71"/>
    <p:sldId id="257" r:id="rId9"/>
    <p:sldId id="258" r:id="rId10"/>
    <p:sldId id="259" r:id="rId11"/>
    <p:sldId id="260" r:id="rId12"/>
    <p:sldId id="261" r:id="rId13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4" r:id="rId46"/>
    <p:sldId id="295" r:id="rId47"/>
    <p:sldId id="297" r:id="rId49"/>
    <p:sldId id="299" r:id="rId51"/>
    <p:sldId id="301" r:id="rId53"/>
    <p:sldId id="305" r:id="rId57"/>
    <p:sldId id="307" r:id="rId59"/>
    <p:sldId id="308" r:id="rId60"/>
    <p:sldId id="310" r:id="rId62"/>
    <p:sldId id="312" r:id="rId64"/>
    <p:sldId id="314" r:id="rId66"/>
    <p:sldId id="315" r:id="rId67"/>
    <p:sldId id="363" r:id="rId78"/>
    <p:sldId id="364" r:id="rId82"/>
    <p:sldId id="365" r:id="rId75"/>
    <p:sldId id="366" r:id="rId73"/>
    <p:sldId id="316" r:id="rId68"/>
    <p:sldId id="318" r:id="rId70"/>
    <p:sldId id="320" r:id="rId72"/>
    <p:sldId id="322" r:id="rId74"/>
    <p:sldId id="324" r:id="rId76"/>
    <p:sldId id="325" r:id="rId77"/>
    <p:sldId id="327" r:id="rId79"/>
    <p:sldId id="328" r:id="rId80"/>
    <p:sldId id="329" r:id="rId81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61" r:id="rId113"/>
    <p:sldId id="362" r:id="rId114"/>
    <p:sldId id="368" r:id="rId69"/>
    <p:sldId id="369" r:id="rId6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6" Type="http://schemas.openxmlformats.org/officeDocument/2006/relationships/slide" Target="slides/slide24.xml"/><Relationship Id="rId47" Type="http://schemas.openxmlformats.org/officeDocument/2006/relationships/slide" Target="slides/slide25.xml"/><Relationship Id="rId49" Type="http://schemas.openxmlformats.org/officeDocument/2006/relationships/slide" Target="slides/slide26.xml"/><Relationship Id="rId51" Type="http://schemas.openxmlformats.org/officeDocument/2006/relationships/slide" Target="slides/slide27.xml"/><Relationship Id="rId53" Type="http://schemas.openxmlformats.org/officeDocument/2006/relationships/slide" Target="slides/slide28.xml"/><Relationship Id="rId57" Type="http://schemas.openxmlformats.org/officeDocument/2006/relationships/slide" Target="slides/slide29.xml"/><Relationship Id="rId59" Type="http://schemas.openxmlformats.org/officeDocument/2006/relationships/slide" Target="slides/slide30.xml"/><Relationship Id="rId60" Type="http://schemas.openxmlformats.org/officeDocument/2006/relationships/slide" Target="slides/slide31.xml"/><Relationship Id="rId62" Type="http://schemas.openxmlformats.org/officeDocument/2006/relationships/slide" Target="slides/slide32.xml"/><Relationship Id="rId64" Type="http://schemas.openxmlformats.org/officeDocument/2006/relationships/slide" Target="slides/slide33.xml"/><Relationship Id="rId65" Type="http://schemas.openxmlformats.org/officeDocument/2006/relationships/slide" Target="slides/slide80.xml"/><Relationship Id="rId66" Type="http://schemas.openxmlformats.org/officeDocument/2006/relationships/slide" Target="slides/slide34.xml"/><Relationship Id="rId67" Type="http://schemas.openxmlformats.org/officeDocument/2006/relationships/slide" Target="slides/slide35.xml"/><Relationship Id="rId68" Type="http://schemas.openxmlformats.org/officeDocument/2006/relationships/slide" Target="slides/slide40.xml"/><Relationship Id="rId69" Type="http://schemas.openxmlformats.org/officeDocument/2006/relationships/slide" Target="slides/slide79.xml"/><Relationship Id="rId70" Type="http://schemas.openxmlformats.org/officeDocument/2006/relationships/slide" Target="slides/slide41.xml"/><Relationship Id="rId71" Type="http://schemas.openxmlformats.org/officeDocument/2006/relationships/slide" Target="slides/slide78.xml"/><Relationship Id="rId72" Type="http://schemas.openxmlformats.org/officeDocument/2006/relationships/slide" Target="slides/slide42.xml"/><Relationship Id="rId73" Type="http://schemas.openxmlformats.org/officeDocument/2006/relationships/slide" Target="slides/slide39.xml"/><Relationship Id="rId74" Type="http://schemas.openxmlformats.org/officeDocument/2006/relationships/slide" Target="slides/slide43.xml"/><Relationship Id="rId75" Type="http://schemas.openxmlformats.org/officeDocument/2006/relationships/slide" Target="slides/slide38.xml"/><Relationship Id="rId76" Type="http://schemas.openxmlformats.org/officeDocument/2006/relationships/slide" Target="slides/slide44.xml"/><Relationship Id="rId77" Type="http://schemas.openxmlformats.org/officeDocument/2006/relationships/slide" Target="slides/slide45.xml"/><Relationship Id="rId78" Type="http://schemas.openxmlformats.org/officeDocument/2006/relationships/slide" Target="slides/slide36.xml"/><Relationship Id="rId79" Type="http://schemas.openxmlformats.org/officeDocument/2006/relationships/slide" Target="slides/slide46.xml"/><Relationship Id="rId80" Type="http://schemas.openxmlformats.org/officeDocument/2006/relationships/slide" Target="slides/slide47.xml"/><Relationship Id="rId81" Type="http://schemas.openxmlformats.org/officeDocument/2006/relationships/slide" Target="slides/slide48.xml"/><Relationship Id="rId82" Type="http://schemas.openxmlformats.org/officeDocument/2006/relationships/slide" Target="slides/slide37.xml"/><Relationship Id="rId83" Type="http://schemas.openxmlformats.org/officeDocument/2006/relationships/slide" Target="slides/slide49.xml"/><Relationship Id="rId84" Type="http://schemas.openxmlformats.org/officeDocument/2006/relationships/slide" Target="slides/slide50.xml"/><Relationship Id="rId85" Type="http://schemas.openxmlformats.org/officeDocument/2006/relationships/slide" Target="slides/slide51.xml"/><Relationship Id="rId86" Type="http://schemas.openxmlformats.org/officeDocument/2006/relationships/slide" Target="slides/slide52.xml"/><Relationship Id="rId87" Type="http://schemas.openxmlformats.org/officeDocument/2006/relationships/slide" Target="slides/slide53.xml"/><Relationship Id="rId88" Type="http://schemas.openxmlformats.org/officeDocument/2006/relationships/slide" Target="slides/slide54.xml"/><Relationship Id="rId89" Type="http://schemas.openxmlformats.org/officeDocument/2006/relationships/slide" Target="slides/slide55.xml"/><Relationship Id="rId90" Type="http://schemas.openxmlformats.org/officeDocument/2006/relationships/slide" Target="slides/slide56.xml"/><Relationship Id="rId91" Type="http://schemas.openxmlformats.org/officeDocument/2006/relationships/slide" Target="slides/slide57.xml"/><Relationship Id="rId92" Type="http://schemas.openxmlformats.org/officeDocument/2006/relationships/slide" Target="slides/slide58.xml"/><Relationship Id="rId93" Type="http://schemas.openxmlformats.org/officeDocument/2006/relationships/slide" Target="slides/slide59.xml"/><Relationship Id="rId94" Type="http://schemas.openxmlformats.org/officeDocument/2006/relationships/slide" Target="slides/slide60.xml"/><Relationship Id="rId95" Type="http://schemas.openxmlformats.org/officeDocument/2006/relationships/slide" Target="slides/slide61.xml"/><Relationship Id="rId96" Type="http://schemas.openxmlformats.org/officeDocument/2006/relationships/slide" Target="slides/slide62.xml"/><Relationship Id="rId97" Type="http://schemas.openxmlformats.org/officeDocument/2006/relationships/slide" Target="slides/slide63.xml"/><Relationship Id="rId98" Type="http://schemas.openxmlformats.org/officeDocument/2006/relationships/slide" Target="slides/slide64.xml"/><Relationship Id="rId99" Type="http://schemas.openxmlformats.org/officeDocument/2006/relationships/slide" Target="slides/slide65.xml"/><Relationship Id="rId100" Type="http://schemas.openxmlformats.org/officeDocument/2006/relationships/slide" Target="slides/slide66.xml"/><Relationship Id="rId101" Type="http://schemas.openxmlformats.org/officeDocument/2006/relationships/slide" Target="slides/slide67.xml"/><Relationship Id="rId102" Type="http://schemas.openxmlformats.org/officeDocument/2006/relationships/slide" Target="slides/slide68.xml"/><Relationship Id="rId103" Type="http://schemas.openxmlformats.org/officeDocument/2006/relationships/slide" Target="slides/slide69.xml"/><Relationship Id="rId104" Type="http://schemas.openxmlformats.org/officeDocument/2006/relationships/slide" Target="slides/slide70.xml"/><Relationship Id="rId105" Type="http://schemas.openxmlformats.org/officeDocument/2006/relationships/slide" Target="slides/slide71.xml"/><Relationship Id="rId106" Type="http://schemas.openxmlformats.org/officeDocument/2006/relationships/slide" Target="slides/slide72.xml"/><Relationship Id="rId107" Type="http://schemas.openxmlformats.org/officeDocument/2006/relationships/slide" Target="slides/slide73.xml"/><Relationship Id="rId108" Type="http://schemas.openxmlformats.org/officeDocument/2006/relationships/slide" Target="slides/slide74.xml"/><Relationship Id="rId109" Type="http://schemas.openxmlformats.org/officeDocument/2006/relationships/slide" Target="slides/slide75.xml"/><Relationship Id="rId113" Type="http://schemas.openxmlformats.org/officeDocument/2006/relationships/slide" Target="slides/slide76.xml"/><Relationship Id="rId114" Type="http://schemas.openxmlformats.org/officeDocument/2006/relationships/slide" Target="slides/slide7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开场30秒：本次课《与Python的第一次握手》，80分钟＝2课时×40分钟。课前已发工单+starter+微课知识卡，资讯·计划线上完成。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目录页：给学生'地图感'——翻到哪部分干什么，30秒。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讲10→演10→模仿10→练习10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详解B1·变量与动态类型：先读定义→场景为什么用它→看代码实例→扩展给A层。C/D层掌握前三格，A层加扩展格。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详解B2·四种基本类型：先读定义→场景为什么用它→看代码实例→扩展给A层。C/D层掌握前三格，A层加扩展格。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详解B3·type与类型转换：先读定义→场景为什么用它→看代码实例→扩展给A层。C/D层掌握前三格，A层加扩展格。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应用页3：把知识点放回产线场景——先看代码输出，再回看定义，强化'学以致用'。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详解B4·f-string格式化：先读定义→场景为什么用它→看代码实例→扩展给A层。C/D层掌握前三格，A层加扩展格。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详解B5·单位换算公式：先读定义→场景为什么用它→看代码实例→扩展给A层。C/D层掌握前三格，A层加扩展格。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详解B6·PEP 8启蒙：先读定义→场景为什么用它→看代码实例→扩展给A层。C/D层掌握前三格，A层加扩展格。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现场演示《台账卡输出》：三步走——先整段跑通看结果，再逐行讲关键语句，最后现场改一个参数看输出变化（演10分钟的核心素材）。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流程图页：可快速带过，作为'我们现在在哪一步'的路标。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工单发布话术：'精密制造事业部发来工单0.1《设备参数初始化系统》，及格线是≥，优秀线看A层标准'——念完发starter。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错误速查：现场演示第一条——制造「SyntaxError」，带着学生按'现象→原因→解决'三步排查。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项目1 初来乍到，请多关照 | 预习知识点：Python开发环境安装(IDE/解释器)；print与input；变量与基本数据类型 | 课中检查知识点：能独立打开IDE并运行print('hello')；能说出int/float/str的区别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提醒：运行截图/实拍照片贴到工单过程记录栏，作为过程性考核证据。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部分小结：评价收束。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学习策略：四个方法贯穿全学期——第一周讲透，以后每周复用。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进阶路线：把一门课放进三年坐标系——学完这周能走到哪。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达标预期：四层的预期比例——D层100%保底是底线承诺。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预习清单：三项任务5-15分钟——闭环从课前开始。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口袋书：三条概念卡——期末汇总成全册，学生自查工具。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好差对比：两份同功能输出对比——规范分不是白给的。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场景应对：四种状态四种动作——课堂自主运转的说明书。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微课资源：四个自学入口——补弱看微课，拓强看多解法。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答辩预演：每周2分钟练一环——期末不慌。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实录清单：过程性考核的取证清单——学生自查，教师抽查。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与Python的第一次握手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第一周 · 第1次课（2课时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四步法节奏：讲-演-模仿-练习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目标+两江智造本课剧情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讲10′+演10′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基础知识大卡+现场演示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模仿与练习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10′+10′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跟做保底→独立完成（工单分层）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本课目录（结构速览）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①课程定位：定位/知识地图/课证赛岗——为什么学这门课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②课堂流程：80分钟时间盒/分层节奏——今天怎么安排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③目标与情境：三维目标/剧情拆解/随堂自测——学什么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④知识精讲：知识卡×应用×深化×代码走读——怎么教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⑤任务实施：工单/四层任务/避坑/核对清单——怎么做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0000" y="55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00000" y="54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⑥检查评价+⑦拓展：质检/评分/工具箱/一图流——怎么收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课程定位：Python编程基础（课程标准摘录）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专业核心基础课：面向零基础新生的编程第一课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工业数据采集技术员、边缘计算运维、平台运维员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Python开发（工信部）、AI应用实践、企业应用实施工程师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前：计算机文化基础 → 本课(第1-12周) → 后：AI应用基础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type()查看类型；int('36')显式转换——应用：isinstance(temp,float)做类型守卫防传入字符串温度 · f-string格式化：f"温度{t:.1f}℃"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精密制造事业部：工业数据采集技术员、边缘计算运维员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0.1《设备参数初始化系统》——本课工单即考核单元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Python开发职业技能等级证书（工信部）——本课对应初级操作题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复习检查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课前5分钟：代码听写/找错微练习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精讲原理与工业应用背景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18min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教师实时代码演示（关键步骤慢放）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模仿·练习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31min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跟做→独立完成小任务（人人有产出）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8min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当堂评分 + 避坑清单更新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0000" y="605800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共80分钟（四步法）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目标：能够独立搭建Python开发环境并运行程序；能够编写50-100行的设备参数初始化程序；代码规范率≥70%。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目标：建立对编程工具的信心与兴趣，养成规范命名、及时保存的编码习惯，树立“代码即工程文件”的意识。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预习微课已观看；跟打练习截图已交；PyCharm CE环境正常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项目1 初来乍到，请多关照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Python开发环境安装(IDE/解释器)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print与input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变量与基本数据类型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课中检查｜上次课（W0）抽查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开课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首考：本次课quiz+预习快问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入职第一天，王主任把小郑领到中控室：'十台注塑机的铭牌参数还在Excel里躺了三年。'你的第一份工作不是写大程序——工单0.1：用Python把设备参数存进程序、打出一张像样的数字台账。</a:t>
            </a:r>
          </a:p>
        </p:txBody>
      </p:sp>
      <p:pic>
        <p:nvPicPr>
          <p:cNvPr id="9" name="Picture 8" descr="W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任务背景：入职第一天，王主任把小郑领到中控室：'十台注塑机的铭牌参数还在Excel里躺了三年。'你的第一份工作不是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掌握Python开发环境搭建方法；掌握变量、基本数据类型与运算符的使用；理解动态类型语言的特点。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能够独立搭建Python开发环境并运行程序；能够编写50-100行的设备参数初始化程序；代码规范率≥70%。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建立对编程工具的信心与兴趣，养成规范命名、及时保存的编码习惯，树立“代码即工程文件”的意识。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对应工单0.1评分：功能40%+技术25%+规范20%+素养15%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知识详解：变量与动态类型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变量与动态类型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变量不是盒子是标签：贴在值上，随时可揭下换贴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给泵编号、温度起名字——一切代码从贴标签开始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dev_code='PUMP-03'; temp=78.5; temp=True（合法）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误区：以为temp被'锁死'是float——类型跟着值走，换值就换型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知识应用（1）：变量=给值贴标签；动态类型随值走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变量=给值贴标签；动态类型随值走。在两江智造产线上的用法：dev_code='PUMP-03'; temp=78.5; print(type(temp))→&lt;class 'float'&gt;，同一变量可随时换类型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dev_code='PUMP-03'; temp=78.5; print(type(temp))→&lt;class 'float'&gt;，同一变量可随时换类型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知识详解：四种基本类型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四种基本类型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int整数账/float小数表/str文字牌/bool开关灯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设备台账四类字段各归其位：编号/温度/名称/运行中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code='P3' temp=78.5 name='3号泵' run=True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误区：'78.5'加引号就成文本不能加减——int('78.5')还会炸，用float()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知识详解：type与类型转换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type与类型转换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type()是照妖镜；int()/float()/str()是变形口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input()读进来的永远是str——算术前必须变形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t=float(input('温度?')); isinstance(t,float)守卫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误区：int('36.5')直接ValueError——先float再int，或round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知识应用（3）：type()查看类型；int('36')显式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type()查看类型；int('36')显式转换。在两江智造产线上的用法：isinstance(temp,float)做类型守卫防传入字符串温度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680000"/>
            <a:ext cx="10900000" cy="165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680000"/>
            <a:ext cx="10900000" cy="1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860000"/>
            <a:ext cx="10300000" cy="13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isinstance(temp,float)做类型守卫防传入字符串温度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知识详解：f-string格式化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f-string格式化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f-string=填空模板：引号前加f，花括号挖坑变量填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台账卡/告警信息的标准写法——车间打印全靠它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print(f'温度{temp:.1f}℃ 编号{dev_code}')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误区：忘写f前缀→花括号原样输出；:.2f是两位小数不是乘2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知识详解：单位换算公式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单位换算公式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换算=数学表达式进变量：F=C*9/5+32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进口仪表(℉/psi)与国产系统(℃/MPa)对接必经之路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f_temp = temp*9/5+32 → 78.5℃=173.3℉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先乘除后加减与数学一致；拿78.5手算一遍对答案再信代码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知识详解：PEP 8启蒙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PEP 8启蒙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命名如工牌：小写+下划线snake_case，一眼认人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台账给人看——三个月后自己都读不懂的名字=废码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device_code✓ deviceCode✗ DeviceCode✗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误区：中文变量名能跑但IDE/同事抓狂——缩进统一4空格禁Tab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定义多类型变量并格式化输出台账卡——应用：见工单starter与教师参考实现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完成单位换算并保留小数——应用：见工单starter与教师参考实现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按规范命名并添加关键注释——应用：见工单starter与教师参考实现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与Python的第一次握手（1）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开发环境搭建：Python 3.12+安装、PyCharm CE/PyCharm配置、交互式解释器（REPL）初体验；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Python基本语法：注释、缩进规则、语句与表达式；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变量与数据类型：int、float、str、bool的定义与转换；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基本运算：算术运算符、比较运算符、赋值运算符；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1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03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工业应用场景：设备参数初始化（设备ID、名称、工作状态、温度的存储与输出）。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关键代码：台账卡输出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device_id = "DEV-2026-001"; name = "智能注塑机"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temp = 56.5; press_kpa = 450.0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print(f"编号:{device_id}\n名称:{name}")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print(f"温度:{temp:.1f}℃ ({temp*9/5+32:.1f}℉)")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print(f"压力:{press_kpa/1000:.2f}MPa")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课堂教法四步法（每课时40分钟）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96000" y="2600000"/>
            <a:ext cx="250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讲10min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6000" y="2600000"/>
            <a:ext cx="250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演10min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6000" y="2600000"/>
            <a:ext cx="250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模仿10min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96000" y="3120000"/>
            <a:ext cx="2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>
                <a:solidFill>
                  <a:srgbClr val="F5670F"/>
                </a:solidFill>
                <a:latin typeface="微软雅黑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96000" y="2600000"/>
            <a:ext cx="2500000" cy="15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6000" y="2720000"/>
            <a:ext cx="2380000" cy="1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练习10min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000" y="46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PRIMM融合：预测→运行→研究→修改→创造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本课决策题：课堂教法：四步法（第1-6周）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实施任务：工单0.1《设备参数初始化系统》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定义≥6变量≥3种数据类型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f-string输出“设备台账卡”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完成单位换算(℃→℉/kPa→MPa)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≥6变量、≥3类型、规范率≥70%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≥8变量、4类型、换算≥2处、规范率≥90%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本次真跑实测输出（逐字取自 output/report.txt）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实测达成档位: 优(A) ｜ AST 台账变量 10 个/4 种类型(bool,float,int,str) ｜ 换算函数 3 个、独立公式复核错 0 处 ｜ 冒号列 7 行同列 1 ｜ input() 实测: 越界/非数字当场拒收=True ｜ 范围提示进提问行=True ｜ 合法录入出卡=True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及格(D)    规范率门槛≥70% [达标] ｜ 功能OK ｜ ≥6 个变量、≥3 种数据类型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良好(C)    规范率门槛: 工单未设 [达标] ｜ 功能OK ｜ 输出格式清晰对齐（实测口径：≥5 条键值行冒号同列）；换算正确（实测口径：独立公式逐条复核 0 失败）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优秀(B)    规范率门槛≥90% [达标] ｜ 功能OK ｜ ≥8 变量、4 种类型；换算≥2 处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优(A)     规范率门槛≥90% [达标] ｜ 功能OK ｜ 达 B 且使用 input() 录入并校验（温度范围提示）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44546A"/>
                </a:solidFill>
                <a:latin typeface="微软雅黑"/>
              </a:rPr>
              <a:t>共 3 台设备；danger 级需当班处置并回填工单；台账 10 变量/4 类型，换算 3 处；实测达成档位: 优(A)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项目位置与一键运行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工程化项目/w01_device_init/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run.py          # 输出 output/report.txt + result.json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python -m pytest -q    # 全量测试应全绿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国标与 TOGAF 落地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GB/T 9385 需求规格 / 15532 测试 / 8567 文档 / 8566 过程组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TOGAF 四域：业务 · 数据 · 应用 · 技术架构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docs/07 ADR-001 架构决策记录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目录结构（23 个文件）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config/rules.yaml      规则外置：改配置不改代码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src/device_init/  config · core · io_utils · report · pipeline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tests/      正常 / 边界 / 异常三档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验收口径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pytest 全绿；run.py 产出报告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改配置不改代码；二次运行结果一致（种子固定）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8 份过程文档齐全 → 可直接构成答辩材料链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实测验收 · w01_device_init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1371600"/>
            <a:ext cx="12188952" cy="713232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26464"/>
            <a:ext cx="2651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E7D46"/>
                </a:solidFill>
                <a:latin typeface="微软雅黑"/>
              </a:rPr>
              <a:t>实测达成档位</a:t>
            </a:r>
          </a:p>
          <a:p>
            <a:r>
              <a:rPr sz="1400" b="1">
                <a:solidFill>
                  <a:srgbClr val="2E7D46"/>
                </a:solidFill>
                <a:latin typeface="微软雅黑"/>
              </a:rPr>
              <a:t>优(A)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0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AST 台账变量 10 个/4 种类型(bool,float,int,str)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01184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46904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换算函数 3 个、独立公式复核错 0 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01968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冒号列 7 行同列 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02752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48472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input() 实测: 越界/非数字当场拒收=True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03536" y="1426464"/>
            <a:ext cx="1627632" cy="603504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9256" y="1463040"/>
            <a:ext cx="1536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35506E"/>
                </a:solidFill>
                <a:latin typeface="微软雅黑"/>
              </a:rPr>
              <a:t>范围提示进提问行=True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457200" y="2212848"/>
          <a:ext cx="11274552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5120640"/>
                <a:gridCol w="3886200"/>
                <a:gridCol w="1078992"/>
              </a:tblGrid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档位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工单验收标准（原文）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本次实测判定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微软雅黑"/>
                        </a:rPr>
                        <a:t>判定</a:t>
                      </a:r>
                    </a:p>
                  </a:txBody>
                  <a:tcPr>
                    <a:solidFill>
                      <a:srgbClr val="01032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及格(D)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≥6 个变量、≥3 种数据类型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规范率门槛≥70%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良好(C)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输出格式清晰对齐（实测口径：≥5 条键值行冒号同列）；换算正确（实测口径：独立公式逐条复核 0 失败）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规范率门槛: 工单未设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优秀(B)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≥8 变量、4 种类型；换算≥2 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B2F36"/>
                          </a:solidFill>
                          <a:latin typeface="微软雅黑"/>
                        </a:rPr>
                        <a:t>优(A)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达 B 且使用 input() 录入并校验（温度范围提示）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0">
                          <a:solidFill>
                            <a:srgbClr val="2B2F36"/>
                          </a:solidFill>
                          <a:latin typeface="微软雅黑"/>
                        </a:rPr>
                        <a:t>规范率门槛≥90% [达标] ｜ 功能OK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E7D46"/>
                          </a:solidFill>
                          <a:latin typeface="微软雅黑"/>
                        </a:rPr>
                        <a:t>✓ 达标</a:t>
                      </a:r>
                    </a:p>
                  </a:txBody>
                  <a:tcPr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29" name="Rectangle 28"/>
          <p:cNvSpPr/>
          <p:nvPr/>
        </p:nvSpPr>
        <p:spPr>
          <a:xfrm>
            <a:off x="457200" y="5138928"/>
            <a:ext cx="11274552" cy="1261872"/>
          </a:xfrm>
          <a:prstGeom prst="rect">
            <a:avLst/>
          </a:prstGeom>
          <a:solidFill>
            <a:srgbClr val="FFF7E8"/>
          </a:solidFill>
          <a:ln>
            <a:solidFill>
              <a:srgbClr val="E8C8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5212080"/>
            <a:ext cx="1092708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6B4E16"/>
                </a:solidFill>
                <a:latin typeface="微软雅黑"/>
              </a:rPr>
              <a:t>人工答辩项 0 条：四档门槛均由代码实测判定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档位是算出来的：判定值由 run.py 本次真跑产生；工单未给数字的门槛在报告里标注为「兜底口径·非工单数字」。</a:t>
            </a:r>
          </a:p>
          <a:p>
            <a:r>
              <a:rPr sz="950" b="0">
                <a:solidFill>
                  <a:srgbClr val="6B4E16"/>
                </a:solidFill>
                <a:latin typeface="微软雅黑"/>
              </a:rPr>
              <a:t>实测值共 6 项，本页只列前 5 项，其余见下页 report.txt 截图。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实跑截图证据 · w01_device_init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77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① run.py 实跑终端输出（逐字捕获）</a:t>
            </a:r>
          </a:p>
        </p:txBody>
      </p:sp>
      <p:pic>
        <p:nvPicPr>
          <p:cNvPr id="18" name="Picture 17" descr="shot_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038" y="1773936"/>
            <a:ext cx="4472722" cy="1956816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6327648" y="1481328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517904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② pytest 全绿终端输出（逐字捕获）</a:t>
            </a:r>
          </a:p>
        </p:txBody>
      </p:sp>
      <p:pic>
        <p:nvPicPr>
          <p:cNvPr id="21" name="Picture 20" descr="shot_te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486" y="1773936"/>
            <a:ext cx="4472722" cy="1956816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457200" y="3877056"/>
            <a:ext cx="5486400" cy="230428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③ report.txt「验收档位判定（实测）」段</a:t>
            </a:r>
          </a:p>
        </p:txBody>
      </p:sp>
      <p:pic>
        <p:nvPicPr>
          <p:cNvPr id="24" name="Picture 23" descr="shot_repo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4038" y="4169664"/>
            <a:ext cx="4472722" cy="1956816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6327648" y="3877056"/>
            <a:ext cx="5486400" cy="2304288"/>
          </a:xfrm>
          <a:prstGeom prst="rect">
            <a:avLst/>
          </a:prstGeom>
          <a:solidFill>
            <a:srgbClr val="F7F9FB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3913632"/>
            <a:ext cx="5340096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010328"/>
                </a:solidFill>
                <a:latin typeface="微软雅黑"/>
              </a:rPr>
              <a:t>④ 采集口径（可复现）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37376" y="4187952"/>
            <a:ext cx="526694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项目：02-程序设计基础/工程化项目/w01_device_init/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命令：/opt/anaconda3/bin/python run.py ｜ /opt/anaconda3/bin/python -m pytest -q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采集：工具/ppt97/capture97.py（2026-10-28 10:46 真跑逐字捕获输出）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渲染：工具/ppt97/terminal_png.py（终端截图，不改写任何数字）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退出码：run=0 ｜ pytest=0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档位判定取自 output/report.txt「验收档位判定（实测）」段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25449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A8698"/>
                </a:solidFill>
                <a:latin typeface="微软雅黑"/>
              </a:rPr>
              <a:t>截图内容逐字取自 工具/ppt97/evidence/w01_device_init/（capture97.py 真跑捕获，未改写数字）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首程序仪式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运行w01示例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改一个变量值再跑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截图打卡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Hello World跑通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规范率门槛≥70%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基础台账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定义6个变量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print逐项输出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完成1处换算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6变量3类型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规范率门槛: 工单未设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完整台账卡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定义8个变量覆盖4类型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f-string对齐输出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完成℃→℉与kPa→MPa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8变量+2处换算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输入校验+多行台账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input录入并校验范围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循环输出多设备台账卡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加单位换算双项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1">
                <a:solidFill>
                  <a:srgbClr val="010328"/>
                </a:solidFill>
                <a:latin typeface="微软雅黑"/>
              </a:rPr>
              <a:t>✔ 达标标准: 8变量4类型+校验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(A层加码: 用input()录入参数并加范围校验（超出提示重输）)</a:t>
            </a:r>
          </a:p>
          <a:p>
            <a:r>
              <a:rPr sz="1050" b="1">
                <a:solidFill>
                  <a:srgbClr val="010328"/>
                </a:solidFill>
                <a:latin typeface="微软雅黑"/>
              </a:rPr>
              <a:t>✓ 本次实测达标 ｜ 规范率门槛≥90% [达标] ｜ 功能OK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定义≥6变量≥3种数据类型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f-string输出“设备台账卡”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完成单位换算(℃→℉/kPa→MPa)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中文引号/冒号会报SyntaxError——用英文标点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temp=36.5是赋值，temp==36.5是比较，别混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input()返回的都是字符串，算术前要转换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SyntaxError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中文标点/冒号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全用英文标点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NameError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拼写不一致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搜索变量名核对大小写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f-string原样输出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少了f前缀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加f前缀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D·学徒（≥60）：首程序仪式——跟做保底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C·操作员（≥70）：基础台账——基础完成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B·组长（≥80）：完整台账卡——标准达成+帮带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A·师傅（≥90）：输入校验+多行台账——进阶拓展+费曼讲解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步骤1：定义≥6变量≥3种数据类型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步骤2：f-string输出“设备台账卡”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步骤3：完成单位换算(℃→℉/kPa→MPa)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conda环境正确（提示符显示(py02）再运行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49 / 77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提交物与评分（工单0.1）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学号_姓名_0.1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完成工单项目0.1《设备参数初始化系统》：及格标准定义≥6个变量、≥3种数据类型、规范率≥70%；优秀标准≥8个变量、4种类型、含单位换算与注释、规范率≥90%；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完成环境搭建截图与第一个Hello World程序；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预习条件判断（if/elif/else）。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77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工匠精神：规范命名、及时保存、报错必究的编码习惯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工程伦理：数据安全与隐私保护, 不抄代码、引用注明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协作素养：ABCD角色轮换履职, 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77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088" y="1847088"/>
            <a:ext cx="10780776" cy="2395728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75104"/>
            <a:ext cx="10451592" cy="2139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① 参考实现真实运行输出（本课工单·完成态）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====== 设备台账卡 ======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编号: DEV-2026-001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名称: 智能注塑机      状态: 运行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温度:   56.5℃ (133.7℉)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4546A"/>
                </a:solidFill>
                <a:latin typeface="微软雅黑"/>
              </a:rPr>
              <a:t>压力: 0.45MPa  转速: 1480rpm</a:t>
            </a:r>
          </a:p>
        </p:txBody>
      </p:sp>
      <p:sp>
        <p:nvSpPr>
          <p:cNvPr id="7" name="Rectangle 6"/>
          <p:cNvSpPr/>
          <p:nvPr/>
        </p:nvSpPr>
        <p:spPr>
          <a:xfrm>
            <a:off x="6885432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0024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③ 四级达标线（当堂评分）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D·学徒 ≥60 跟做完成核心步骤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C·操作员 ≥70 基础功能完成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B·组长 ≥80 全功能+规范+帮带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4315968"/>
            <a:ext cx="4599432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443984"/>
            <a:ext cx="4270248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② 关键自检点（对照工单逐项核对）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代码从头跑到尾不报错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输出格式符合工单样例（对齐/单位/小数位）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文件名 学号_姓名_工单号.py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088" y="5413248"/>
            <a:ext cx="10780776" cy="100584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541264"/>
            <a:ext cx="10451592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④ 提交规范（过程性证据）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运行截图贴工单过程记录栏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Git 本次课≥1条 commit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4546A"/>
                </a:solidFill>
                <a:latin typeface="微软雅黑"/>
              </a:rPr>
              <a:t>□ 互查签字后提交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77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pip装包很慢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配清华镜像：pip config set global.index-url https://pypi.tuna.tsinghua.edu.cn/simple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Jupyter启动不了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先conda activate py02再jupyter notebook；看报错第一行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代码能跑但不规范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对照PEP 8卡：snake_case命名+4空格缩进+f-string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检查与评价 · 小结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2800000" cy="42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3300000"/>
            <a:ext cx="28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0000" y="4300000"/>
            <a:ext cx="28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部分小结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3900000" y="2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80000" y="19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三层质检：自检→互查签字→教师抽查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00000" y="27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80000" y="26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评分四级量表+四权重已明确，24小时内平台反馈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00000" y="34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0000" y="3300000"/>
            <a:ext cx="76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课后任务+下次课预告形成学习闭环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77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车间设备台账还靠Excel手抄，格式天天错、查找靠肉眼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Python变量+f-string+文件读写，30行代码生成规范台账卡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0.1的技能点即其最小实现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下一步：把台账接到数据库（03课P5）/自动采集（02课W11）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77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77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学习策略：这门课怎么学最有效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先例后理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先跑代码看结果，再回头懂原理——PRIMM教学法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费曼技巧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A层讲给D层听——讲得清才是真懂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错题资产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每个报错记入错误速查表——期末它是你的复习宝典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提交习惯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小步提交（每完成一步就commit）——回退不求人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77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进阶路线图（从今天的课往哪走）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本周：工单核心技能→下周：组合应用→期末：综合项目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横向：本课技能在03课P项目链中的位置（工程化/全栈）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纵向：证书线——初级操作题→中级工程题（1+X/工信部）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竞赛线：校级选拔→世界职业院校技能大赛（人工智能赛道）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岗位线：跟做学徒→独立操作→带组师傅→产线负责人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77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本周各层达标预期（%）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1896000" y="2600000"/>
            <a:ext cx="1400000" cy="28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6000" y="204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100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D层·跟做保底</a:t>
            </a:r>
          </a:p>
        </p:txBody>
      </p:sp>
      <p:sp>
        <p:nvSpPr>
          <p:cNvPr id="8" name="Rectangle 7"/>
          <p:cNvSpPr/>
          <p:nvPr/>
        </p:nvSpPr>
        <p:spPr>
          <a:xfrm>
            <a:off x="3996000" y="3160000"/>
            <a:ext cx="1400000" cy="224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96000" y="26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80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C层·基础完成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0" y="3720000"/>
            <a:ext cx="1400000" cy="1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96000" y="316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B层·标准达成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96000" y="4560000"/>
            <a:ext cx="1400000" cy="8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96000" y="400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96000" y="5480000"/>
            <a:ext cx="1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A层·进阶拓展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00000" y="5400000"/>
            <a:ext cx="9400000" cy="3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0000" y="6100000"/>
            <a:ext cx="109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预期≠上限：动态升降制下人人可冲上一层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77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课前预习清单（下次课前完成）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微课知识卡：安装Python与PyCharm CE并运行首程序——应用：见工（5分钟视频+导学单）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Jupyter实训notebook：先跑教师版看答案，再试学生版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预习快问：下次课quiz从微课与导学单出题——带着答案来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Git推送本周工单：还没提交的课后补上（周达标率依据）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77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知识口袋书（本课概念速记）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 变量=给值贴标签；动态类型随值走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 四种基本类型：int/float/str/bool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 type()查看类型；int('36')显式转换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用法：睡前30秒过一遍——口袋书越翻越薄，技能越练越厚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77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输出对比：好的 vs 差的（规范从第一课开始）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好的输出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表头对齐·单位齐全·小数位统一·命名规范（snake_case）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差的输出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数字裸奔无单位·列不对齐·temp1/temp2乱命名·中文引号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差多少分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同样的功能——规范20%+素养15%两项就能差出35分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为什么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车间台账要给人看——读不懂的输出=没交付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与Pyth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on的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变量=给值贴标签；动态类型随值走——应用：dev_code='PUMP-03'; temp=78.5; print(type(temp))→&lt;class 'float'&gt;，同一变量可随时换类型 · 四种基本类型：int/float/str/bool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安装Python与PyCharm CE并运行首程序——应用：见工单starter与教师参考实现 · 定义多类型变量并格式化输出台账卡——应用：见工单starter与教师参考实现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SyntaxError · NameError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工单0.1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常见场景应对（卡住了怎么办）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场景①代码报错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读报错最后一行→查错误速查表→还没解决举手（附截图）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场景②不知道做啥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回看操作核对清单□——第一个没勾的就是下一步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场景③做完了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90秒最后一查→Git提交→帮同组D/C层（B层职责）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场景④提前全完成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A层拓展任务→费曼准备→预习下次课微课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69 / 77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微课与自学资源（课后补弱/拓强）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微课知识卡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本周主题：安装Python与PyCharm CE并运行首程序——应用：见工——5分钟视频+导学单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数字人版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同内容数字人讲解——喜欢听的换着看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Jupyter师生版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教师版有完整答案——先看懂再独立做学生版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多解法手册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教师参考/多解法手册——同一任务三种深度解法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70 / 77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答辩预演（期末综合项目的彩排）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①30秒讲需求：这个工单解决什么问题、给谁用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②60秒讲方案：数据从哪来→怎么处理→输出什么（三段式）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③60秒讲亮点：我踩过的坑+怎么爬出来的（错误速查表就是素材）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④答辩礼仪：指着屏幕讲，不念稿；被问住就说'这个我课后验证'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从本周开始练——期末答辩=12周彩排的总和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71 / 77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课堂实录清单（过程性考核证据）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运行截图：代码+输出同框（截全不截半）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工单过程栏：步骤勾选+决策理由+自查记录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Git提交：本次课至少1条commit（message规范）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同伴签字：互查通过后签名（讲得清才算会）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四项齐全=过程分满分；缺一项课后24小时内补齐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72 / 77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73 / 77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温度用int还是float？为什么？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排错题：出现「SyntaxError」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原因：中文标点/冒号；解决：全用英文标点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变量=给值贴标签；动态类型随值走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74 / 77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知识：变量=给值贴标签；动态类型随值走；四种基本类型：int/float/str；type()查看类型；int('36')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技能：安装Python与PyCharm CE并运行首程序——应用：见工单starter与教师参考实现；定义多类型变量并格式化输出台账卡——应用：见工单starter与教师参考实现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交付：工单0.1《设备参数初始化系统》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75 / 77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76 / 77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编写多级阈值判断逻辑——应用：见工单starte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temp=80时，‘temp&gt;=80’和‘temp&gt;80’结果分别是什么？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