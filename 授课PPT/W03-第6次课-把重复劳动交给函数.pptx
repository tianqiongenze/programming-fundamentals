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70" r:id="rId74"/>
    <p:sldId id="257" r:id="rId9"/>
    <p:sldId id="258" r:id="rId10"/>
    <p:sldId id="259" r:id="rId11"/>
    <p:sldId id="260" r:id="rId12"/>
    <p:sldId id="261" r:id="rId13"/>
    <p:sldId id="263" r:id="rId15"/>
    <p:sldId id="264" r:id="rId16"/>
    <p:sldId id="266" r:id="rId18"/>
    <p:sldId id="267" r:id="rId19"/>
    <p:sldId id="271" r:id="rId23"/>
    <p:sldId id="273" r:id="rId25"/>
    <p:sldId id="274" r:id="rId26"/>
    <p:sldId id="275" r:id="rId27"/>
    <p:sldId id="276" r:id="rId28"/>
    <p:sldId id="277" r:id="rId29"/>
    <p:sldId id="278" r:id="rId30"/>
    <p:sldId id="280" r:id="rId32"/>
    <p:sldId id="281" r:id="rId33"/>
    <p:sldId id="282" r:id="rId34"/>
    <p:sldId id="287" r:id="rId39"/>
    <p:sldId id="289" r:id="rId41"/>
    <p:sldId id="290" r:id="rId42"/>
    <p:sldId id="292" r:id="rId44"/>
    <p:sldId id="295" r:id="rId47"/>
    <p:sldId id="296" r:id="rId48"/>
    <p:sldId id="298" r:id="rId50"/>
    <p:sldId id="300" r:id="rId52"/>
    <p:sldId id="303" r:id="rId55"/>
    <p:sldId id="304" r:id="rId56"/>
    <p:sldId id="308" r:id="rId60"/>
    <p:sldId id="310" r:id="rId62"/>
    <p:sldId id="311" r:id="rId63"/>
    <p:sldId id="313" r:id="rId65"/>
    <p:sldId id="315" r:id="rId67"/>
    <p:sldId id="317" r:id="rId69"/>
    <p:sldId id="318" r:id="rId70"/>
    <p:sldId id="366" r:id="rId81"/>
    <p:sldId id="367" r:id="rId78"/>
    <p:sldId id="368" r:id="rId85"/>
    <p:sldId id="369" r:id="rId76"/>
    <p:sldId id="319" r:id="rId71"/>
    <p:sldId id="321" r:id="rId73"/>
    <p:sldId id="323" r:id="rId75"/>
    <p:sldId id="325" r:id="rId77"/>
    <p:sldId id="327" r:id="rId79"/>
    <p:sldId id="328" r:id="rId80"/>
    <p:sldId id="330" r:id="rId82"/>
    <p:sldId id="331" r:id="rId83"/>
    <p:sldId id="332" r:id="rId84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4" r:id="rId116"/>
    <p:sldId id="365" r:id="rId117"/>
    <p:sldId id="371" r:id="rId72"/>
    <p:sldId id="372" r:id="rId6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3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9" Type="http://schemas.openxmlformats.org/officeDocument/2006/relationships/slide" Target="slides/slide21.xml"/><Relationship Id="rId41" Type="http://schemas.openxmlformats.org/officeDocument/2006/relationships/slide" Target="slides/slide22.xml"/><Relationship Id="rId42" Type="http://schemas.openxmlformats.org/officeDocument/2006/relationships/slide" Target="slides/slide23.xml"/><Relationship Id="rId44" Type="http://schemas.openxmlformats.org/officeDocument/2006/relationships/slide" Target="slides/slide24.xml"/><Relationship Id="rId47" Type="http://schemas.openxmlformats.org/officeDocument/2006/relationships/slide" Target="slides/slide25.xml"/><Relationship Id="rId48" Type="http://schemas.openxmlformats.org/officeDocument/2006/relationships/slide" Target="slides/slide26.xml"/><Relationship Id="rId50" Type="http://schemas.openxmlformats.org/officeDocument/2006/relationships/slide" Target="slides/slide27.xml"/><Relationship Id="rId52" Type="http://schemas.openxmlformats.org/officeDocument/2006/relationships/slide" Target="slides/slide28.xml"/><Relationship Id="rId55" Type="http://schemas.openxmlformats.org/officeDocument/2006/relationships/slide" Target="slides/slide29.xml"/><Relationship Id="rId56" Type="http://schemas.openxmlformats.org/officeDocument/2006/relationships/slide" Target="slides/slide30.xml"/><Relationship Id="rId60" Type="http://schemas.openxmlformats.org/officeDocument/2006/relationships/slide" Target="slides/slide31.xml"/><Relationship Id="rId62" Type="http://schemas.openxmlformats.org/officeDocument/2006/relationships/slide" Target="slides/slide32.xml"/><Relationship Id="rId63" Type="http://schemas.openxmlformats.org/officeDocument/2006/relationships/slide" Target="slides/slide33.xml"/><Relationship Id="rId65" Type="http://schemas.openxmlformats.org/officeDocument/2006/relationships/slide" Target="slides/slide34.xml"/><Relationship Id="rId67" Type="http://schemas.openxmlformats.org/officeDocument/2006/relationships/slide" Target="slides/slide35.xml"/><Relationship Id="rId68" Type="http://schemas.openxmlformats.org/officeDocument/2006/relationships/slide" Target="slides/slide82.xml"/><Relationship Id="rId69" Type="http://schemas.openxmlformats.org/officeDocument/2006/relationships/slide" Target="slides/slide36.xml"/><Relationship Id="rId70" Type="http://schemas.openxmlformats.org/officeDocument/2006/relationships/slide" Target="slides/slide37.xml"/><Relationship Id="rId71" Type="http://schemas.openxmlformats.org/officeDocument/2006/relationships/slide" Target="slides/slide42.xml"/><Relationship Id="rId72" Type="http://schemas.openxmlformats.org/officeDocument/2006/relationships/slide" Target="slides/slide81.xml"/><Relationship Id="rId73" Type="http://schemas.openxmlformats.org/officeDocument/2006/relationships/slide" Target="slides/slide43.xml"/><Relationship Id="rId74" Type="http://schemas.openxmlformats.org/officeDocument/2006/relationships/slide" Target="slides/slide80.xml"/><Relationship Id="rId75" Type="http://schemas.openxmlformats.org/officeDocument/2006/relationships/slide" Target="slides/slide44.xml"/><Relationship Id="rId76" Type="http://schemas.openxmlformats.org/officeDocument/2006/relationships/slide" Target="slides/slide41.xml"/><Relationship Id="rId77" Type="http://schemas.openxmlformats.org/officeDocument/2006/relationships/slide" Target="slides/slide45.xml"/><Relationship Id="rId78" Type="http://schemas.openxmlformats.org/officeDocument/2006/relationships/slide" Target="slides/slide39.xml"/><Relationship Id="rId79" Type="http://schemas.openxmlformats.org/officeDocument/2006/relationships/slide" Target="slides/slide46.xml"/><Relationship Id="rId80" Type="http://schemas.openxmlformats.org/officeDocument/2006/relationships/slide" Target="slides/slide47.xml"/><Relationship Id="rId81" Type="http://schemas.openxmlformats.org/officeDocument/2006/relationships/slide" Target="slides/slide38.xml"/><Relationship Id="rId82" Type="http://schemas.openxmlformats.org/officeDocument/2006/relationships/slide" Target="slides/slide48.xml"/><Relationship Id="rId83" Type="http://schemas.openxmlformats.org/officeDocument/2006/relationships/slide" Target="slides/slide49.xml"/><Relationship Id="rId84" Type="http://schemas.openxmlformats.org/officeDocument/2006/relationships/slide" Target="slides/slide50.xml"/><Relationship Id="rId85" Type="http://schemas.openxmlformats.org/officeDocument/2006/relationships/slide" Target="slides/slide40.xml"/><Relationship Id="rId86" Type="http://schemas.openxmlformats.org/officeDocument/2006/relationships/slide" Target="slides/slide51.xml"/><Relationship Id="rId87" Type="http://schemas.openxmlformats.org/officeDocument/2006/relationships/slide" Target="slides/slide52.xml"/><Relationship Id="rId88" Type="http://schemas.openxmlformats.org/officeDocument/2006/relationships/slide" Target="slides/slide53.xml"/><Relationship Id="rId89" Type="http://schemas.openxmlformats.org/officeDocument/2006/relationships/slide" Target="slides/slide54.xml"/><Relationship Id="rId90" Type="http://schemas.openxmlformats.org/officeDocument/2006/relationships/slide" Target="slides/slide55.xml"/><Relationship Id="rId91" Type="http://schemas.openxmlformats.org/officeDocument/2006/relationships/slide" Target="slides/slide56.xml"/><Relationship Id="rId92" Type="http://schemas.openxmlformats.org/officeDocument/2006/relationships/slide" Target="slides/slide57.xml"/><Relationship Id="rId93" Type="http://schemas.openxmlformats.org/officeDocument/2006/relationships/slide" Target="slides/slide58.xml"/><Relationship Id="rId94" Type="http://schemas.openxmlformats.org/officeDocument/2006/relationships/slide" Target="slides/slide59.xml"/><Relationship Id="rId95" Type="http://schemas.openxmlformats.org/officeDocument/2006/relationships/slide" Target="slides/slide60.xml"/><Relationship Id="rId96" Type="http://schemas.openxmlformats.org/officeDocument/2006/relationships/slide" Target="slides/slide61.xml"/><Relationship Id="rId97" Type="http://schemas.openxmlformats.org/officeDocument/2006/relationships/slide" Target="slides/slide62.xml"/><Relationship Id="rId98" Type="http://schemas.openxmlformats.org/officeDocument/2006/relationships/slide" Target="slides/slide63.xml"/><Relationship Id="rId99" Type="http://schemas.openxmlformats.org/officeDocument/2006/relationships/slide" Target="slides/slide64.xml"/><Relationship Id="rId100" Type="http://schemas.openxmlformats.org/officeDocument/2006/relationships/slide" Target="slides/slide65.xml"/><Relationship Id="rId101" Type="http://schemas.openxmlformats.org/officeDocument/2006/relationships/slide" Target="slides/slide66.xml"/><Relationship Id="rId102" Type="http://schemas.openxmlformats.org/officeDocument/2006/relationships/slide" Target="slides/slide67.xml"/><Relationship Id="rId103" Type="http://schemas.openxmlformats.org/officeDocument/2006/relationships/slide" Target="slides/slide68.xml"/><Relationship Id="rId104" Type="http://schemas.openxmlformats.org/officeDocument/2006/relationships/slide" Target="slides/slide69.xml"/><Relationship Id="rId105" Type="http://schemas.openxmlformats.org/officeDocument/2006/relationships/slide" Target="slides/slide70.xml"/><Relationship Id="rId106" Type="http://schemas.openxmlformats.org/officeDocument/2006/relationships/slide" Target="slides/slide71.xml"/><Relationship Id="rId107" Type="http://schemas.openxmlformats.org/officeDocument/2006/relationships/slide" Target="slides/slide72.xml"/><Relationship Id="rId108" Type="http://schemas.openxmlformats.org/officeDocument/2006/relationships/slide" Target="slides/slide73.xml"/><Relationship Id="rId109" Type="http://schemas.openxmlformats.org/officeDocument/2006/relationships/slide" Target="slides/slide74.xml"/><Relationship Id="rId110" Type="http://schemas.openxmlformats.org/officeDocument/2006/relationships/slide" Target="slides/slide75.xml"/><Relationship Id="rId111" Type="http://schemas.openxmlformats.org/officeDocument/2006/relationships/slide" Target="slides/slide76.xml"/><Relationship Id="rId112" Type="http://schemas.openxmlformats.org/officeDocument/2006/relationships/slide" Target="slides/slide77.xml"/><Relationship Id="rId116" Type="http://schemas.openxmlformats.org/officeDocument/2006/relationships/slide" Target="slides/slide78.xml"/><Relationship Id="rId117" Type="http://schemas.openxmlformats.org/officeDocument/2006/relationships/slide" Target="slides/slide7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开场30秒：本次课《把重复劳动交给函数》，80分钟＝2课时×40分钟。课前已发工单+starter+微课知识卡，资讯·计划线上完成。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讲10→演10→模仿10→练习10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情境说书（30秒，口头讲，不必逐字念）：告警逻辑单机版通过，但王主任要的是'一块屏看全部'。李姐提醒：十台设备×全天循环，靠复制粘贴要写到明年——工单0.2b：用循环和函数，让告警系统自动转起来。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详解B1·for与while：先读定义→场景为什么用它→看代码实例→扩展给A层。C/D层掌握前三格，A层加扩展格。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应用页1：把知识点放回产线场景——先看代码输出，再回看定义，强化'学以致用'。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详解B2·break与continue：先读定义→场景为什么用它→看代码实例→扩展给A层。C/D层掌握前三格，A层加扩展格。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详解B3·循环三要素：先读定义→场景为什么用它→看代码实例→扩展给A层。C/D层掌握前三格，A层加扩展格。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应用页3：把知识点放回产线场景——先看代码输出，再回看定义，强化'学以致用'。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详解B4·random随机数：先读定义→场景为什么用它→看代码实例→扩展给A层。C/D层掌握前三格，A层加扩展格。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详解B5·函数封装：先读定义→场景为什么用它→看代码实例→扩展给A层。C/D层掌握前三格，A层加扩展格。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详解B6·列表与字典入门：先读定义→场景为什么用它→看代码实例→扩展给A层。C/D层掌握前三格，A层加扩展格。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应用页6：把知识点放回产线场景——先看代码输出，再回看定义，强化'学以致用'。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现场演示《双层循环+统计》：三步走——先整段跑通看结果，再逐行讲关键语句，最后现场改一个参数看输出变化（演10分钟的核心素材）。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工单发布话术：'精密制造事业部发来工单0.2b《工业实时告警系统Ⅱ》，及格线是循，优秀线看A层标准'——念完发starter。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错误速查：现场演示第一条——制造「死循环」，带着学生按'现象→原因→解决'三步排查。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项目2 驰骋操场，挥写青春 | 预习知识点：if-elif-else条件结构；逻辑运算符and/or/not | 课中检查知识点：能写温度告警三级阈值判断；能画出条件分支流程图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把重复劳动交给函数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第三周 · 第6次课（2课时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CE（全程主编辑器）+ Jupyter（每周notebook）+ Git/GitHub（每周提交）</a:t>
            </a:r>
          </a:p>
        </p:txBody>
      </p:sp>
      <p:pic>
        <p:nvPicPr>
          <p:cNvPr id="7" name="Picture 6" descr="W3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四步法节奏：讲-演-模仿-练习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讲10′+演10′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基础知识大卡+现场演示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模仿与练习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10′+10′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跟做保底→独立完成（工单分层）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79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79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79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79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把重复劳动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交给函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for+range遍历；while满足条件循环——应用：见工单starter与教师参考实现 · break跳出一层/continue跳过本轮——应用：见工单starter与教师参考实现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循环三要素：初始化/条件/更新——应用：for i in range(10):读设备[i]——初始化i/条件i&lt;10/更新i+=1三件缺一不可 · random.uniform(a,b)随机浮点；seed固定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双层循环模拟多设备多周期——应用：见工单starter与教师参考实现 · 封装check_device/alarm两函数——应用：见工单starter与教师参考实现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79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技能线：双层循环模拟多设备多周期——应用：见工单starter与教师参考实现；封装check_device/alarm两函数——应用：见工单starter与教师参考实现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79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精密制造事业部：工业数据采集技术员、边缘计算运维员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0.2b《工业实时告警系统Ⅱ》——本课工单即考核单元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Python开发职业技能等级证书（工信部）——本课对应初级操作题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79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79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复习检查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课前5分钟：代码听写/找错微练习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精讲原理与工业应用背景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教师实时代码演示（关键步骤慢放）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模仿·练习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31min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跟做→独立完成小任务（人人有产出）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8min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当堂评分 + 避坑清单更新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共80分钟（四步法）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79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79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目标：掌握for/while循环的结构与适用场景；掌握函数定义、参数传递与返回值；理解变量作用域规则。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79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目标：能够编写150-300行的循环监测程序；能够设计多个告警函数并进行循环告警测试；代码规范率≥75%。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79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目标：体会“复用与抽象”的工程价值，培养用函数组织代码的模块化思维。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79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函数参数传入-返回值的数据流怎么走？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79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《Python程序设计项目化教》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项目2 驰骋操场，挥写青春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if-elif-else条件结构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逻辑运算符and/or/not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课中检查｜上次课（W2）抽查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能写出f'{dev}温度{temp:.1f}℃'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358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00000" y="362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0000" y="3540000"/>
            <a:ext cx="386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能区分==与is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0000" y="438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79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题目：函数参数传入-返回值的数据流怎么走？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79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告警逻辑单机版通过，但王主任要的是'一块屏看全部'。李姐提醒：十台设备×全天循环，靠复制粘贴要写到明年——工单0.2b：用循环和函数，让告警系统自动转起来。</a:t>
            </a:r>
          </a:p>
        </p:txBody>
      </p:sp>
      <p:pic>
        <p:nvPicPr>
          <p:cNvPr id="9" name="Picture 8" descr="W3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79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任务背景：告警逻辑单机版通过，但王主任要的是'一块屏看全部'。李姐提醒：十台设备×全天循环，靠复制粘贴要写到明年—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79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掌握for/while循环的结构与适用场景；掌握函数定义、参数传递与返回值；理解变量作用域规则。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能够编写150-300行的循环监测程序；能够设计多个告警函数并进行循环告警测试；代码规范率≥75%。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体会“复用与抽象”的工程价值，培养用函数组织代码的模块化思维。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对应工单0.2b评分：功能40%+技术25%+规范20%+素养15%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79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79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知识详解：for与while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for与while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for=点名册逐个念；while=哨兵盯着条件转圈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10台设备逐台采集用for；持续监控用while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for i in range(10): 读第i台；while running: 采集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误区：range(1,10)不含10——左闭右开'含头不含尾'，数轴画一遍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79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知识应用（1）：for+range遍历；while满足条件循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for+range遍历；while满足条件循环。在两江智造产线上的用法：见工单starter与教师参考实现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79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知识详解：break与continue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break与continue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break=拉闸走人；continue=跳过这个下一个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坏数据跳过本轮继续采；用户按停跳出全部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if data is None: continue；if stop: break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误区：break只跳一层——双层循环里内层break管不住外层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79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知识详解：循环三要素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循环三要素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初始值/继续条件/每轮更新——缺一个就转成死循环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while手写循环的自检口诀——写前先默念三件套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i=0 → while i&lt;10 → i+=1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误区：忘i+=1死循环——急救Ctrl+C；写while先想'怎么退出来'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79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知识应用（3）：循环三要素：初始化/条件/更新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循环三要素：初始化/条件/更新。在两江智造产线上的用法：for i in range(10):读设备[i]——初始化i/条件i&lt;10/更新i+=1三件缺一不可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for i in range(10):读设备[i]——初始化i/条件i&lt;10/更新i+=1三件缺一不可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79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知识详解：random随机数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random随机数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random.uniform(a,b)=在[a,b]扔骰子；seed=固定骰子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模拟传感器读数——没有真设备时的替身演员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random.seed(42)后每次运行数据一样——可复现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误区：不设seed每次结果不同没法调试——仿真加seed是工程惯例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79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知识详解：函数封装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函数封装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def=给一段逻辑起名装盒：投料(参数)出产品(返回值)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告警判断/换算抽成函数——写一次处处用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def c2f(c): return c*9/5+32 → c2f(78.5)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误区：忘return打印None——return是交货print是喊话，两码事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79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知识详解：列表与字典入门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列表与字典入门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列表=排队货架(有序可重复)；字典=储物柜(编号取物)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设备清单用列表；'编号→温度'台账用字典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devs.append('MOTOR-01')；t={'PUMP-03':78.5}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误区：t['PUMP4']查无此键KeyError——先用 in 判断再取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79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知识应用（6）：列表存设备序列、字典存键值属性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列表存设备序列、字典存键值属性。在两江智造产线上的用法：devs=['PUMP-03','FAN-02']; devs.append('MOTOR-01')——动态扩容无需预声明大小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devs=['PUMP-03','FAN-02']; devs.append('MOTOR-01')——动态扩容无需预声明大小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79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双层循环模拟多设备多周期——应用：见工单starter与教师参考实现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封装check_device/alarm两函数——应用：见工单starter与教师参考实现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统计各设备各级告警次数——应用：见工单starter与教师参考实现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固定seed保证结果可复现——应用：见工单starter与教师参考实现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79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把重复劳动交给函数（1）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函数的定义、参数（位置/默认/关键字）与返回值；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变量作用域：局部变量与全局变量；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工单项目0.2（下）实操：循环+函数实现完整的工业实时告警系统（模拟多设备多周期监测）；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代码规范强化：函数命名、文档字符串初步（目标规范率75%）。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79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关键代码：双层循环+统计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stats = {d["id"]: {2:0, 3:0} for d in devices}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for d in devices: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for _ in range(10):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t = d["base"] + random.uniform(-8, 15)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lv = check_device(d, t)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if lv: stats[d["id"]][lv] += 1; alarm(d, lv, t)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79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课堂教法四步法（每课时40分钟）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25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讲10min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496000" y="2600000"/>
            <a:ext cx="25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演10min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6000" y="2600000"/>
            <a:ext cx="25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模仿10min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96000" y="2600000"/>
            <a:ext cx="25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练习10min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PRIMM融合：预测→运行→研究→修改→创造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79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79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本课决策题：课堂教法：四步法（第1-6周）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79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实施任务：工单0.2b《工业实时告警系统Ⅱ》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汇总各设备告警次数并输出报告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random.seed(42)保证复现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重构上周代码为函数版(对比收益)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循环跑通+2函数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重构对比说明清楚；规范率≥85%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79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本次真跑实测输出（逐字取自 output/report.txt）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实测达成档位: 优(A) ｜ AST 函数 12 个（最长体 15 行）｜ docstring 覆盖 12/12 ｜ 循环实测 3 台×10 周期 = 30 样本 ｜ while 最长 10 轮（约定上限 10）｜ W02→W03 对照: 判级 ≥ 比较点 13→6 处 ｜ 判级函数 3→1 个（check_device）｜ core 有效行 106→113 ｜ 对比文档 docs/09-函数化收益对比-W02到W03.md（3060 字符）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及格(D)    规范率门槛≥70% [达标] ｜ 功能OK ｜ 循环跑通（设备×周期双层 for 实跑）+ 2 函数 check_device/alarm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良好(C)    规范率门槛: 工单未设 [达标] ｜ 功能OK ｜ 统计报告正确（逐台复算核对）；无死循环风险（有界实测）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优秀(B)    规范率门槛≥85% [达标] ｜ 功能OK ｜ 函数职责清晰（每个函数≤15 行，AST 实测）；注释清晰（docstring 全覆盖）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优(A)     规范率门槛≥85% [达标] ｜ 功能OK ｜ 达 B 且重构 W02 代码对比说明「函数化收益」（对照数字实测）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人工答辩项 1 条，教师答辩时确认: 「函数化收益」的取舍口头解释（对照数字已实测：判级比较点/函数数/行数）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双层循环 + 两个具名函数（check_device / alarm）跑通 3 台 × 10 周期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while 版三重退出条件，实测无死循环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实测达成档位: 优(A)；人工答辩项 1 条（教师答辩时确认）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79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项目位置与一键运行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工程化项目/w03_patrol_loop/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run.py          # 输出 output/report.txt + result.json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-m pytest -q    # 全量测试应全绿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国标与 TOGAF 落地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GB/T 9385 需求规格 / 15532 测试 / 8567 文档 / 8566 过程组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TOGAF 四域：业务 · 数据 · 应用 · 技术架构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docs/07 ADR-001 架构决策记录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目录结构（23 个文件）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config/rules.yaml      规则外置：改配置不改代码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src/patrol_loop/  config · core · io_utils · report · pipeline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tests/      正常 / 边界 / 异常三档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验收口径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pytest 全绿；run.py 产出报告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改配置不改代码；二次运行结果一致（种子固定）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8 份过程文档齐全 → 可直接构成答辩材料链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79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实测验收 · w03_patrol_loop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79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1371600"/>
            <a:ext cx="12188952" cy="71323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426464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D46"/>
                </a:solidFill>
                <a:latin typeface="微软雅黑"/>
              </a:rPr>
              <a:t>实测达成档位</a:t>
            </a:r>
          </a:p>
          <a:p>
            <a:r>
              <a:rPr sz="1400" b="1">
                <a:solidFill>
                  <a:srgbClr val="2E7D46"/>
                </a:solidFill>
                <a:latin typeface="微软雅黑"/>
              </a:rPr>
              <a:t>优(A)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46120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AST 函数 12 个（最长体 15 行）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01184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46904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docstring 覆盖 12/12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1968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47688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循环实测 3 台×10 周期 = 30 样本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02752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48472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while 最长 10 轮（约定上限 10）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03536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49256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W02→W03 对照: 判级 ≥ 比较点 13→6 处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457200" y="2212848"/>
          <a:ext cx="1127455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120640"/>
                <a:gridCol w="3886200"/>
                <a:gridCol w="1078992"/>
              </a:tblGrid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档位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工单验收标准（原文）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本次实测判定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及格(D)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循环跑通（设备×周期双层 for 实跑）+ 2 函数 check_device/alarm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规范率门槛≥70% [达标] ｜ 功能OK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良好(C)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统计报告正确（逐台复算核对）；无死循环风险（有界实测）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规范率门槛: 工单未设 [达标] ｜ 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优秀(B)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函数职责清晰（每个函数≤15 行，AST 实测）；注释清晰（docstring 全覆盖）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规范率门槛≥85% [达标] ｜ 功能OK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优(A)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达 B 且重构 W02 代码对比说明「函数化收益」（对照数字实测）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规范率门槛≥85% [达标] ｜ 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29" name="Rectangle 28"/>
          <p:cNvSpPr/>
          <p:nvPr/>
        </p:nvSpPr>
        <p:spPr>
          <a:xfrm>
            <a:off x="457200" y="5138928"/>
            <a:ext cx="11274552" cy="1261872"/>
          </a:xfrm>
          <a:prstGeom prst="rect">
            <a:avLst/>
          </a:prstGeom>
          <a:solidFill>
            <a:srgbClr val="FFF7E8"/>
          </a:solidFill>
          <a:ln>
            <a:solidFill>
              <a:srgbClr val="E8C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5212080"/>
            <a:ext cx="1092708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6B4E16"/>
                </a:solidFill>
                <a:latin typeface="微软雅黑"/>
              </a:rPr>
              <a:t>人工答辩项 1 条（代码不代判，答辩现场确认，逐条见下页 report.txt 截图）</a:t>
            </a:r>
          </a:p>
          <a:p>
            <a:r>
              <a:rPr sz="950" b="0">
                <a:solidFill>
                  <a:srgbClr val="6B4E16"/>
                </a:solidFill>
                <a:latin typeface="微软雅黑"/>
              </a:rPr>
              <a:t>档位是算出来的：判定值由 run.py 本次真跑产生；工单未给数字的门槛在报告里标注为「兜底口径·非工单数字」。</a:t>
            </a:r>
          </a:p>
          <a:p>
            <a:r>
              <a:rPr sz="950" b="0">
                <a:solidFill>
                  <a:srgbClr val="6B4E16"/>
                </a:solidFill>
                <a:latin typeface="微软雅黑"/>
              </a:rPr>
              <a:t>实测值共 8 项，本页只列前 5 项，其余见下页 report.txt 截图。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实跑截图证据 · w03_patrol_loop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79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① run.py 实跑终端输出（逐字捕获）</a:t>
            </a:r>
          </a:p>
        </p:txBody>
      </p:sp>
      <p:pic>
        <p:nvPicPr>
          <p:cNvPr id="18" name="Picture 17" descr="shot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38" y="1773936"/>
            <a:ext cx="4472722" cy="1956816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327648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② pytest 全绿终端输出（逐字捕获）</a:t>
            </a:r>
          </a:p>
        </p:txBody>
      </p:sp>
      <p:pic>
        <p:nvPicPr>
          <p:cNvPr id="21" name="Picture 20" descr="shot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486" y="1773936"/>
            <a:ext cx="4472722" cy="1956816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57200" y="3877056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③ report.txt「验收档位判定（实测）」段</a:t>
            </a:r>
          </a:p>
        </p:txBody>
      </p:sp>
      <p:pic>
        <p:nvPicPr>
          <p:cNvPr id="24" name="Picture 23" descr="shot_re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038" y="4169664"/>
            <a:ext cx="4472722" cy="195681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327648" y="3877056"/>
            <a:ext cx="5486400" cy="2304288"/>
          </a:xfrm>
          <a:prstGeom prst="rect">
            <a:avLst/>
          </a:prstGeom>
          <a:solidFill>
            <a:srgbClr val="F7F9FB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④ 采集口径（可复现）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4187952"/>
            <a:ext cx="52669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项目：02-程序设计基础/工程化项目/w03_patrol_loop/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命令：/opt/anaconda3/bin/python run.py ｜ /opt/anaconda3/bin/python -m pytest -q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采集：工具/ppt97/capture97.py（2026-10-28 10:46 真跑逐字捕获输出）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渲染：工具/ppt97/terminal_png.py（终端截图，不改写任何数字）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退出码：run=0 ｜ pytest=0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档位判定取自 output/report.txt「验收档位判定（实测）」段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25449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698"/>
                </a:solidFill>
                <a:latin typeface="微软雅黑"/>
              </a:rPr>
              <a:t>截图内容逐字取自 工具/ppt97/evidence/w03_patrol_loop/（capture97.py 真跑捕获，未改写数字）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跟做循环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运行示例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range(10)改5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看输出减半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能改周期数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规范率门槛≥70%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79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单循环跑通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一设备10周期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调用check函数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打印每轮状态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能出10轮结果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规范率门槛: 工单未设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79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循环+统计完整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3设备×10周期循环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两函数封装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告警统计报告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报告正确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规范率门槛≥85%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79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防抖动+while版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连续3次≥95才停机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while版持续监测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重构对比说明收益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统计准确+无死循环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(A层加码: 重构上周代码为函数版，对比“重构前后行数/可读性”并写50字收益说明)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规范率门槛≥85%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79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汇总各设备告警次数并输出报告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random.seed(42)保证复现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重构上周代码为函数版(对比收益)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统计字典要先初始化键，否则KeyError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函数间传数据用参数/返回值，别用全局变量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打印报告用制表符\t对齐更整齐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79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死循环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while条件永真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补更新语句+Ctrl+C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KeyError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统计键未初始化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先建{2:0,3:0}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函数内改不了外面变量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作用域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用return传值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79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D·学徒（≥60）：跟做循环——跟做保底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C·操作员（≥70）：单循环跑通——基础完成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B·组长（≥80）：循环+统计完整——标准达成+帮带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A·师傅（≥90）：防抖动+while版——进阶拓展+费曼讲解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79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步骤1：汇总各设备告警次数并输出报告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步骤2：random.seed(42)保证复现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步骤3：重构上周代码为函数版(对比收益)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79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conda环境正确（提示符显示(py02）再运行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79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79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79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提交物与评分（工单0.2b）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学号_姓名_0.2b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79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完成工单项目0.2（下）完整版《工业实时告警系统》：优秀标准实现多条件嵌套、≥2个告警函数、循环告警测试、规范率≥85%；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重构上周代码：将重复判断改写为函数；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预习类与对象的概念。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79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79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[DEV-03]注塑机 温度80.5℃ → 警告  ×3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== 告警统计 ==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DEV-01 警告 0 停机 0  ×3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79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79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pip装包很慢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配清华镜像：pip config set global.index-url https://pypi.tuna.tsinghua.edu.cn/simple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Jupyter启动不了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先conda activate py02再jupyter notebook；看报错第一行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代码能跑但不规范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对照PEP 8卡：snake_case命名+4空格缩进+f-string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79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0.2b任务书——步骤/及格线/评分细则都在里面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79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79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79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车间设备台账还靠Excel手抄，格式天天错、查找靠肉眼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Python变量+f-string+文件读写，30行代码生成规范台账卡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0.2b的技能点即其最小实现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下一步：把台账接到数据库（03课P5）/自动采集（02课W11）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79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79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79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79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79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微课知识卡：双层循环模拟多设备多周期——应用：见工单starter与教师参考（5分钟视频+导学单）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79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for+range遍历；while满足条件循环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break跳出一层/continue跳过本轮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循环三要素：初始化/条件/更新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79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79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把重复劳动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交给函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for+range遍历；while满足条件循环——应用：见工单starter与教师参考实现 · break跳出一层/continue跳过本轮——应用：见工单starter与教师参考实现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双层循环模拟多设备多周期——应用：见工单starter与教师参考实现 · 封装check_device/alarm两函数——应用：见工单starter与教师参考实现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死循环 · KeyError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工单0.2b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79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79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本周主题：双层循环模拟多设备多周期——应用：见工单starter与教师参考——5分钟视频+导学单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79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79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79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79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函数参数传入-返回值的数据流怎么走？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排错题：出现「死循环」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原因：while条件永真；解决：补更新语句+Ctrl+C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for+range遍历；while满足条件循环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79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知识：for+range遍历；while满足条；break跳出一层/continue跳过；循环三要素：初始化/条件/更新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技能：双层循环模拟多设备多周期——应用：见工单starter与教师参考实现；封装check_device/alarm两函数——应用：见工单starter与教师参考实现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交付：工单0.2b《工业实时告警系统Ⅱ》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79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79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下次课预告（第4周）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设计Device类(属性+方法)——应用：见工单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__init__什么时候执行？self指谁？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本讲对应工单：《程序设计基础》分层任务工单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