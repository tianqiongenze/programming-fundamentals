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71" r:id="rId72"/>
    <p:sldId id="257" r:id="rId9"/>
    <p:sldId id="258" r:id="rId10"/>
    <p:sldId id="259" r:id="rId11"/>
    <p:sldId id="260" r:id="rId12"/>
    <p:sldId id="261" r:id="rId13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80" r:id="rId32"/>
    <p:sldId id="281" r:id="rId33"/>
    <p:sldId id="282" r:id="rId34"/>
    <p:sldId id="287" r:id="rId39"/>
    <p:sldId id="289" r:id="rId41"/>
    <p:sldId id="292" r:id="rId44"/>
    <p:sldId id="295" r:id="rId47"/>
    <p:sldId id="298" r:id="rId50"/>
    <p:sldId id="299" r:id="rId51"/>
    <p:sldId id="301" r:id="rId53"/>
    <p:sldId id="304" r:id="rId56"/>
    <p:sldId id="308" r:id="rId60"/>
    <p:sldId id="310" r:id="rId62"/>
    <p:sldId id="311" r:id="rId63"/>
    <p:sldId id="315" r:id="rId67"/>
    <p:sldId id="316" r:id="rId68"/>
    <p:sldId id="317" r:id="rId69"/>
    <p:sldId id="318" r:id="rId70"/>
    <p:sldId id="366" r:id="rId81"/>
    <p:sldId id="367" r:id="rId78"/>
    <p:sldId id="368" r:id="rId76"/>
    <p:sldId id="369" r:id="rId74"/>
    <p:sldId id="370" r:id="rId85"/>
    <p:sldId id="319" r:id="rId71"/>
    <p:sldId id="321" r:id="rId73"/>
    <p:sldId id="323" r:id="rId75"/>
    <p:sldId id="325" r:id="rId77"/>
    <p:sldId id="327" r:id="rId79"/>
    <p:sldId id="328" r:id="rId80"/>
    <p:sldId id="330" r:id="rId82"/>
    <p:sldId id="331" r:id="rId83"/>
    <p:sldId id="332" r:id="rId84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4" r:id="rId116"/>
    <p:sldId id="365" r:id="rId117"/>
    <p:sldId id="372" r:id="rId66"/>
    <p:sldId id="373" r:id="rId6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3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4" Type="http://schemas.openxmlformats.org/officeDocument/2006/relationships/slide" Target="slides/slide20.xml"/><Relationship Id="rId39" Type="http://schemas.openxmlformats.org/officeDocument/2006/relationships/slide" Target="slides/slide21.xml"/><Relationship Id="rId41" Type="http://schemas.openxmlformats.org/officeDocument/2006/relationships/slide" Target="slides/slide22.xml"/><Relationship Id="rId44" Type="http://schemas.openxmlformats.org/officeDocument/2006/relationships/slide" Target="slides/slide23.xml"/><Relationship Id="rId47" Type="http://schemas.openxmlformats.org/officeDocument/2006/relationships/slide" Target="slides/slide24.xml"/><Relationship Id="rId50" Type="http://schemas.openxmlformats.org/officeDocument/2006/relationships/slide" Target="slides/slide25.xml"/><Relationship Id="rId51" Type="http://schemas.openxmlformats.org/officeDocument/2006/relationships/slide" Target="slides/slide26.xml"/><Relationship Id="rId53" Type="http://schemas.openxmlformats.org/officeDocument/2006/relationships/slide" Target="slides/slide27.xml"/><Relationship Id="rId56" Type="http://schemas.openxmlformats.org/officeDocument/2006/relationships/slide" Target="slides/slide28.xml"/><Relationship Id="rId60" Type="http://schemas.openxmlformats.org/officeDocument/2006/relationships/slide" Target="slides/slide29.xml"/><Relationship Id="rId62" Type="http://schemas.openxmlformats.org/officeDocument/2006/relationships/slide" Target="slides/slide30.xml"/><Relationship Id="rId63" Type="http://schemas.openxmlformats.org/officeDocument/2006/relationships/slide" Target="slides/slide31.xml"/><Relationship Id="rId65" Type="http://schemas.openxmlformats.org/officeDocument/2006/relationships/slide" Target="slides/slide81.xml"/><Relationship Id="rId66" Type="http://schemas.openxmlformats.org/officeDocument/2006/relationships/slide" Target="slides/slide80.xml"/><Relationship Id="rId67" Type="http://schemas.openxmlformats.org/officeDocument/2006/relationships/slide" Target="slides/slide32.xml"/><Relationship Id="rId68" Type="http://schemas.openxmlformats.org/officeDocument/2006/relationships/slide" Target="slides/slide33.xml"/><Relationship Id="rId69" Type="http://schemas.openxmlformats.org/officeDocument/2006/relationships/slide" Target="slides/slide34.xml"/><Relationship Id="rId70" Type="http://schemas.openxmlformats.org/officeDocument/2006/relationships/slide" Target="slides/slide35.xml"/><Relationship Id="rId71" Type="http://schemas.openxmlformats.org/officeDocument/2006/relationships/slide" Target="slides/slide41.xml"/><Relationship Id="rId72" Type="http://schemas.openxmlformats.org/officeDocument/2006/relationships/slide" Target="slides/slide79.xml"/><Relationship Id="rId73" Type="http://schemas.openxmlformats.org/officeDocument/2006/relationships/slide" Target="slides/slide42.xml"/><Relationship Id="rId74" Type="http://schemas.openxmlformats.org/officeDocument/2006/relationships/slide" Target="slides/slide39.xml"/><Relationship Id="rId75" Type="http://schemas.openxmlformats.org/officeDocument/2006/relationships/slide" Target="slides/slide43.xml"/><Relationship Id="rId76" Type="http://schemas.openxmlformats.org/officeDocument/2006/relationships/slide" Target="slides/slide38.xml"/><Relationship Id="rId77" Type="http://schemas.openxmlformats.org/officeDocument/2006/relationships/slide" Target="slides/slide44.xml"/><Relationship Id="rId78" Type="http://schemas.openxmlformats.org/officeDocument/2006/relationships/slide" Target="slides/slide37.xml"/><Relationship Id="rId79" Type="http://schemas.openxmlformats.org/officeDocument/2006/relationships/slide" Target="slides/slide45.xml"/><Relationship Id="rId80" Type="http://schemas.openxmlformats.org/officeDocument/2006/relationships/slide" Target="slides/slide46.xml"/><Relationship Id="rId81" Type="http://schemas.openxmlformats.org/officeDocument/2006/relationships/slide" Target="slides/slide36.xml"/><Relationship Id="rId82" Type="http://schemas.openxmlformats.org/officeDocument/2006/relationships/slide" Target="slides/slide47.xml"/><Relationship Id="rId83" Type="http://schemas.openxmlformats.org/officeDocument/2006/relationships/slide" Target="slides/slide48.xml"/><Relationship Id="rId84" Type="http://schemas.openxmlformats.org/officeDocument/2006/relationships/slide" Target="slides/slide49.xml"/><Relationship Id="rId85" Type="http://schemas.openxmlformats.org/officeDocument/2006/relationships/slide" Target="slides/slide40.xml"/><Relationship Id="rId86" Type="http://schemas.openxmlformats.org/officeDocument/2006/relationships/slide" Target="slides/slide50.xml"/><Relationship Id="rId87" Type="http://schemas.openxmlformats.org/officeDocument/2006/relationships/slide" Target="slides/slide51.xml"/><Relationship Id="rId88" Type="http://schemas.openxmlformats.org/officeDocument/2006/relationships/slide" Target="slides/slide52.xml"/><Relationship Id="rId89" Type="http://schemas.openxmlformats.org/officeDocument/2006/relationships/slide" Target="slides/slide53.xml"/><Relationship Id="rId90" Type="http://schemas.openxmlformats.org/officeDocument/2006/relationships/slide" Target="slides/slide54.xml"/><Relationship Id="rId91" Type="http://schemas.openxmlformats.org/officeDocument/2006/relationships/slide" Target="slides/slide55.xml"/><Relationship Id="rId92" Type="http://schemas.openxmlformats.org/officeDocument/2006/relationships/slide" Target="slides/slide56.xml"/><Relationship Id="rId93" Type="http://schemas.openxmlformats.org/officeDocument/2006/relationships/slide" Target="slides/slide57.xml"/><Relationship Id="rId94" Type="http://schemas.openxmlformats.org/officeDocument/2006/relationships/slide" Target="slides/slide58.xml"/><Relationship Id="rId95" Type="http://schemas.openxmlformats.org/officeDocument/2006/relationships/slide" Target="slides/slide59.xml"/><Relationship Id="rId96" Type="http://schemas.openxmlformats.org/officeDocument/2006/relationships/slide" Target="slides/slide60.xml"/><Relationship Id="rId97" Type="http://schemas.openxmlformats.org/officeDocument/2006/relationships/slide" Target="slides/slide61.xml"/><Relationship Id="rId98" Type="http://schemas.openxmlformats.org/officeDocument/2006/relationships/slide" Target="slides/slide62.xml"/><Relationship Id="rId99" Type="http://schemas.openxmlformats.org/officeDocument/2006/relationships/slide" Target="slides/slide63.xml"/><Relationship Id="rId100" Type="http://schemas.openxmlformats.org/officeDocument/2006/relationships/slide" Target="slides/slide64.xml"/><Relationship Id="rId101" Type="http://schemas.openxmlformats.org/officeDocument/2006/relationships/slide" Target="slides/slide65.xml"/><Relationship Id="rId102" Type="http://schemas.openxmlformats.org/officeDocument/2006/relationships/slide" Target="slides/slide66.xml"/><Relationship Id="rId103" Type="http://schemas.openxmlformats.org/officeDocument/2006/relationships/slide" Target="slides/slide67.xml"/><Relationship Id="rId104" Type="http://schemas.openxmlformats.org/officeDocument/2006/relationships/slide" Target="slides/slide68.xml"/><Relationship Id="rId105" Type="http://schemas.openxmlformats.org/officeDocument/2006/relationships/slide" Target="slides/slide69.xml"/><Relationship Id="rId106" Type="http://schemas.openxmlformats.org/officeDocument/2006/relationships/slide" Target="slides/slide70.xml"/><Relationship Id="rId107" Type="http://schemas.openxmlformats.org/officeDocument/2006/relationships/slide" Target="slides/slide71.xml"/><Relationship Id="rId108" Type="http://schemas.openxmlformats.org/officeDocument/2006/relationships/slide" Target="slides/slide72.xml"/><Relationship Id="rId109" Type="http://schemas.openxmlformats.org/officeDocument/2006/relationships/slide" Target="slides/slide73.xml"/><Relationship Id="rId110" Type="http://schemas.openxmlformats.org/officeDocument/2006/relationships/slide" Target="slides/slide74.xml"/><Relationship Id="rId111" Type="http://schemas.openxmlformats.org/officeDocument/2006/relationships/slide" Target="slides/slide75.xml"/><Relationship Id="rId112" Type="http://schemas.openxmlformats.org/officeDocument/2006/relationships/slide" Target="slides/slide76.xml"/><Relationship Id="rId116" Type="http://schemas.openxmlformats.org/officeDocument/2006/relationships/slide" Target="slides/slide77.xml"/><Relationship Id="rId117" Type="http://schemas.openxmlformats.org/officeDocument/2006/relationships/slide" Target="slides/slide7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开场30秒：本次课《读懂成千上万条故障描述》，80分钟＝2课时×40分钟。课前已发工单+starter+微课知识卡，资讯·计划线上完成。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目录页：给学生'地图感'——翻到哪部分干什么，30秒。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决策10→实施30→检查5→实施25→评价10；评价环节不压缩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情境说书（30秒，口头讲，不必逐字念）：月底设备分析会，王主任要'一页纸看清故障规律'。半年的报修单有几百条文字——工单1.3：分词+词云，让文字变成一眼可读的图。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详解B1·pip与离线whl：先读定义→场景为什么用它→看代码实例→扩展给A层。C/D层掌握前三格，A层加扩展格。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详解B2·jieba分词：先读定义→场景为什么用它→看代码实例→扩展给A层。C/D层掌握前三格，A层加扩展格。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详解B3·停用词过滤：先读定义→场景为什么用它→看代码实例→扩展给A层。C/D层掌握前三格，A层加扩展格。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详解B4·Counter词频：先读定义→场景为什么用它→看代码实例→扩展给A层。C/D层掌握前三格，A层加扩展格。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应用页4：把知识点放回产线场景——先看代码输出，再回看定义，强化'学以致用'。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详解B5·TF-IDF关键词：先读定义→场景为什么用它→看代码实例→扩展给A层。C/D层掌握前三格，A层加扩展格。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详解B6·wordcloud中文字体：先读定义→场景为什么用它→看代码实例→扩展给A层。C/D层掌握前三格，A层加扩展格。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现场演示《词云核心》：三步走——先整段跑通看结果，再逐行讲关键语句，最后现场改一个参数看输出变化（演10分钟的核心素材）。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决策矩阵用法（10分钟）：组内对备选方案打分→选型→把结论和理由写进工单'决策记录'栏；教师抽查2组口头说理由（决策追责）。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工单发布话术：'精密制造事业部发来工单1.3《工业故障分析报告生成系统》，及格线是分，优秀线看A层标准'——念完发starter。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错误速查：现场演示第一条——制造「中文变方块」，带着学生按'现象→原因→解决'三步排查。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核对清单：把工单步骤变成checklist，做完勾选——防漏做。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项目4 持校园卡，记生活账 | 预习知识点：文件读写(open/with)；CSV/文本处理 | 课中检查知识点：能with open读写设备日志文件；能逐行解析CSV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部分小结：评价收束。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学习策略：四个方法贯穿全学期——第一周讲透，以后每周复用。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进阶路线：把一门课放进三年坐标系——学完这周能走到哪。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达标预期：四层的预期比例——D层100%保底是底线承诺。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预习清单：三项任务5-15分钟——闭环从课前开始。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口袋书：三条概念卡——期末汇总成全册，学生自查工具。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好差对比：两份同功能输出对比——规范分不是白给的。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场景应对：四种状态四种动作——课堂自主运转的说明书。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微课资源：四个自学入口——补弱看微课，拓强看多解法。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答辩预演：每周2分钟练一环——期末不慌。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实录清单：过程性考核的取证清单——学生自查，教师抽查。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读懂成千上万条故障描述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第九周 · 第17次课（2课时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CE（编码）+ Jupyter（Pandas数据实验）+ Git/GitHub（每周提交）</a:t>
            </a:r>
          </a:p>
        </p:txBody>
      </p:sp>
      <p:pic>
        <p:nvPicPr>
          <p:cNvPr id="7" name="Picture 6" descr="W9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80分钟时间盒与ABCD分层节奏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带着目标进课堂+两江智造本课剧情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基础知识大卡+代码演示（先例后理）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工单发布·分层执行·避坑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78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本课目录（结构速览）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①课程定位：定位/知识地图/课证赛岗——为什么学这门课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②课堂流程：80分钟时间盒/分层节奏——今天怎么安排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③目标与情境：三维目标/剧情拆解/随堂自测——学什么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④知识精讲：知识卡×应用×深化×代码走读——怎么教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⑤任务实施：工单/四层任务/避坑/核对清单——怎么做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0000" y="55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000" y="54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⑥检查评价+⑦拓展：质检/评分/工具箱/一图流——怎么收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课程定位：Python编程基础（课程标准摘录）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专业核心基础课：面向零基础新生的编程第一课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工业数据采集技术员、边缘计算运维、平台运维员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Python开发（工信部）、AI应用实践、企业应用实施工程师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前：计算机文化基础 → 本课(第1-12周) → 后：AI应用基础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读懂成千上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万条故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pip安装与离线whl安装——应用：见工单starter与教师参考实现 · jieba.cut精确分词——应用：见工单starter与教师参考实现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停用词过滤提升信噪比——应用：见工单starter与教师参考实现 · Counter词频统计most_common——应用：见工单starter与教师参考实现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完成分词+停用词管线——应用：见工单starter与教师参考实现 · 生成词云与Top10柱状图——应用：见工单starter与教师参考实现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技能线：完成分词+停用词管线——应用：见工单starter与教师参考实现；生成词云与Top10柱状图——应用：见工单starter与教师参考实现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精密制造事业部：工业数据采集技术员、边缘计算运维员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1.3《工业故障分析报告生成系统》——本课工单即考核单元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Python开发职业技能等级证书（工信部）——本课对应初级操作题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目标：掌握pip安装第三方库的方法；掌握jieba分词与关键词提取；理解词云可视化的原理与配置。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目标：能够完成“文本→分词→关键词→词云”的完整分析链路；能够结合matplotlib呈现分析结果；代码规范率≥85%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目标：体会数据可视化对管理决策的沟通价值，培养从数据中提炼洞察的分析习惯。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词云中文变方块的原因？如何解决？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预习微课已观看；跟打练习截图已交；PyCharm CE环境正常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《Python程序设计项目化教》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项目4 持校园卡，记生活账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文件读写(open/with)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CSV/文本处理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课中检查｜上次课（W8）抽查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能按code查设备台账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00000" y="358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00000" y="362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50000" y="354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能json.loads/dumps转换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0000" y="438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题目：词云中文变方块的原因？如何解决？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月底设备分析会，王主任要'一页纸看清故障规律'。半年的报修单有几百条文字——工单1.3：分词+词云，让文字变成一眼可读的图。</a:t>
            </a:r>
          </a:p>
        </p:txBody>
      </p:sp>
      <p:pic>
        <p:nvPicPr>
          <p:cNvPr id="9" name="Picture 8" descr="W9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任务背景：月底设备分析会，王主任要'一页纸看清故障规律'。半年的报修单有几百条文字——工单1.3：分词+词云，让文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掌握pip安装第三方库的方法；掌握jieba分词与关键词提取；理解词云可视化的原理与配置。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能够完成“文本→分词→关键词→词云”的完整分析链路；能够结合matplotlib呈现分析结果；代码规范率≥85%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体会数据可视化对管理决策的沟通价值，培养从数据中提炼洞察的分析习惯。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对应工单1.3评分：功能40%+技术25%+规范20%+素养15%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知识详解：pip与离线whl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pip与离线whl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pip=应用商店；whl=下载好的安装包——断网也能装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机房无外网时用whl装jieba/wordcloud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pip install jieba-0.42.1-py3-none-any.whl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误区：没激活环境就装——装到base等于白装，先conda activate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知识详解：jieba分词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jieba分词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jieba=中文切词刀：英文按空格切，中文得靠它切词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'泵体振动异常'→['泵体','振动','异常']——文本分析第一步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words = list(jieba.cut(text))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误区：cut_all=True切太碎——教学与统计默认精确模式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知识详解：停用词过滤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停用词过滤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停用词=搭头话：'的/了/在'没信息量，先请出场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虚词霸榜时词频统计没意义——先过滤再计数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words = [w for w in words if w not in stopwords]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误区：词频不看停用词→Top10全是'的了我们'——白统计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知识详解：Counter词频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Counter词频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Counter=计票员：过一遍全记下，most_common(n)念前n名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故障报告高频词排行——维修重点的风向标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Counter(words).most_common(10)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误区：手写dict计数30行——Counter一行搞定，字典子类白送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知识应用（4）：Counter词频统计most_common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Counter词频统计most_common。在两江智造产线上的用法：见工单starter与教师参考实现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知识详解：TF-IDF关键词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TF-IDF关键词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TF-IDF=本篇常讲+别人少讲=这篇的关键词——稀有度加权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'气蚀'比'设备'更能代表这篇报告——专属词升权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TfidfVectorizer().fit_transform(docs)——sklearn一行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误区：TF-IDF值不是词频——是权重分，值越大越具代表性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知识详解：wordcloud中文字体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wordcloud中文字体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wordcloud不认中文字体=画一页方框——font_path指定字体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词云是故障报告的可视化封面——领导先看图后看数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wc = WordCloud(font_path='ZH_Font.ttf')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误区：路径错不报错只方框——先单独generate再to_file排查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完成分词+停用词管线——应用：见工单starter与教师参考实现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生成词云与Top10柱状图——应用：见工单starter与教师参考实现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extract_tags提取关键词——应用：见工单starter与教师参考实现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撰写数据支撑的故障洞察——应用：见工单starter与教师参考实现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读懂成千上万条故障描述（1）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第三方库的安装：pip工具与镜像源配置；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jieba中文分词：精确模式、全模式、搜索引擎模式；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关键词提取：jieba.analyse（TF-IDF原理直观介绍）。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关键代码：词云核心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words = [w for t in texts for w in jieba.cut(t)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 if w not in STOP and len(w) &gt; 1]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from wordcloud import WordCloud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wc = WordCloud(font_path="../教学实施资料/fonts/SourceHanSansCN-Regular.otf", width=800,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       height=400, background_color="white")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wc.generate(" ".join(words)); wc.to_file("cloud.png")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决策：分词调优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手段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效果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成本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停用词表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自定义词典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000" y="406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决策结论写入工单，答辩必答；实施失误回溯决策复盘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本课决策题：决策：分词调优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78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实施任务：工单1.3《工业故障分析报告生成系统》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pip离线装jieba/wordcloud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分词+停用词过滤+词频统计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Top10柱状图(matplotlib)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分词正确+词云生成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停用词得当；词频图正确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本次真跑实测输出（逐字取自 output/report.txt）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实测达成档位: 优(A) ｜ 分词 33 个｜词云 73047 字节｜柱状图 23686 字节｜停用词命中 4 处｜Top20 关键词 20 个｜分组词云 2 张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及格(D)    规范率门槛≥80% [达标] ｜ 功能OK ｜ 分词产出&gt;0 + 词云 PNG 真实落盘（&gt;1000 字节）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良好(C)    规范率门槛≥85% [达标] ｜ 功能OK ｜ 停用词过滤生效 + Top10 词频柱状图落盘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优秀(B)    规范率门槛≥90% [达标] ｜ 功能OK ｜ 词云中文字体实测 + Top20 关键词 + 洞察含实测数字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优(A)     规范率门槛≥90% [达标] ｜ 功能OK ｜ 达 B 且按系统分组对比词云≥2 张（如传动 vs 电气）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（人工答辩项，机器不代判）词云是否美观（蒙版/配色）——工单 B 档主观项，答辩打分；洞察结论是否与现场故障规律相符（答辩核对）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按高频故障词锁定备件与巡检重点；Top1「轴承」需优先排查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项目位置与一键运行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工程化项目/w09_text_report/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run.py          # 输出 output/report.txt + result.json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-m pytest -q    # 全量测试应全绿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国标与 TOGAF 落地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GB/T 9385 需求规格 / 15532 测试 / 8567 文档 / 8566 过程组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TOGAF 四域：业务 · 数据 · 应用 · 技术架构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docs/07 ADR-001 架构决策记录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目录结构（23 个文件）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config/rules.yaml      规则外置：改配置不改代码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src/text_report/  config · core · io_utils · report · pipeline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tests/      正常 / 边界 / 异常三档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验收口径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pytest 全绿；run.py 产出报告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改配置不改代码；二次运行结果一致（种子固定）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8 份过程文档齐全 → 可直接构成答辩材料链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w09_text_report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分词 33 个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词云 73047 字节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柱状图 23686 字节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停用词命中 4 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Top20 关键词 20 个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分词产出&gt;0 + 词云 PNG 真实落盘（&gt;1000 字节）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规范率门槛≥80%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停用词过滤生效 + Top10 词频柱状图落盘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规范率门槛≥85%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词云中文字体实测 + Top20 关键词 + 洞察含实测数字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规范率门槛≥90%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达 B 且按系统分组对比词云≥2 张（如传动 vs 电气）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规范率门槛≥90%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9" name="Rectangle 28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0 条：四档门槛均由代码实测判定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实测值共 6 项，本页只列前 5 项，其余见下页 report.txt 截图。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w09_text_report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8" name="Picture 17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21" name="Picture 20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4" name="Picture 23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项目：02-程序设计基础/工程化项目/w09_text_report/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10:46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工具/ppt97/evidence/w09_text_report/（capture97.py 真跑捕获，未改写数字）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产出图证据 · w09_text_report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481328"/>
            <a:ext cx="5486400" cy="466344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产出图 · group_cloud_传动系统.png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1755648"/>
            <a:ext cx="53400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7A8698"/>
                </a:solidFill>
                <a:latin typeface="微软雅黑"/>
              </a:rPr>
              <a:t>output/group_cloud_传动系统.png ｜ 52 KB ｜ run.py 本次落盘</a:t>
            </a:r>
          </a:p>
        </p:txBody>
      </p:sp>
      <p:pic>
        <p:nvPicPr>
          <p:cNvPr id="19" name="Picture 18" descr="group_cloud_传动系统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93392"/>
            <a:ext cx="5303520" cy="265176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6327648" y="1481328"/>
            <a:ext cx="5486400" cy="466344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产出图 · group_cloud_电气系统.png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1755648"/>
            <a:ext cx="53400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7A8698"/>
                </a:solidFill>
                <a:latin typeface="微软雅黑"/>
              </a:rPr>
              <a:t>output/group_cloud_电气系统.png ｜ 55 KB ｜ run.py 本次落盘</a:t>
            </a:r>
          </a:p>
        </p:txBody>
      </p:sp>
      <p:pic>
        <p:nvPicPr>
          <p:cNvPr id="23" name="Picture 22" descr="group_cloud_电气系统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088" y="1993392"/>
            <a:ext cx="5303520" cy="26517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以上图像由 run.py 本次运行落盘到 output/，非外部素材。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分词观察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运行分词示例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加停用词再跑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对比两次Top词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能读Top10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规范率门槛≥80%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78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词云生成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jieba分词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Counter统计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wordcloud出图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能出cloud.png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规范率门槛≥85%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78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词云+词频+关键词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分词停用词管线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词云+柱状图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extract_tags Top20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三件产出齐全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规范率门槛≥90%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78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分组对比词云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按系统分组两朵词云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对比Top词差异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150字洞察结论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洞察有数字支撑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(A层加码: 按系统分组做对比词云（传动vs电气），洞察差异)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规范率门槛≥90%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78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pip离线装jieba/wordcloud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分词+停用词过滤+词频统计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Top10柱状图(matplotlib)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词云必须font_path指定中文字体，否则方块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Counter(words).most_common(10)快速Top10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plt.rcParams设置SimHei让图表中文正常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78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中文变方块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没指定字体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font_path必填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Top10全是虚词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停用词未滤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扩STOP表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frequencies用错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传参类型错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generate吃文本串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78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D·学徒（≥60）：分词观察——跟做保底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C·操作员（≥70）：词云生成——基础完成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B·组长（≥80）：词云+词频+关键词——标准达成+帮带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A·师傅（≥90）：分组对比词云——进阶拓展+费曼讲解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78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操作核对清单（做完一条勾一条）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步骤1：pip离线装jieba/wordcloud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步骤2：分词+停用词过滤+词频统计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步骤3：Top10柱状图(matplotlib)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全部勾完→同桌互查签字→提交工单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78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conda环境正确（提示符显示(py02）再运行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78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78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78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提交物与评分（工单1.3）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学号_姓名_1.3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78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完成工单项目1.3《工业故障分析报告生成系统》：及格标准正确分词+生成词云；优秀标准分词准确+词云美观+洞察深入+规范率≥90%；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撰写200字故障规律分析结论；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预习Pillow图像处理基础。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78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工匠精神：规范命名、及时保存、报错必究的编码习惯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工程伦理：数据安全与隐私保护, 不抄代码、引用注明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协作素养：ABCD角色轮换履职, 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78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Top10: [('注塑机', 3), ('液压油', 3), ('温升高', 3), ('车床', 3), ('主轴', 3…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关键词: ['报警', '注塑机', '掉线', '温升高', '空压机', '液压油', '异响', 'PLC']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78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78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pip装包很慢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配清华镜像：pip config set global.index-url https://pypi.tuna.tsinghua.edu.cn/simple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Jupyter启动不了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先conda activate py02再jupyter notebook；看报错第一行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代码能跑但不规范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对照PEP 8卡：snake_case命名+4空格缩进+f-string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78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1.3任务书——步骤/及格线/评分细则都在里面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检查与评价 · 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2800000" cy="42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3300000"/>
            <a:ext cx="28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0000" y="4300000"/>
            <a:ext cx="28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部分小结</a:t>
            </a:r>
          </a:p>
        </p:txBody>
      </p:sp>
      <p:sp>
        <p:nvSpPr>
          <p:cNvPr id="8" name="Rectangle 7"/>
          <p:cNvSpPr/>
          <p:nvPr/>
        </p:nvSpPr>
        <p:spPr>
          <a:xfrm>
            <a:off x="3900000" y="2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80000" y="19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三层质检：自检→互查签字→教师抽查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00000" y="27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80000" y="26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评分四级量表+四权重已明确，24小时内平台反馈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00000" y="34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80000" y="33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课后任务+下次课预告形成学习闭环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78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78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车间设备台账还靠Excel手抄，格式天天错、查找靠肉眼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Python变量+f-string+文件读写，30行代码生成规范台账卡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1.3的技能点即其最小实现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下一步：把台账接到数据库（03课P5）/自动采集（02课W11）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78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78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学习策略：这门课怎么学最有效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先例后理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先跑代码看结果，再回头懂原理——PRIMM教学法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费曼技巧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A层讲给D层听——讲得清才是真懂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错题资产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每个报错记入错误速查表——期末它是你的复习宝典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提交习惯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小步提交（每完成一步就commit）——回退不求人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78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进阶路线图（从今天的课往哪走）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本周：工单核心技能→下周：组合应用→期末：综合项目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横向：本课技能在03课P项目链中的位置（工程化/全栈）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纵向：证书线——初级操作题→中级工程题（1+X/工信部）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竞赛线：校级选拔→世界职业院校技能大赛（人工智能赛道）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岗位线：跟做学徒→独立操作→带组师傅→产线负责人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78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本周各层达标预期（%）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896000" y="2600000"/>
            <a:ext cx="1400000" cy="28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6000" y="204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D层·跟做保底</a:t>
            </a:r>
          </a:p>
        </p:txBody>
      </p:sp>
      <p:sp>
        <p:nvSpPr>
          <p:cNvPr id="8" name="Rectangle 7"/>
          <p:cNvSpPr/>
          <p:nvPr/>
        </p:nvSpPr>
        <p:spPr>
          <a:xfrm>
            <a:off x="3996000" y="3160000"/>
            <a:ext cx="1400000" cy="224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96000" y="26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C层·基础完成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0" y="3720000"/>
            <a:ext cx="1400000" cy="1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96000" y="316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B层·标准达成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96000" y="4560000"/>
            <a:ext cx="1400000" cy="8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6000" y="40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A层·进阶拓展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00000" y="5400000"/>
            <a:ext cx="9400000" cy="3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6100000"/>
            <a:ext cx="109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预期≠上限：动态升降制下人人可冲上一层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78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课前预习清单（下次课前完成）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微课知识卡：完成分词+停用词管线——应用：见工单starter与教师参考实现（5分钟视频+导学单）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Jupyter实训notebook：先跑教师版看答案，再试学生版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预习快问：下次课quiz从微课与导学单出题——带着答案来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Git推送本周工单：还没提交的课后补上（周达标率依据）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78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知识口袋书（本课概念速记）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 pip安装与离线whl安装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 jieba.cut精确分词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 停用词过滤提升信噪比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用法：睡前30秒过一遍——口袋书越翻越薄，技能越练越厚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78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输出对比：好的 vs 差的（规范从第一课开始）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好的输出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表头对齐·单位齐全·小数位统一·命名规范（snake_case）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差的输出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数字裸奔无单位·列不对齐·temp1/temp2乱命名·中文引号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差多少分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同样的功能——规范20%+素养15%两项就能差出35分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车间台账要给人看——读不懂的输出=没交付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78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读懂成千上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万条故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pip安装与离线whl安装——应用：见工单starter与教师参考实现 · jieba.cut精确分词——应用：见工单starter与教师参考实现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完成分词+停用词管线——应用：见工单starter与教师参考实现 · 生成词云与Top10柱状图——应用：见工单starter与教师参考实现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中文变方块 · Top10全是虚词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工单1.3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69 / 78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常见场景应对（卡住了怎么办）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场景①代码报错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读报错最后一行→查错误速查表→还没解决举手（附截图）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场景②不知道做啥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回看操作核对清单□——第一个没勾的就是下一步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场景③做完了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90秒最后一查→Git提交→帮同组D/C层（B层职责）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场景④提前全完成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A层拓展任务→费曼准备→预习下次课微课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70 / 78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微课与自学资源（课后补弱/拓强）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微课知识卡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本周主题：完成分词+停用词管线——应用：见工单starter与教师参考实现——5分钟视频+导学单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数字人版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同内容数字人讲解——喜欢听的换着看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Jupyter师生版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教师版有完整答案——先看懂再独立做学生版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多解法手册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教师参考/多解法手册——同一任务三种深度解法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71 / 78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答辩预演（期末综合项目的彩排）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①30秒讲需求：这个工单解决什么问题、给谁用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②60秒讲方案：数据从哪来→怎么处理→输出什么（三段式）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③60秒讲亮点：我踩过的坑+怎么爬出来的（错误速查表就是素材）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④答辩礼仪：指着屏幕讲，不念稿；被问住就说'这个我课后验证'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从本周开始练——期末答辩=12周彩排的总和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72 / 78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课堂实录清单（过程性考核证据）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运行截图：代码+输出同框（截全不截半）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工单过程栏：步骤勾选+决策理由+自查记录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Git提交：本次课至少1条commit（message规范）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同伴签字：互查通过后签名（讲得清才算会）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四项齐全=过程分满分；缺一项课后24小时内补齐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73 / 78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74 / 78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词云中文变方块的原因？如何解决？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排错题：出现「中文变方块」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原因：没指定字体；解决：font_path必填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pip安装与离线whl安装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75 / 78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知识：pip安装与离线whl安装；jieba.cut精确分词；停用词过滤提升信噪比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技能：完成分词+停用词管线——应用：见工单starter与教师参考实现；生成词云与Top10柱状图——应用：见工单starter与教师参考实现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交付：工单1.3《工业故障分析报告生成系统》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76 / 78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77 / 78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下次课预告（第10周）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图像缩放与缺陷框标注——应用：见工单starte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PDF坐标系原点在哪个角？中文字体为什么要注册？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本讲对应工单：《程序设计基础》分层任务工单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