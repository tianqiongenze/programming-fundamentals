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3" r:id="rId15"/>
    <p:sldId id="264" r:id="rId16"/>
    <p:sldId id="266" r:id="rId18"/>
    <p:sldId id="267" r:id="rId19"/>
    <p:sldId id="271" r:id="rId23"/>
    <p:sldId id="273" r:id="rId25"/>
    <p:sldId id="274" r:id="rId26"/>
    <p:sldId id="275" r:id="rId27"/>
    <p:sldId id="276" r:id="rId28"/>
    <p:sldId id="277" r:id="rId29"/>
    <p:sldId id="278" r:id="rId30"/>
    <p:sldId id="280" r:id="rId32"/>
    <p:sldId id="281" r:id="rId33"/>
    <p:sldId id="282" r:id="rId34"/>
    <p:sldId id="287" r:id="rId39"/>
    <p:sldId id="289" r:id="rId41"/>
    <p:sldId id="291" r:id="rId43"/>
    <p:sldId id="294" r:id="rId46"/>
    <p:sldId id="295" r:id="rId47"/>
    <p:sldId id="297" r:id="rId49"/>
    <p:sldId id="300" r:id="rId52"/>
    <p:sldId id="303" r:id="rId55"/>
    <p:sldId id="308" r:id="rId60"/>
    <p:sldId id="310" r:id="rId62"/>
    <p:sldId id="311" r:id="rId63"/>
    <p:sldId id="315" r:id="rId67"/>
    <p:sldId id="316" r:id="rId68"/>
    <p:sldId id="317" r:id="rId69"/>
    <p:sldId id="318" r:id="rId70"/>
    <p:sldId id="319" r:id="rId71"/>
    <p:sldId id="367" r:id="rId82"/>
    <p:sldId id="368" r:id="rId79"/>
    <p:sldId id="369" r:id="rId77"/>
    <p:sldId id="370" r:id="rId75"/>
    <p:sldId id="320" r:id="rId72"/>
    <p:sldId id="322" r:id="rId74"/>
    <p:sldId id="324" r:id="rId76"/>
    <p:sldId id="326" r:id="rId78"/>
    <p:sldId id="328" r:id="rId80"/>
    <p:sldId id="329" r:id="rId81"/>
    <p:sldId id="331" r:id="rId83"/>
    <p:sldId id="332" r:id="rId84"/>
    <p:sldId id="333" r:id="rId85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5" r:id="rId117"/>
    <p:sldId id="366" r:id="rId1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3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slide" Target="slides/slide17.xml"/><Relationship Id="rId32" Type="http://schemas.openxmlformats.org/officeDocument/2006/relationships/slide" Target="slides/slide18.xml"/><Relationship Id="rId33" Type="http://schemas.openxmlformats.org/officeDocument/2006/relationships/slide" Target="slides/slide19.xml"/><Relationship Id="rId34" Type="http://schemas.openxmlformats.org/officeDocument/2006/relationships/slide" Target="slides/slide20.xml"/><Relationship Id="rId39" Type="http://schemas.openxmlformats.org/officeDocument/2006/relationships/slide" Target="slides/slide21.xml"/><Relationship Id="rId41" Type="http://schemas.openxmlformats.org/officeDocument/2006/relationships/slide" Target="slides/slide22.xml"/><Relationship Id="rId43" Type="http://schemas.openxmlformats.org/officeDocument/2006/relationships/slide" Target="slides/slide23.xml"/><Relationship Id="rId46" Type="http://schemas.openxmlformats.org/officeDocument/2006/relationships/slide" Target="slides/slide24.xml"/><Relationship Id="rId47" Type="http://schemas.openxmlformats.org/officeDocument/2006/relationships/slide" Target="slides/slide25.xml"/><Relationship Id="rId49" Type="http://schemas.openxmlformats.org/officeDocument/2006/relationships/slide" Target="slides/slide26.xml"/><Relationship Id="rId52" Type="http://schemas.openxmlformats.org/officeDocument/2006/relationships/slide" Target="slides/slide27.xml"/><Relationship Id="rId55" Type="http://schemas.openxmlformats.org/officeDocument/2006/relationships/slide" Target="slides/slide28.xml"/><Relationship Id="rId60" Type="http://schemas.openxmlformats.org/officeDocument/2006/relationships/slide" Target="slides/slide29.xml"/><Relationship Id="rId62" Type="http://schemas.openxmlformats.org/officeDocument/2006/relationships/slide" Target="slides/slide30.xml"/><Relationship Id="rId63" Type="http://schemas.openxmlformats.org/officeDocument/2006/relationships/slide" Target="slides/slide31.xml"/><Relationship Id="rId67" Type="http://schemas.openxmlformats.org/officeDocument/2006/relationships/slide" Target="slides/slide32.xml"/><Relationship Id="rId68" Type="http://schemas.openxmlformats.org/officeDocument/2006/relationships/slide" Target="slides/slide33.xml"/><Relationship Id="rId69" Type="http://schemas.openxmlformats.org/officeDocument/2006/relationships/slide" Target="slides/slide34.xml"/><Relationship Id="rId70" Type="http://schemas.openxmlformats.org/officeDocument/2006/relationships/slide" Target="slides/slide35.xml"/><Relationship Id="rId71" Type="http://schemas.openxmlformats.org/officeDocument/2006/relationships/slide" Target="slides/slide36.xml"/><Relationship Id="rId72" Type="http://schemas.openxmlformats.org/officeDocument/2006/relationships/slide" Target="slides/slide39.xml"/><Relationship Id="rId74" Type="http://schemas.openxmlformats.org/officeDocument/2006/relationships/slide" Target="slides/slide40.xml"/><Relationship Id="rId75" Type="http://schemas.openxmlformats.org/officeDocument/2006/relationships/slide" Target="slides/slide78.xml"/><Relationship Id="rId76" Type="http://schemas.openxmlformats.org/officeDocument/2006/relationships/slide" Target="slides/slide41.xml"/><Relationship Id="rId77" Type="http://schemas.openxmlformats.org/officeDocument/2006/relationships/slide" Target="slides/slide77.xml"/><Relationship Id="rId78" Type="http://schemas.openxmlformats.org/officeDocument/2006/relationships/slide" Target="slides/slide42.xml"/><Relationship Id="rId79" Type="http://schemas.openxmlformats.org/officeDocument/2006/relationships/slide" Target="slides/slide38.xml"/><Relationship Id="rId80" Type="http://schemas.openxmlformats.org/officeDocument/2006/relationships/slide" Target="slides/slide43.xml"/><Relationship Id="rId81" Type="http://schemas.openxmlformats.org/officeDocument/2006/relationships/slide" Target="slides/slide44.xml"/><Relationship Id="rId82" Type="http://schemas.openxmlformats.org/officeDocument/2006/relationships/slide" Target="slides/slide37.xml"/><Relationship Id="rId83" Type="http://schemas.openxmlformats.org/officeDocument/2006/relationships/slide" Target="slides/slide45.xml"/><Relationship Id="rId84" Type="http://schemas.openxmlformats.org/officeDocument/2006/relationships/slide" Target="slides/slide46.xml"/><Relationship Id="rId85" Type="http://schemas.openxmlformats.org/officeDocument/2006/relationships/slide" Target="slides/slide47.xml"/><Relationship Id="rId87" Type="http://schemas.openxmlformats.org/officeDocument/2006/relationships/slide" Target="slides/slide48.xml"/><Relationship Id="rId88" Type="http://schemas.openxmlformats.org/officeDocument/2006/relationships/slide" Target="slides/slide49.xml"/><Relationship Id="rId89" Type="http://schemas.openxmlformats.org/officeDocument/2006/relationships/slide" Target="slides/slide50.xml"/><Relationship Id="rId90" Type="http://schemas.openxmlformats.org/officeDocument/2006/relationships/slide" Target="slides/slide51.xml"/><Relationship Id="rId91" Type="http://schemas.openxmlformats.org/officeDocument/2006/relationships/slide" Target="slides/slide52.xml"/><Relationship Id="rId92" Type="http://schemas.openxmlformats.org/officeDocument/2006/relationships/slide" Target="slides/slide53.xml"/><Relationship Id="rId93" Type="http://schemas.openxmlformats.org/officeDocument/2006/relationships/slide" Target="slides/slide54.xml"/><Relationship Id="rId94" Type="http://schemas.openxmlformats.org/officeDocument/2006/relationships/slide" Target="slides/slide55.xml"/><Relationship Id="rId95" Type="http://schemas.openxmlformats.org/officeDocument/2006/relationships/slide" Target="slides/slide56.xml"/><Relationship Id="rId96" Type="http://schemas.openxmlformats.org/officeDocument/2006/relationships/slide" Target="slides/slide57.xml"/><Relationship Id="rId97" Type="http://schemas.openxmlformats.org/officeDocument/2006/relationships/slide" Target="slides/slide58.xml"/><Relationship Id="rId98" Type="http://schemas.openxmlformats.org/officeDocument/2006/relationships/slide" Target="slides/slide59.xml"/><Relationship Id="rId99" Type="http://schemas.openxmlformats.org/officeDocument/2006/relationships/slide" Target="slides/slide60.xml"/><Relationship Id="rId100" Type="http://schemas.openxmlformats.org/officeDocument/2006/relationships/slide" Target="slides/slide61.xml"/><Relationship Id="rId101" Type="http://schemas.openxmlformats.org/officeDocument/2006/relationships/slide" Target="slides/slide62.xml"/><Relationship Id="rId102" Type="http://schemas.openxmlformats.org/officeDocument/2006/relationships/slide" Target="slides/slide63.xml"/><Relationship Id="rId103" Type="http://schemas.openxmlformats.org/officeDocument/2006/relationships/slide" Target="slides/slide64.xml"/><Relationship Id="rId104" Type="http://schemas.openxmlformats.org/officeDocument/2006/relationships/slide" Target="slides/slide65.xml"/><Relationship Id="rId105" Type="http://schemas.openxmlformats.org/officeDocument/2006/relationships/slide" Target="slides/slide66.xml"/><Relationship Id="rId106" Type="http://schemas.openxmlformats.org/officeDocument/2006/relationships/slide" Target="slides/slide67.xml"/><Relationship Id="rId107" Type="http://schemas.openxmlformats.org/officeDocument/2006/relationships/slide" Target="slides/slide68.xml"/><Relationship Id="rId108" Type="http://schemas.openxmlformats.org/officeDocument/2006/relationships/slide" Target="slides/slide69.xml"/><Relationship Id="rId109" Type="http://schemas.openxmlformats.org/officeDocument/2006/relationships/slide" Target="slides/slide70.xml"/><Relationship Id="rId110" Type="http://schemas.openxmlformats.org/officeDocument/2006/relationships/slide" Target="slides/slide71.xml"/><Relationship Id="rId111" Type="http://schemas.openxmlformats.org/officeDocument/2006/relationships/slide" Target="slides/slide72.xml"/><Relationship Id="rId112" Type="http://schemas.openxmlformats.org/officeDocument/2006/relationships/slide" Target="slides/slide73.xml"/><Relationship Id="rId113" Type="http://schemas.openxmlformats.org/officeDocument/2006/relationships/slide" Target="slides/slide74.xml"/><Relationship Id="rId117" Type="http://schemas.openxmlformats.org/officeDocument/2006/relationships/slide" Target="slides/slide75.xml"/><Relationship Id="rId118" Type="http://schemas.openxmlformats.org/officeDocument/2006/relationships/slide" Target="slides/slide7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开场30秒：本次课《让数据活过下一次关机》，80分钟＝2课时×40分钟。课前已发工单+starter+微课知识卡，资讯·计划线上完成。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议程页30秒：指读六个部分的分钟归属，强调'资讯计划课前已完成'；告诉学生'每次课都知道现在在哪一步、还剩多少时间'。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目录页：给学生'地图感'——翻到哪部分干什么，30秒。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过渡页：一句话点明本部分——先明确这门课'为什么学、学了去哪'。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念'课程性质'一行即可，重点指读'对接证书'与'课程衔接'，让学生知道本课与前后课程的关系（30秒）。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知识地图：先见森林后见树木。指着四条分支预告本课路线，不展开细讲（40秒）。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分支详解二：强调'技能=今天的验收口径'，评价权重即打分表。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课证赛岗对照：说明本课工单在证书/竞赛中的对应考点，30秒。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流程预告：强调'资讯·计划已在课前完成'，课堂从决策直接开始。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决策10→实施30→检查5→实施25→评价10；评价环节不压缩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PRIMM的Predict：先让学生猜，再揭晓。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课前测讲评：随机点2名学生说答案，只追问'为什么'，不展开讲；错得多的题记到'检查'环节再回收。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逐题精讲：只讲错得最多的题——其余对答案即可。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情境说书（30秒，口头讲，不必逐字念）：中台抽检打回上月数据：缺温度、类型错、还有135℃的'过热'记录。李姐委屈：'原始数据就这样。'——工单1.2：做数据清洗，还车间数据一个清白。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剧情拆解：把情境页的故事拆成三要素，让学生明确'解决什么'。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目标对照页：逐维读目标，指读达标口径=评分表，目标可测可评。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知识精讲开始：每条知识对应一张大卡，讲法'先例后理'。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详解B1·with open：先读定义→场景为什么用它→看代码实例→扩展给A层。C/D层掌握前三格，A层加扩展格。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详解B2·csv.DictReader：先读定义→场景为什么用它→看代码实例→扩展给A层。C/D层掌握前三格，A层加扩展格。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详解B3·json.loads/dumps：先读定义→场景为什么用它→看代码实例→扩展给A层。C/D层掌握前三格，A层加扩展格。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应用页3：把知识点放回产线场景——先看代码输出，再回看定义，强化'学以致用'。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详解B4·三维验证：先读定义→场景为什么用它→看代码实例→扩展给A层。C/D层掌握前三格，A层加扩展格。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详解B5·问题行策略：先读定义→场景为什么用它→看代码实例→扩展给A层。C/D层掌握前三格，A层加扩展格。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详解B6·newline=''防CSV空行：先读定义→场景为什么用它→看代码实例→扩展给A层。C/D层掌握前三格，A层加扩展格。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技能点＝今天'做完你应该会'，逐条对应工单步骤与评分点。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现场演示《三维验证》：三步走——先整段跑通看结果，再逐行讲关键语句，最后现场改一个参数看输出变化（演10分钟的核心素材）。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架构分层讲解：自下而上过一遍数据流向，答辩时按此图讲'系统架构'。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进入实施：先决策、再领工单、按层执行。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决策矩阵用法（10分钟）：组内对备选方案打分→选型→把结论和理由写进工单'决策记录'栏；教师抽查2组口头说理由（决策追责）。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方案对比：三问框架通用——以后每个决策环节都用这三问。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工单发布话术：'精密制造事业部发来工单1.2《工业数据文件处理系统》，及格线是≥，优秀线看A层标准'——念完发starter。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D层·学徒：跟做保底。教师或屏幕领做，做完即达标，绝不留白。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C层·操作员：基础完成。按工单步骤独立完成，卡壳先查错误速查表。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B层·组长：标准达成。全部功能+规范，完成后帮带同组D/C层。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A层·师傅：进阶拓展。完成拓展任务并准备2分钟展示；费曼式讲给D层听。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避坑清单：每条问'为什么会踩'，点名学生解释，把'注意'变成'知道为什么注意'。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错误速查：现场演示第一条——制造「float('err')崩」，带着学生按'现象→原因→解决'三步排查。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四层总览：一页看全四层目标与达标线——学生选层前先看全局。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核对清单：把工单步骤变成checklist，做完勾选——防漏做。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最后一查：五项90秒自查——退回率最低的五个点。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收尾5分钟检查+10分钟评价。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三层质检组织：自查明细→同伴互查（签字）→教师抽查2组；查出的缺陷当场修，修不完记入课后任务。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提交强调：文件命名'学号_姓名_工单号.zip'，24小时内教师在平台反馈评分。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项目4 持校园卡，记生活账 | 预习知识点：字典操作(键值对/遍历)；JSON读写 | 课中检查知识点：能按code查设备台账；能json.loads/dumps转换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素养页：结合本课内容点一个真实案例（如数据脱敏、代码抄袭后果），30秒即可。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提醒：运行截图/实拍照片贴到工单过程记录栏，作为过程性考核证据。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评分细则：四级量表逐行读——学生知道自己'到哪条线得多少分'。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FAQ三题：覆盖装包/启动/规范三大高频问题——贴在工单背面。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资源导航：五级求助顺序=工单→starter→指南→notebook→教师。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部分小结：评价收束。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拓展部分：A层必看，B层选看，C/D层课后看——差异化作业。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产业案例：讲一个真实岗位场景，把课堂技能挂到职业坐标系。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思政页：结合本课内容点一个真实案例，30秒即可，不贴标签。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学习策略：四个方法贯穿全学期——第一周讲透，以后每周复用。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进阶路线：把一门课放进三年坐标系——学完这周能走到哪。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达标预期：四层的预期比例——D层100%保底是底线承诺。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预习清单：三项任务5-15分钟——闭环从课前开始。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口袋书：三条概念卡——期末汇总成全册，学生自查工具。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好差对比：两份同功能输出对比——规范分不是白给的。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图谱回顾：回到开课的地图——现在每条分支都走过了。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场景应对：四种状态四种动作——课堂自主运转的说明书。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微课资源：四个自学入口——补弱看微课，拓强看多解法。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答辩预演：每周2分钟练一环——期末不慌。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实录清单：过程性考核的取证清单——学生自查，教师抽查。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多解法页：同一工单三种深度——层不同，解法不同，都算对。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自测答案：逐题讲'为什么'——错题定位到知识卡编号。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一图流总结：五句话收束全天——知识/技能/交付/习惯/明日。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0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1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Python编程基础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让数据活过下一次关机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第八周 · 第15次课（2课时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CE（编码）+ Jupyter（Pandas数据实验）+ Git/GitHub（每周提交）</a:t>
            </a:r>
          </a:p>
        </p:txBody>
      </p:sp>
      <p:pic>
        <p:nvPicPr>
          <p:cNvPr id="7" name="Picture 6" descr="W8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性质·岗位·证书：为什么学这门课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80分钟时间盒与ABCD分层节奏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带着目标进课堂+两江智造本课剧情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基础知识大卡+代码演示（先例后理）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任务实施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六步法核心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工单发布·分层执行·避坑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三层质检·当堂评分·课后任务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资讯·计划已于课前线上完成——课堂从决策/演示直接开始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78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本课目录（结构速览）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①课程定位：定位/知识地图/课证赛岗——为什么学这门课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②课堂流程：80分钟时间盒/分层节奏——今天怎么安排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③目标与情境：三维目标/剧情拆解/随堂自测——学什么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④知识精讲：知识卡×应用×深化×代码走读——怎么教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⑤任务实施：工单/四层任务/避坑/核对清单——怎么做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0000" y="55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000" y="54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⑥检查评价+⑦拓展：质检/评分/工具箱/一图流——怎么收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78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本课在课程体系中的位置（课程标准摘录）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78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课程定位：Python编程基础（课程标准摘录）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专业核心基础课：面向零基础新生的编程第一课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工业数据采集技术员、边缘计算运维、平台运维员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Python开发（工信部）、AI应用实践、企业应用实施工程师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前：计算机文化基础 → 本课(第1-12周) → 后：AI应用基础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78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让数据活过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下一次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with open自动关闭；encoding='utf-8'防乱码 · csv.DictReader按表头取列——应用：见工单starter与教师参考实现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json.loads/dumps解析与序列化——应用：见工单starter与教师参考实现 · 三维验证：缺失/类型/范围——应用：见工单starter与教师参考实现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with读写CSV与JSON——应用：见工单starter与教师参考实现 · 实现三维数据验证——应用：见工单starter与教师参考实现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78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技能线：with读写CSV与JSON——应用：见工单starter与教师参考实现；实现三维数据验证——应用：见工单starter与教师参考实现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78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精密制造事业部：工业数据采集技术员、边缘计算运维员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1.2《工业数据文件处理系统》——本课工单即考核单元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Python开发职业技能等级证书（工信部）——本课对应初级操作题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世界职业院校技能大赛（人工智能赛道）数据采集/处理赛项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78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80分钟时间盒与个人节奏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78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资讯·计划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课前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线上导学单+预习自测（已完成的打√）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决策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备选方案对比 → 决策矩阵打分 → 结论公示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骨架贯通：体验→应用，完成工单核心功能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检查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三层质检：自检—互检—师查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25min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优化迭代：冲优秀标准/拓展任务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D/C/B/A量表评分 + 课后任务布置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共80分钟（六步法课堂化）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78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带着目标进课堂（Predict·预测）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78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目标：掌握文件读写与with语句的使用；掌握JSON/CSV两种格式的解析与生成方法；理解数据验证与清洗的基本策略。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78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目标：能够正确读写≥2种文件格式并进行基本数据验证；能够输出标准化数据文件；代码规范率≥80%。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达标线：代码能跑+输出符合工单样例=过关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78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目标：树立数据质量意识（脏数据进、垃圾出），养成文件操作及时关闭的资源管理习惯。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怎么养：规范命名/及时提交/报错必究——每个工单都在练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达标线：提交记录连续+命名规范=过关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78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with语句的好处是什么？utf-8乱码怎么处理？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预习微课已观看；跟打练习截图已交；PyCharm CE环境正常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78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《Python程序设计项目化教》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项目4 持校园卡，记生活账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字典操作(键值对/遍历)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JSON读写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课中检查｜上次课（W7）抽查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能管理设备列表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00000" y="358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00000" y="362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50000" y="354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能用[x*2 for x in data]变换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0000" y="438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78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题目：with语句的好处是什么？utf-8乱码怎么处理？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常见错误：背概念不看场景；看到代码就慌，先读注释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本课回收：这道题的考点会在知识卡X和随堂自测中再次出现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78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中台抽检打回上月数据：缺温度、类型错、还有135℃的'过热'记录。李姐委屈：'原始数据就这样。'——工单1.2：做数据清洗，还车间数据一个清白。</a:t>
            </a:r>
          </a:p>
        </p:txBody>
      </p:sp>
      <p:pic>
        <p:nvPicPr>
          <p:cNvPr id="9" name="Picture 8" descr="W8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78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任务背景：中台抽检打回上月数据：缺温度、类型错、还有135℃的'过热'记录。李姐委屈：'原始数据就这样。'——工单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冲突点：产线数据量大/格式杂/时限紧——手工做不完，必须编程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决策点：先做什么再做什么？数据从哪来？输出给谁看？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带着这三个问题进入知识精讲——每个知识点都是解药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78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三维目标 → 怎么算达标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掌握文件读写与with语句的使用；掌握JSON/CSV两种格式的解析与生成方法；理解数据验证与清洗的基本策略。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能够正确读写≥2种文件格式并进行基本数据验证；能够输出标准化数据文件；代码规范率≥80%。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树立数据质量意识（脏数据进、垃圾出），养成文件操作及时关闭的资源管理习惯。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达标口径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对应工单1.2评分：功能40%+技术25%+规范20%+素养15%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78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详解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78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知识详解：with open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with open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with=租借自动还：代码块结束文件自动关，忘了关也不漏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读写设备日志/台账的标准姿势——车间文件操作第一写法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with open('log.csv', encoding='utf-8') as f: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误区：漏encoding='utf-8'→Win默认GBK中文乱码——乱码先查它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78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知识详解：csv.DictReader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csv.DictReader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DictReader=带表头的读取器：按列名取数不看列序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读传感器CSV台账——列序变了代码不用改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for row in csv.DictReader(f): row['temp']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误区：普通reader按下标[2]取列——插一列全错，DictReader免此劫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78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知识详解：json.loads/dumps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json.loads/dumps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loads=拆快递(字符串→字典)；dumps=打包(字典→字符串)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MQTT消息/配置文件都是JSON——进出必经拆装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data=json.loads(msg); data['temp']+=1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误区：dumps中文变\uXXXX——加ensure_ascii=False+indent=2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78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知识应用（3）：json.loads/dumps解析与序列化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json.loads/dumps解析与序列化。在两江智造产线上的用法：见工单starter与教师参考实现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78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知识详解：三维验证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三维验证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三道闸=查户口：键在不在/类型对不对/数值合不合理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脏数据进门三道闸——W5清洗三招的文件版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if 'temp' not in row: 跳过并记录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误区：只查缺失不查范围——温度=-999能穿透到模型里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78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知识详解：问题行策略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问题行策略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坏行处理=登记放行：跳过但写bad.log带原因——可追溯不静默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不能一条脏数据停产线，也不能悄悄吞掉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bad_log.write(f'{line} | 缺temp字段\n')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误区：静默吞错=埋雷——问题行数要进质量报告接受检查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78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知识详解：newline=''防CSV空行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newline=''防CSV空行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newline=''=告诉open'换行我自己管'——CSV不再多空行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Windows写CSV每行多一空行的元凶——标准解就一个参数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open('r.csv','w',newline='')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误区：读到空行以为是数据问题——写的时候就该带newline=''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78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with读写CSV与JSON——应用：见工单starter与教师参考实现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实现三维数据验证——应用：见工单starter与教师参考实现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bad_records错误留痕——应用：见工单starter与教师参考实现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输出清洗报告与标准化数据——应用：见工单starter与教师参考实现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78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让数据活过下一次关机（1）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文件读写：open函数、with上下文管理器、read/readline/readlines；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文本文件写入与追加模式；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CSV文件处理：csv模块读写产线数据。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78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关键代码：三维验证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def validate(row):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t = row["temp"]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if t in ("", None): return "缺失"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try: t = float(t)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except ValueError: return "类型"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return None if 0 &lt;= t &lt;= 120 else "范围"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78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综合系统架构（分层）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2200000" cy="8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040000"/>
            <a:ext cx="22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展示层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000" y="1860000"/>
            <a:ext cx="508000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103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40000" y="1920000"/>
            <a:ext cx="5000000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仪表盘</a:t>
            </a:r>
          </a:p>
        </p:txBody>
      </p:sp>
      <p:sp>
        <p:nvSpPr>
          <p:cNvPr id="9" name="Rectangle 8"/>
          <p:cNvSpPr/>
          <p:nvPr/>
        </p:nvSpPr>
        <p:spPr>
          <a:xfrm>
            <a:off x="8001000" y="1860000"/>
            <a:ext cx="393192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103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37575" y="1920000"/>
            <a:ext cx="3858768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PDF报告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2760000"/>
            <a:ext cx="2200000" cy="8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000" y="3000000"/>
            <a:ext cx="22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分析层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000" y="2820000"/>
            <a:ext cx="508000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40000" y="2880000"/>
            <a:ext cx="5000000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阈值检测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2820000"/>
            <a:ext cx="393192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37575" y="2880000"/>
            <a:ext cx="3858768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统计聚合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3720000"/>
            <a:ext cx="2200000" cy="8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000" y="3960000"/>
            <a:ext cx="22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数据层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000" y="3780000"/>
            <a:ext cx="508000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40000" y="3840000"/>
            <a:ext cx="5000000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清洗管道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01000" y="3780000"/>
            <a:ext cx="393192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37575" y="3840000"/>
            <a:ext cx="3858768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SQLite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0000" y="4680000"/>
            <a:ext cx="2200000" cy="88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000" y="4920000"/>
            <a:ext cx="22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采集层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000" y="4740000"/>
            <a:ext cx="5080000" cy="760000"/>
          </a:xfrm>
          <a:prstGeom prst="rect">
            <a:avLst/>
          </a:prstGeom>
          <a:solidFill>
            <a:srgbClr val="F3F6FD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40000" y="4800000"/>
            <a:ext cx="5000000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Modbus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01000" y="4740000"/>
            <a:ext cx="3931920" cy="760000"/>
          </a:xfrm>
          <a:prstGeom prst="rect">
            <a:avLst/>
          </a:prstGeom>
          <a:solidFill>
            <a:srgbClr val="F3F6FD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37575" y="4800000"/>
            <a:ext cx="3858768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文件/模拟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000" y="1800000"/>
            <a:ext cx="20000" cy="374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78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步骤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78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决策：验证顺序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维度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判定规则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处置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缺失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temp为空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跳过+记录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类型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非数值’err’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跳过+记录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范围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temp&gt;120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业务讨论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0000" y="468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决策结论写入工单，答辩必答；实施失误回溯决策复盘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78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本课决策题：决策：验证顺序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问②值吗——开发时间/运行速度/可维护性三角权衡（工程账）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78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实施任务：工单1.2《工业数据文件处理系统》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with open读写CSV/JSON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三维验证: 缺失/类型/范围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问题行跳过并写入bad_records.csv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≥2格式+基本验证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三维齐全+清洗报告+输出规范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78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本次真跑实测输出（逐字取自 output/report.txt）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实测达成档位: 优(A) ｜ 验证 7 行（缺失 1/类型 1/范围 1）｜ bad.csv 3 行｜规范列名 实测通过｜输入文件通道 实测走通(GBK)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及格(D)    规范率门槛≥75% [达标] ｜ 功能OK ｜ CSV+JSON 双格式读写且 round-trip 通过 + 基本验证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良好(C)    规范率门槛≥80% [达标] ｜ 功能OK ｜ 缺失/类型/范围三维验证齐全；bad.csv 可追溯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优秀(B)    规范率门槛≥90% [达标] ｜ 功能OK ｜ 清洗报告清晰（维度计数入报告）；输出规范列名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优(A)     规范率门槛≥90% [达标] ｜ 功能OK ｜ 达 B 且 --input/--encoding 输入文件通道实测走通（GBK 演示）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（人工答辩项，机器不代判）清洗报告文字是否通顺可读（答辩抽查）；输入数据来源与现场文件口径是否一致（答辩核对）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双格式 round-trip 校验通过，数据可安全交下游；超限设备 1 台需工单跟进；坏行进 bad.csv 备查不混入结果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78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项目位置与一键运行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工程化项目/w08_data_fileio/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run.py          # 输出 output/report.txt + result.json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-m pytest -q    # 全量测试应全绿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国标与 TOGAF 落地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GB/T 9385 需求规格 / 15532 测试 / 8567 文档 / 8566 过程组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TOGAF 四域：业务 · 数据 · 应用 · 技术架构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docs/07 ADR-001 架构决策记录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目录结构（23 个文件）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config/rules.yaml      规则外置：改配置不改代码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src/data_fileio/  config · core · io_utils · report · pipeline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tests/      正常 / 边界 / 异常三档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验收口径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pytest 全绿；run.py 产出报告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改配置不改代码；二次运行结果一致（种子固定）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8 份过程文档齐全 → 可直接构成答辩材料链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78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脏数据观察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--peek预览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找3个问题行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口述维度归类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能数出问题行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规范率门槛≥75%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78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基础清洗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读取CSV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过滤空值行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输出clean.csv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能出clean.csv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规范率门槛≥80%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78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完整清洗管线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读取CSV三维验证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问题行写bad_records.csv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输出清洗报告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报告+bad_records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规范率门槛≥90%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78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体检脚本+参数化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缺失/类型/范围统计脚本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--input参数支持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135℃业务决策记录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98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三维统计报表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(A层加码: 数据体检脚本：一键输出缺失/类型/范围三维统计报表)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规范率门槛≥90%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78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with open读写CSV/JSON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三维验证: 缺失/类型/范围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问题行跳过并写入bad_records.csv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csv.DictReader按表头取列，别用下标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float('err')会炸——try包裹或先判内容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bad_records.csv要带错误类型列，可追溯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78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float('err')崩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未预判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try转换或errors处理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CSV多空行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缺newline=''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open(...,newline='')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路径找不到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IDE与命令行cwd不同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按脚本目录拼路径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78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D·学徒（≥60）：脏数据观察——跟做保底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C·操作员（≥70）：基础清洗——基础完成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B·组长（≥80）：完整清洗管线——标准达成+帮带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A·师傅（≥90）：体检脚本+参数化——进阶拓展+费曼讲解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规则：每人按工单勾选自己的层；每4周按达标情况动态升降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78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操作核对清单（做完一条勾一条）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步骤1：with open读写CSV/JSON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步骤2：三维验证: 缺失/类型/范围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步骤3：问题行跳过并写入bad_records.csv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全部勾完→同桌互查签字→提交工单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78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输出格式符合工单样例（对齐/单位/小数位）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文件命名：学号_姓名_工单号.py（不对=扣规范分）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运行截图已贴工单过程记录栏（过程性证据）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conda环境正确（提示符显示(py02）再运行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78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78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78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提交物与评分（工单1.2）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学号_姓名_1.2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78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完成工单项目1.2《工业数据文件处理系统》：及格标准读写≥2种格式+基本验证；优秀标准验证多维度+输出清晰+规范率≥90%；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编写一个“数据体检脚本”：统计文件缺失值数量；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预习jieba分词的安装与使用。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78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工匠精神：规范命名、及时保存、报错必究的编码习惯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工程伦理：数据安全与隐私保护, 不抄代码、引用注明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协作素养：ABCD角色轮换履职, 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78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清洗报告: 总60 成功51 问题9 {'缺失': 4, '类型': 3, '范围': 2}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78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78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pip装包很慢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配清华镜像：pip config set global.index-url https://pypi.tuna.tsinghua.edu.cn/simple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Jupyter启动不了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先conda activate py02再jupyter notebook；看报错第一行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代码能跑但不规范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对照PEP 8卡：snake_case命名+4空格缩进+f-string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78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1.2任务书——步骤/及格线/评分细则都在里面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学生代码框架/——TODO注释即步骤提示，未填也能跑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Jupyter实训/——本周notebook师生版，先跑教师版看答案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做完按Ctrl+K提交推送——每周至少1次，工程素养分依据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78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检查与评价 · 小结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2800000" cy="42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3300000"/>
            <a:ext cx="28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0000" y="4300000"/>
            <a:ext cx="28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部分小结</a:t>
            </a:r>
          </a:p>
        </p:txBody>
      </p:sp>
      <p:sp>
        <p:nvSpPr>
          <p:cNvPr id="8" name="Rectangle 7"/>
          <p:cNvSpPr/>
          <p:nvPr/>
        </p:nvSpPr>
        <p:spPr>
          <a:xfrm>
            <a:off x="3900000" y="2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80000" y="19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三层质检：自检→互查签字→教师抽查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00000" y="27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80000" y="26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评分四级量表+四权重已明确，24小时内平台反馈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00000" y="34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80000" y="33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课后任务+下次课预告形成学习闭环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78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78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车间设备台账还靠Excel手抄，格式天天错、查找靠肉眼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Python变量+f-string+文件读写，30行代码生成规范台账卡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1.2的技能点即其最小实现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下一步：把台账接到数据库（03课P5）/自动采集（02课W11）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78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报错必究——每个红色报错都是产线隐患的预演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协作素养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ABCD轮换履职——师傅带徒弟，贡献表如实填报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代码抄作业=岗位上的'无证驾驶'，害人害己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78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学习策略：这门课怎么学最有效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先例后理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先跑代码看结果，再回头懂原理——PRIMM教学法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费曼技巧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A层讲给D层听——讲得清才是真懂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错题资产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每个报错记入错误速查表——期末它是你的复习宝典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提交习惯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小步提交（每完成一步就commit）——回退不求人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78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进阶路线图（从今天的课往哪走）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本周：工单核心技能→下周：组合应用→期末：综合项目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横向：本课技能在03课P项目链中的位置（工程化/全栈）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纵向：证书线——初级操作题→中级工程题（1+X/工信部）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竞赛线：校级选拔→世界职业院校技能大赛（人工智能赛道）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岗位线：跟做学徒→独立操作→带组师傅→产线负责人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78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本周各层达标预期（%）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1896000" y="2600000"/>
            <a:ext cx="1400000" cy="28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96000" y="204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D层·跟做保底</a:t>
            </a:r>
          </a:p>
        </p:txBody>
      </p:sp>
      <p:sp>
        <p:nvSpPr>
          <p:cNvPr id="8" name="Rectangle 7"/>
          <p:cNvSpPr/>
          <p:nvPr/>
        </p:nvSpPr>
        <p:spPr>
          <a:xfrm>
            <a:off x="3996000" y="3160000"/>
            <a:ext cx="1400000" cy="224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96000" y="26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80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C层·基础完成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0" y="3720000"/>
            <a:ext cx="1400000" cy="1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96000" y="316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B层·标准达成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96000" y="4560000"/>
            <a:ext cx="1400000" cy="8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6000" y="40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A层·进阶拓展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00000" y="5400000"/>
            <a:ext cx="9400000" cy="3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000" y="6100000"/>
            <a:ext cx="109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预期≠上限：动态升降制下人人可冲上一层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65 / 78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课前预习清单（下次课前完成）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微课知识卡：with读写CSV与JSON——应用：见工单starter与教师（5分钟视频+导学单）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Jupyter实训notebook：先跑教师版看答案，再试学生版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预习快问：下次课quiz从微课与导学单出题——带着答案来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Git推送本周工单：还没提交的课后补上（周达标率依据）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66 / 78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知识口袋书（本课概念速记）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 with open自动关闭；encoding='utf-8'防乱码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 csv.DictReader按表头取列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 json.loads/dumps解析与序列化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用法：睡前30秒过一遍——口袋书越翻越薄，技能越练越厚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67 / 78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输出对比：好的 vs 差的（规范从第一课开始）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好的输出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表头对齐·单位齐全·小数位统一·命名规范（snake_case）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差的输出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数字裸奔无单位·列不对齐·temp1/temp2乱命名·中文引号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差多少分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同样的功能——规范20%+素养15%两项就能差出35分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为什么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车间台账要给人看——读不懂的输出=没交付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68 / 78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让数据活过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下一次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with open自动关闭；encoding='utf-8'防乱码 · csv.DictReader按表头取列——应用：见工单starter与教师参考实现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with读写CSV与JSON——应用：见工单starter与教师参考实现 · 实现三维数据验证——应用：见工单starter与教师参考实现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float('err')崩 · CSV多空行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工单1.2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69 / 78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常见场景应对（卡住了怎么办）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场景①代码报错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读报错最后一行→查错误速查表→还没解决举手（附截图）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场景②不知道做啥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回看操作核对清单□——第一个没勾的就是下一步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场景③做完了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90秒最后一查→Git提交→帮同组D/C层（B层职责）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场景④提前全完成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A层拓展任务→费曼准备→预习下次课微课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70 / 78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微课与自学资源（课后补弱/拓强）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微课知识卡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本周主题：with读写CSV与JSON——应用：见工单starter与教师——5分钟视频+导学单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数字人版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同内容数字人讲解——喜欢听的换着看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Jupyter师生版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教师版有完整答案——先看懂再独立做学生版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多解法手册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教师参考/多解法手册——同一任务三种深度解法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71 / 78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答辩预演（期末综合项目的彩排）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①30秒讲需求：这个工单解决什么问题、给谁用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②60秒讲方案：数据从哪来→怎么处理→输出什么（三段式）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③60秒讲亮点：我踩过的坑+怎么爬出来的（错误速查表就是素材）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④答辩礼仪：指着屏幕讲，不念稿；被问住就说'这个我课后验证'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从本周开始练——期末答辩=12周彩排的总和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72 / 78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课堂实录清单（过程性考核证据）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运行截图：代码+输出同框（截全不截半）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工单过程栏：步骤勾选+决策理由+自查记录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Git提交：本次课至少1条commit（message规范）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同伴签字：互查通过后签名（讲得清才算会）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四项齐全=过程分满分；缺一项课后24小时内补齐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73 / 78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函数封装+异常处理——可复用，B层路线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向量化/推导式/设计模式——性能优雅，A层路线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先让它跑起来→再让它对→最后让它快（KISS原则）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74 / 78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自测答案与讲解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课前快问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with语句的好处是什么？utf-8乱码怎么处理？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排错题：出现「float('err')崩」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原因：未预判；解决：try转换或errors处理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复述题：用自己的话说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with open自动关闭；encoding='utf-8'防乱码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错题怎么办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回看对应知识卡+应用页，再跑一遍starter验证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75 / 78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知识：with open自动关闭；encodi；csv.DictReader按表头取列；json.loads/dumps解析与序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技能：with读写CSV与JSON——应用：见工单starter与教师参考实现；实现三维数据验证——应用：见工单starter与教师参考实现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交付：工单1.2《工业数据文件处理系统》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习惯：做完就Ctrl+K提交Git——每周至少1次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2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76 / 78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77 / 78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下次课预告（第9周）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完成分词+停用词管线——应用：见工单starte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词云中文变方块的原因？如何解决？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w08_data_fileio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78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验证 7 行（缺失 1/类型 1/范围 1）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bad.csv 3 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规范列名 实测通过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输入文件通道 实测走通(GBK)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CSV+JSON 双格式读写且 round-trip 通过 + 基本验证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规范率门槛≥75%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缺失/类型/范围三维验证齐全；bad.csv 可追溯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规范率门槛≥80%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清洗报告清晰（维度计数入报告）；输出规范列名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规范率门槛≥90%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达 B 且 --input/--encoding 输入文件通道实测走通（GBK 演示）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规范率门槛≥90%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4E16"/>
                </a:solidFill>
                <a:latin typeface="微软雅黑"/>
              </a:rPr>
              <a:t>人工答辩项 0 条：四档门槛均由代码实测判定</a:t>
            </a:r>
          </a:p>
          <a:p>
            <a:r>
              <a:rPr sz="10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w08_data_fileio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78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8" name="Picture 17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21" name="Picture 20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4" name="Picture 23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项目：02-程序设计基础/工程化项目/w08_data_fileio/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10:46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工具/ppt97/evidence/w08_data_fileio/（capture97.py 真跑捕获，未改写数字）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