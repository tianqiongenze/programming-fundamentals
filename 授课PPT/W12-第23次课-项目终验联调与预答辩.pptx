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2" r:id="rId67"/>
    <p:sldId id="257" r:id="rId9"/>
    <p:sldId id="258" r:id="rId10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0" r:id="rId42"/>
    <p:sldId id="292" r:id="rId44"/>
    <p:sldId id="295" r:id="rId47"/>
    <p:sldId id="298" r:id="rId50"/>
    <p:sldId id="301" r:id="rId53"/>
    <p:sldId id="304" r:id="rId56"/>
    <p:sldId id="311" r:id="rId63"/>
    <p:sldId id="312" r:id="rId64"/>
    <p:sldId id="316" r:id="rId68"/>
    <p:sldId id="317" r:id="rId69"/>
    <p:sldId id="318" r:id="rId70"/>
    <p:sldId id="319" r:id="rId71"/>
    <p:sldId id="320" r:id="rId72"/>
    <p:sldId id="367" r:id="rId80"/>
    <p:sldId id="368" r:id="rId78"/>
    <p:sldId id="369" r:id="rId76"/>
    <p:sldId id="370" r:id="rId83"/>
    <p:sldId id="371" r:id="rId74"/>
    <p:sldId id="321" r:id="rId73"/>
    <p:sldId id="323" r:id="rId75"/>
    <p:sldId id="325" r:id="rId77"/>
    <p:sldId id="327" r:id="rId79"/>
    <p:sldId id="329" r:id="rId81"/>
    <p:sldId id="330" r:id="rId82"/>
    <p:sldId id="332" r:id="rId84"/>
    <p:sldId id="333" r:id="rId85"/>
    <p:sldId id="334" r:id="rId86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6" r:id="rId118"/>
    <p:sldId id="373" r:id="rId66"/>
    <p:sldId id="374" r:id="rId8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3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9" Type="http://schemas.openxmlformats.org/officeDocument/2006/relationships/slide" Target="slides/slide21.xml"/><Relationship Id="rId41" Type="http://schemas.openxmlformats.org/officeDocument/2006/relationships/slide" Target="slides/slide22.xml"/><Relationship Id="rId42" Type="http://schemas.openxmlformats.org/officeDocument/2006/relationships/slide" Target="slides/slide23.xml"/><Relationship Id="rId44" Type="http://schemas.openxmlformats.org/officeDocument/2006/relationships/slide" Target="slides/slide24.xml"/><Relationship Id="rId47" Type="http://schemas.openxmlformats.org/officeDocument/2006/relationships/slide" Target="slides/slide25.xml"/><Relationship Id="rId50" Type="http://schemas.openxmlformats.org/officeDocument/2006/relationships/slide" Target="slides/slide26.xml"/><Relationship Id="rId53" Type="http://schemas.openxmlformats.org/officeDocument/2006/relationships/slide" Target="slides/slide27.xml"/><Relationship Id="rId56" Type="http://schemas.openxmlformats.org/officeDocument/2006/relationships/slide" Target="slides/slide28.xml"/><Relationship Id="rId63" Type="http://schemas.openxmlformats.org/officeDocument/2006/relationships/slide" Target="slides/slide29.xml"/><Relationship Id="rId64" Type="http://schemas.openxmlformats.org/officeDocument/2006/relationships/slide" Target="slides/slide30.xml"/><Relationship Id="rId66" Type="http://schemas.openxmlformats.org/officeDocument/2006/relationships/slide" Target="slides/slide79.xml"/><Relationship Id="rId67" Type="http://schemas.openxmlformats.org/officeDocument/2006/relationships/slide" Target="slides/slide78.xml"/><Relationship Id="rId68" Type="http://schemas.openxmlformats.org/officeDocument/2006/relationships/slide" Target="slides/slide31.xml"/><Relationship Id="rId69" Type="http://schemas.openxmlformats.org/officeDocument/2006/relationships/slide" Target="slides/slide32.xml"/><Relationship Id="rId70" Type="http://schemas.openxmlformats.org/officeDocument/2006/relationships/slide" Target="slides/slide33.xml"/><Relationship Id="rId71" Type="http://schemas.openxmlformats.org/officeDocument/2006/relationships/slide" Target="slides/slide34.xml"/><Relationship Id="rId72" Type="http://schemas.openxmlformats.org/officeDocument/2006/relationships/slide" Target="slides/slide35.xml"/><Relationship Id="rId73" Type="http://schemas.openxmlformats.org/officeDocument/2006/relationships/slide" Target="slides/slide41.xml"/><Relationship Id="rId74" Type="http://schemas.openxmlformats.org/officeDocument/2006/relationships/slide" Target="slides/slide40.xml"/><Relationship Id="rId75" Type="http://schemas.openxmlformats.org/officeDocument/2006/relationships/slide" Target="slides/slide42.xml"/><Relationship Id="rId76" Type="http://schemas.openxmlformats.org/officeDocument/2006/relationships/slide" Target="slides/slide38.xml"/><Relationship Id="rId77" Type="http://schemas.openxmlformats.org/officeDocument/2006/relationships/slide" Target="slides/slide43.xml"/><Relationship Id="rId78" Type="http://schemas.openxmlformats.org/officeDocument/2006/relationships/slide" Target="slides/slide37.xml"/><Relationship Id="rId79" Type="http://schemas.openxmlformats.org/officeDocument/2006/relationships/slide" Target="slides/slide44.xml"/><Relationship Id="rId80" Type="http://schemas.openxmlformats.org/officeDocument/2006/relationships/slide" Target="slides/slide36.xml"/><Relationship Id="rId81" Type="http://schemas.openxmlformats.org/officeDocument/2006/relationships/slide" Target="slides/slide45.xml"/><Relationship Id="rId82" Type="http://schemas.openxmlformats.org/officeDocument/2006/relationships/slide" Target="slides/slide46.xml"/><Relationship Id="rId83" Type="http://schemas.openxmlformats.org/officeDocument/2006/relationships/slide" Target="slides/slide39.xml"/><Relationship Id="rId84" Type="http://schemas.openxmlformats.org/officeDocument/2006/relationships/slide" Target="slides/slide47.xml"/><Relationship Id="rId85" Type="http://schemas.openxmlformats.org/officeDocument/2006/relationships/slide" Target="slides/slide48.xml"/><Relationship Id="rId86" Type="http://schemas.openxmlformats.org/officeDocument/2006/relationships/slide" Target="slides/slide49.xml"/><Relationship Id="rId87" Type="http://schemas.openxmlformats.org/officeDocument/2006/relationships/slide" Target="slides/slide80.xml"/><Relationship Id="rId88" Type="http://schemas.openxmlformats.org/officeDocument/2006/relationships/slide" Target="slides/slide50.xml"/><Relationship Id="rId89" Type="http://schemas.openxmlformats.org/officeDocument/2006/relationships/slide" Target="slides/slide51.xml"/><Relationship Id="rId90" Type="http://schemas.openxmlformats.org/officeDocument/2006/relationships/slide" Target="slides/slide52.xml"/><Relationship Id="rId91" Type="http://schemas.openxmlformats.org/officeDocument/2006/relationships/slide" Target="slides/slide53.xml"/><Relationship Id="rId92" Type="http://schemas.openxmlformats.org/officeDocument/2006/relationships/slide" Target="slides/slide54.xml"/><Relationship Id="rId93" Type="http://schemas.openxmlformats.org/officeDocument/2006/relationships/slide" Target="slides/slide55.xml"/><Relationship Id="rId94" Type="http://schemas.openxmlformats.org/officeDocument/2006/relationships/slide" Target="slides/slide56.xml"/><Relationship Id="rId95" Type="http://schemas.openxmlformats.org/officeDocument/2006/relationships/slide" Target="slides/slide57.xml"/><Relationship Id="rId96" Type="http://schemas.openxmlformats.org/officeDocument/2006/relationships/slide" Target="slides/slide58.xml"/><Relationship Id="rId97" Type="http://schemas.openxmlformats.org/officeDocument/2006/relationships/slide" Target="slides/slide59.xml"/><Relationship Id="rId98" Type="http://schemas.openxmlformats.org/officeDocument/2006/relationships/slide" Target="slides/slide60.xml"/><Relationship Id="rId99" Type="http://schemas.openxmlformats.org/officeDocument/2006/relationships/slide" Target="slides/slide61.xml"/><Relationship Id="rId100" Type="http://schemas.openxmlformats.org/officeDocument/2006/relationships/slide" Target="slides/slide62.xml"/><Relationship Id="rId101" Type="http://schemas.openxmlformats.org/officeDocument/2006/relationships/slide" Target="slides/slide63.xml"/><Relationship Id="rId102" Type="http://schemas.openxmlformats.org/officeDocument/2006/relationships/slide" Target="slides/slide64.xml"/><Relationship Id="rId103" Type="http://schemas.openxmlformats.org/officeDocument/2006/relationships/slide" Target="slides/slide65.xml"/><Relationship Id="rId104" Type="http://schemas.openxmlformats.org/officeDocument/2006/relationships/slide" Target="slides/slide66.xml"/><Relationship Id="rId105" Type="http://schemas.openxmlformats.org/officeDocument/2006/relationships/slide" Target="slides/slide67.xml"/><Relationship Id="rId106" Type="http://schemas.openxmlformats.org/officeDocument/2006/relationships/slide" Target="slides/slide68.xml"/><Relationship Id="rId107" Type="http://schemas.openxmlformats.org/officeDocument/2006/relationships/slide" Target="slides/slide69.xml"/><Relationship Id="rId108" Type="http://schemas.openxmlformats.org/officeDocument/2006/relationships/slide" Target="slides/slide70.xml"/><Relationship Id="rId109" Type="http://schemas.openxmlformats.org/officeDocument/2006/relationships/slide" Target="slides/slide71.xml"/><Relationship Id="rId110" Type="http://schemas.openxmlformats.org/officeDocument/2006/relationships/slide" Target="slides/slide72.xml"/><Relationship Id="rId111" Type="http://schemas.openxmlformats.org/officeDocument/2006/relationships/slide" Target="slides/slide73.xml"/><Relationship Id="rId112" Type="http://schemas.openxmlformats.org/officeDocument/2006/relationships/slide" Target="slides/slide74.xml"/><Relationship Id="rId113" Type="http://schemas.openxmlformats.org/officeDocument/2006/relationships/slide" Target="slides/slide75.xml"/><Relationship Id="rId114" Type="http://schemas.openxmlformats.org/officeDocument/2006/relationships/slide" Target="slides/slide76.xml"/><Relationship Id="rId118" Type="http://schemas.openxmlformats.org/officeDocument/2006/relationships/slide" Target="slides/slide7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开场30秒：本次课《项目终验联调与预答辩》，80分钟＝2课时×40分钟。课前已发工单+starter+微课知识卡，资讯·计划线上完成。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目录页：给学生'地图感'——翻到哪部分干什么，30秒。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情境说书（30秒，口头讲，不必逐字念）：答辩日。王主任、方总监和平台吴工都坐在台下。你要交付的，是把12周所学装进一个完整的《工业互联网数据处理系统》——第23次课终验预答辩，第24次课正式答辩。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详解B1·checklist三清单：先读定义→场景为什么用它→看代码实例→扩展给A层。C/D层掌握前三格，A层加扩展格。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应用页1：把知识点放回产线场景——先看代码输出，再回看定义，强化'学以致用'。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详解B2·答辩四段结构：先读定义→场景为什么用它→看代码实例→扩展给A层。C/D层掌握前三格，A层加扩展格。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详解B3·bad-case预案：先读定义→场景为什么用它→看代码实例→扩展给A层。C/D层掌握前三格，A层加扩展格。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详解B4·贡献表与Git核对：先读定义→场景为什么用它→看代码实例→扩展给A层。C/D层掌握前三格，A层加扩展格。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详解B5·个人问责制：先读定义→场景为什么用它→看代码实例→扩展给A层。C/D层掌握前三格，A层加扩展格。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详解B6·时间盒弹性：先读定义→场景为什么用它→看代码实例→扩展给A层。C/D层掌握前三格，A层加扩展格。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现场演示《项目骨架(四类分工)》：三步走——先整段跑通看结果，再逐行讲关键语句，最后现场改一个参数看输出变化（演10分钟的核心素材）。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架构分层讲解：自下而上过一遍数据流向，答辩时按此图讲'系统架构'。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工单发布话术：'精密制造事业部发来工单Z《综合项目终验与预答辩》，及格线是可，优秀线看A层标准'——念完发starter。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错误速查：现场演示第一条——制造「现场装依赖」，带着学生按'现象→原因→解决'三步排查。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项目6 点滴过往，趣味报告 | 预习知识点：综合项目：数据采集→处理→可视化(matplotlib基础) | 课中检查知识点：能串联12周知识完成综合项目并答辩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部分小结：评价收束。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学习策略：四个方法贯穿全学期——第一周讲透，以后每周复用。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进阶路线：把一门课放进三年坐标系——学完这周能走到哪。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达标预期：四层的预期比例——D层100%保底是底线承诺。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预习清单：三项任务5-15分钟——闭环从课前开始。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口袋书：三条概念卡——期末汇总成全册，学生自查工具。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好差对比：两份同功能输出对比——规范分不是白给的。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场景应对：四种状态四种动作——课堂自主运转的说明书。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微课资源：四个自学入口——补弱看微课，拓强看多解法。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答辩预演：每周2分钟练一环——期末不慌。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实录清单：过程性考核的取证清单——学生自查，教师抽查。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项目终验联调与预答辩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第十二周 · 第23次课（2课时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CE（编码）+ Jupyter（Pandas数据实验）+ Git/GitHub（每周提交）</a:t>
            </a:r>
          </a:p>
        </p:txBody>
      </p:sp>
      <p:pic>
        <p:nvPicPr>
          <p:cNvPr id="7" name="Picture 6" descr="W1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80分钟时间盒与ABCD分层节奏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带着目标进课堂+两江智造本课剧情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基础知识大卡+代码演示（先例后理）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工单发布·分层执行·避坑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本课目录（结构速览）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①课程定位：定位/知识地图/课证赛岗——为什么学这门课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②课堂流程：80分钟时间盒/分层节奏——今天怎么安排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③目标与情境：三维目标/剧情拆解/随堂自测——学什么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④知识精讲：知识卡×应用×深化×代码走读——怎么教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⑤任务实施：工单/四层任务/避坑/核对清单——怎么做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5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4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⑥检查评价+⑦拓展：质检/评分/工具箱/一图流——怎么收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项目终验联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调与预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checklist三清单：功能/规范/演示——应用：见工单starter与教师参考实现 · 答辩结构：1分工+5演示+2总结——应用：见工单starter与教师参考实现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bad-case预案：评委必点脏数据——应用：见工单starter与教师参考实现 · 贡献表与Git交叉核对——应用：见工单starter与教师参考实现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按checklist完成终验自查——应用：见工单starter与教师参考实现 · 组内预答辩互问热身——应用：见工单starter与教师参考实现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技能线：按checklist完成终验自查——应用：见工单starter与教师参考实现；组内预答辩互问热身——应用：见工单starter与教师参考实现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Z《综合项目终验与预答辩》——本课工单即考核单元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目标：综合运用OOP、容器、文件、第三方库、网络编程知识构建完整系统；理解工业数据处理全流程。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目标：能够独立完成系统设计、开发、调试与展示答辩；代码规范率≥90%（优秀≥95%）；能够清晰表达设计思路并回答技术问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目标：体验完整项目交付流程，培养团队协作、时间管理与成果表达的综合职业素养。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checklist三清单(功能/规范/演示)你组还差哪几项？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项目6 点滴过往，趣味报告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综合项目：数据采集→处理→可视化(matplotli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课中检查｜上次课（W11）抽查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能写PLC子类继承Device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能说出继承复用的好处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题目：checklist三清单(功能/规范/演示)你组还差哪几项？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答辩日。王主任、方总监和平台吴工都坐在台下。你要交付的，是把12周所学装进一个完整的《工业互联网数据处理系统》——第23次课终验预答辩，第24次课正式答辩。</a:t>
            </a:r>
          </a:p>
        </p:txBody>
      </p:sp>
      <p:pic>
        <p:nvPicPr>
          <p:cNvPr id="9" name="Picture 8" descr="W1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任务背景：答辩日。王主任、方总监和平台吴工都坐在台下。你要交付的，是把12周所学装进一个完整的《工业互联网数据处理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综合运用OOP、容器、文件、第三方库、网络编程知识构建完整系统；理解工业数据处理全流程。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能够独立完成系统设计、开发、调试与展示答辩；代码规范率≥90%（优秀≥95%）；能够清晰表达设计思路并回答技术问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体验完整项目交付流程，培养团队协作、时间管理与成果表达的综合职业素养。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对应工单Z评分：功能40%+技术25%+规范20%+素养15%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知识详解：checklist三清单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checklist三清单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checklist=飞行前检查单：功能/规范/演示逐项打勾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终验不靠记忆靠清单——工程师与飞行员同一套方法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□全部功能可跑 □PEP8规范 □运行截图齐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误区：靠'我觉得都OK'——清单逐项过，漏一项扣一项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知识应用（1）：checklist三清单：功能/规范/演示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checklist三清单：功能/规范/演示。在两江智造产线上的用法：见工单starter与教师参考实现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知识详解：答辩四段结构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答辩四段结构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四段=时间盒：1分钟分工+5分钟演示+2分钟总结+提问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小组答辩8分钟时间盒——超时直接打断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'我们4人分工…→现在演示…→收获是…'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误区：先讲代码再演示——先跑通给结果，评委要有耐心阈值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知识详解：bad-case预案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bad-case预案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bad-case预案=答辩灭火器：评委必点脏数据，提前备好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预演评委可能的刁钻输入——温度=abc不能崩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输入'温度=abc'→友好报错并提示重输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误区：崩溃不扣死分，崩溃无预案才扣——兜底体现工程态度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知识详解：贡献表与Git核对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贡献表与Git核对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贡献表对Git=口头对台账——谁写的代码提交记录说了算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搭便车识别——贡献与commit交叉验证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贡献表写'数据清洗'→Git查确有对应commit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误区：临时补commit痕迹——时间戳造不了假，证据链闭环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知识详解：个人问责制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个人问责制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个人问责=随机点名必答题——组分与个人分分开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防止一人干活全组得分——费曼带徒的最终检验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评委点任意成员：'这段函数讲讲为什么这样写'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误区：平时不听答辩现学——讲不清个人分扣，日常费曼才是本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知识详解：时间盒弹性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时间盒弹性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时间盒弹性=人多就切5+3分钟——超时打断不解释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&gt;6组的答辩时间管理——超时是答辩大忌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提前掐表彩排一遍——5分钟演示里只放亮点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误区：超时想讲完——果断收尾比讲完更得分，评委记节奏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项目终验联调与预答辩（1）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综合项目《工业互联网完整数据处理系统》终验联调：按checklist（功能项+规范项+演示项）逐项自查互查；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预答辩热身：组内互问互评（答辩必答题演练：架构、数据流、异常处理）；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完善演示材料（PPT与演示视频第24次课课前提交）；开发主体工作已于第11周启动、课后推进。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关键代码：项目骨架(四类分工)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class Collector:      # A: 采集(Modbus/文件)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def collect(self): ...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class Cleaner:        # B: 清洗(三维验证)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def clean(self, rows): ...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class Analyzer:       # C: 分析(阈值+统计)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def analyze(self, rows): ...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class Reporter:       # D: 文档(PDF报告)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def build(self, stats): ...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综合系统架构（分层）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2200000" cy="8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04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展示层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000" y="186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103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40000" y="192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仪表盘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186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103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37575" y="192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PDF报告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2760000"/>
            <a:ext cx="2200000" cy="8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000" y="300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分析层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000" y="282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40000" y="288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阈值检测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282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37575" y="288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统计聚合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3720000"/>
            <a:ext cx="2200000" cy="8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396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数据层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000" y="378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40000" y="384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清洗管道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01000" y="378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37575" y="384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SQLite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0000" y="4680000"/>
            <a:ext cx="2200000" cy="88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000" y="492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采集层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000" y="474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40000" y="480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Modbus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01000" y="474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37575" y="480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文件/模拟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000" y="1800000"/>
            <a:ext cx="20000" cy="374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答辩预演：必答题分工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题目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主答人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系统架构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数据流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异常处理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组内每人至少主答1题(个人问责)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本课决策题：答辩预演：必答题分工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实施任务：工单Z《综合项目终验与预答辩》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分段验收: 采集→处理→报告模块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checklist自查互查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组内预答辩互问热身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可演示版本+checklist过半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终验全过+演示材料课前提交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本次真跑实测输出（逐字取自 output/report.txt）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实测档位: 优(A)｜规范率实测 100.0%（引擎 pycodestyle 2.14.0（业界标准））——档位由 tier_verdict 按本次实测值算出，代码里没有自称的承诺档位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及格(D)    门槛≥80% [达标] ｜ 功能OK ｜ 功能基本完整 + 主流程可演示（≥50 条数据）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良好(C)    门槛≥85% [达标] ｜ 功能OK ｜ 功能完整 + 讲清设计思路（Collector/Reporter 两类）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优秀(B)    门槛≥90% [达标] ｜ 功能OK ｜ 技术细节深入 + 合理创新点（复用 W02/06/08/10）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优(A)     门槛≥95% [达标] ｜ 功能OK ｜ 架构图清晰 + 明显工业应用价值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功能门实测口径: D=有效行数≥min_rows 且原始行数达标；C=云端通道与 PDF 交付物真实产出；B=清洗维度实测≥2 项；A=规范率≥95%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人工答辩项 3 条（机器判不了，不计入上方档位，教师答辩时确认）: C·讲清设计思路（Collector/Reporter 两类）；B·技术细节深入＋有合理创新点；A·架构图清晰＋有明显工业应用价值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工程化项目/w12_capstone/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src/capstone/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w12_capstone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功能基本完整 + 主流程可演示（≥50 条数据）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门槛≥80%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功能完整 + 讲清设计思路（Collector/Reporter 两类）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门槛≥85%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技术细节深入 + 合理创新点（复用 W02/06/08/10）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门槛≥90%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架构图清晰 + 明显工业应用价值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门槛≥95%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3 条（代码不代判，答辩现场确认，逐条见下页 report.txt 截图）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档位取数：output/result.json:tiers（报告头未写档位行）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w12_capstone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8" name="Picture 17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21" name="Picture 20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4" name="Picture 23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项目：02-程序设计基础/工程化项目/w12_capstone/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10:46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工具/ppt97/evidence/w12_capstone/（capture97.py 真跑捕获，未改写数字）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产出图证据 · w12_capstone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481328"/>
            <a:ext cx="11356848" cy="466344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1517904"/>
            <a:ext cx="112105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产出图 · keyword_cloud.png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1755648"/>
            <a:ext cx="112105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7A8698"/>
                </a:solidFill>
                <a:latin typeface="微软雅黑"/>
              </a:rPr>
              <a:t>output/keyword_cloud.png ｜ 33 KB ｜ run.py 本次落盘</a:t>
            </a:r>
          </a:p>
        </p:txBody>
      </p:sp>
      <p:pic>
        <p:nvPicPr>
          <p:cNvPr id="19" name="Picture 18" descr="keyword_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1993392"/>
            <a:ext cx="8156448" cy="40782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以上图像由 run.py 本次运行落盘到 output/，非外部素材。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参与汇报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说清自己做了什么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回答1基础题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反思一页纸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能答基础问题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门槛≥80%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模块讲解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负责模块演示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答1个模块问题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过程记录提交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讲清自己模块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门槛≥85%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答辩主力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8分钟演示彩排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必答题准备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分工说明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答问准确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门槛≥90%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77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脱稿架构讲解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画架构图脱稿讲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bad-case演示准备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创新点陈述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2分钟讲清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(A层加码: 口头架构讲解限时2分钟脱稿——图在心中)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门槛≥95%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分段验收: 采集→处理→报告模块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checklist自查互查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组内预答辩互问热身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演示视频课前提交（≤3分钟），教师预看带问题入场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&gt;6组切换5+3分钟制，超时扣表达分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脏数据bad-case演示必准备（评委必点）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现场装依赖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没提前试跑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答辩机预演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只讲不演示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空谈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必须现场运行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超时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没掐表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按5+3彩排两遍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77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D·学徒（≥60）：参与汇报——跟做保底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C·操作员（≥70）：模块讲解——基础完成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B·组长（≥80）：答辩主力——标准达成+帮带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A·师傅（≥90）：脱稿架构讲解——进阶拓展+费曼讲解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步骤1：分段验收: 采集→处理→报告模块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步骤2：checklist自查互查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步骤3：组内预答辩互问热身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77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77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提交物与评分（工单Z）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学号_姓名_Z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77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提交综合项目完整材料：代码、报告、演示视频；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完成课程学习反思（一页纸总结）；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了解后续《AI应用基础》课程衔接内容。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77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77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=== 综合系统演示 ===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清洗报告: 总60 成功51 问题9 {'缺失': 4, '类型': 3, '范围': 2}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[提示] 21:00:50 运行正常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[警告] 21:00:50 温度80℃/压力0.5MPa超预警线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[警告] 21:00:50 温度94.9℃/压力0.5MPa超预警线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[停机] 21:00:50 温度95℃/压力0.5MPa超危险线, 立即停机!  ×2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报告生成复用 w10() ...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77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77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Z任务书——步骤/及格线/评分细则都在里面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77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检查与评价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三层质检：自检→互查签字→教师抽查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评分四级量表+四权重已明确，24小时内平台反馈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课后任务+下次课预告形成学习闭环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77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77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Z的技能点即其最小实现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77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77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学习策略：这门课怎么学最有效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先例后理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先跑代码看结果，再回头懂原理——PRIMM教学法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费曼技巧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A层讲给D层听——讲得清才是真懂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每个报错记入错误速查表——期末它是你的复习宝典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提交习惯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小步提交（每完成一步就commit）——回退不求人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77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进阶路线图（从今天的课往哪走）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本周：工单核心技能→下周：组合应用→期末：综合项目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横向：本课技能在03课P项目链中的位置（工程化/全栈）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纵向：证书线——初级操作题→中级工程题（1+X/工信部）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竞赛线：校级选拔→世界职业院校技能大赛（人工智能赛道）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岗位线：跟做学徒→独立操作→带组师傅→产线负责人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77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本周各层达标预期（%）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2600000"/>
            <a:ext cx="1400000" cy="28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D层·跟做保底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3160000"/>
            <a:ext cx="1400000" cy="224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6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C层·基础完成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3720000"/>
            <a:ext cx="1400000" cy="1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316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B层·标准达成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560000"/>
            <a:ext cx="1400000" cy="8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40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A层·进阶拓展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预期≠上限：动态升降制下人人可冲上一层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77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课前预习清单（下次课前完成）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微课知识卡：按checklist完成终验自查——应用：见工单starter与（5分钟视频+导学单）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Jupyter实训notebook：先跑教师版看答案，再试学生版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预习快问：下次课quiz从微课与导学单出题——带着答案来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Git推送本周工单：还没提交的课后补上（周达标率依据）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77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知识口袋书（本课概念速记）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 checklist三清单：功能/规范/演示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 答辩结构：1分工+5演示+2总结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 bad-case预案：评委必点脏数据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用法：睡前30秒过一遍——口袋书越翻越薄，技能越练越厚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输出对比：好的 vs 差的（规范从第一课开始）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好的输出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表头对齐·单位齐全·小数位统一·命名规范（snake_case）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差的输出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数字裸奔无单位·列不对齐·temp1/temp2乱命名·中文引号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差多少分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同样的功能——规范20%+素养15%两项就能差出35分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车间台账要给人看——读不懂的输出=没交付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77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项目终验联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调与预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checklist三清单：功能/规范/演示——应用：见工单starter与教师参考实现 · 答辩结构：1分工+5演示+2总结——应用：见工单starter与教师参考实现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按checklist完成终验自查——应用：见工单starter与教师参考实现 · 组内预答辩互问热身——应用：见工单starter与教师参考实现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现场装依赖 · 只讲不演示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工单Z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77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常见场景应对（卡住了怎么办）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场景①代码报错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读报错最后一行→查错误速查表→还没解决举手（附截图）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场景②不知道做啥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回看操作核对清单□——第一个没勾的就是下一步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场景③做完了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90秒最后一查→Git提交→帮同组D/C层（B层职责）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场景④提前全完成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A层拓展任务→费曼准备→预习下次课微课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77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微课与自学资源（课后补弱/拓强）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微课知识卡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本周主题：按checklist完成终验自查——应用：见工单starter与——5分钟视频+导学单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数字人版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同内容数字人讲解——喜欢听的换着看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Jupyter师生版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教师版有完整答案——先看懂再独立做学生版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多解法手册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教师参考/多解法手册——同一任务三种深度解法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71 / 77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答辩预演（期末综合项目的彩排）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①30秒讲需求：这个工单解决什么问题、给谁用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②60秒讲方案：数据从哪来→怎么处理→输出什么（三段式）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③60秒讲亮点：我踩过的坑+怎么爬出来的（错误速查表就是素材）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④答辩礼仪：指着屏幕讲，不念稿；被问住就说'这个我课后验证'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从本周开始练——期末答辩=12周彩排的总和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72 / 77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课堂实录清单（过程性考核证据）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运行截图：代码+输出同框（截全不截半）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工单过程栏：步骤勾选+决策理由+自查记录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Git提交：本次课至少1条commit（message规范）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同伴签字：互查通过后签名（讲得清才算会）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四项齐全=过程分满分；缺一项课后24小时内补齐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73 / 77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74 / 77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checklist三清单(功能/规范/演示)你组还差哪几项？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排错题：出现「现场装依赖」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原因：没提前试跑；解决：答辩机预演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checklist三清单：功能/规范/演示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75 / 77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知识：checklist三清单：功能/规范/演；答辩结构：1分工+5演示+2总结；bad-case预案：评委必点脏数据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技能：按checklist完成终验自查——应用：见工单starter与教师参考实现；组内预答辩互问热身——应用：见工单starter与教师参考实现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交付：工单Z《综合项目终验与预答辩》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76 / 77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本讲对应工单：《程序设计基础》分层任务工单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