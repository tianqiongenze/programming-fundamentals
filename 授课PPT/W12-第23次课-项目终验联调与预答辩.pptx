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3" r:id="rId15"/>
    <p:sldId id="264" r:id="rId16"/>
    <p:sldId id="266" r:id="rId18"/>
    <p:sldId id="267" r:id="rId19"/>
    <p:sldId id="271" r:id="rId23"/>
    <p:sldId id="273" r:id="rId25"/>
    <p:sldId id="274" r:id="rId26"/>
    <p:sldId id="275" r:id="rId27"/>
    <p:sldId id="276" r:id="rId28"/>
    <p:sldId id="277" r:id="rId29"/>
    <p:sldId id="278" r:id="rId30"/>
    <p:sldId id="280" r:id="rId32"/>
    <p:sldId id="281" r:id="rId33"/>
    <p:sldId id="282" r:id="rId34"/>
    <p:sldId id="287" r:id="rId39"/>
    <p:sldId id="289" r:id="rId41"/>
    <p:sldId id="290" r:id="rId42"/>
    <p:sldId id="292" r:id="rId44"/>
    <p:sldId id="295" r:id="rId47"/>
    <p:sldId id="298" r:id="rId50"/>
    <p:sldId id="301" r:id="rId53"/>
    <p:sldId id="304" r:id="rId56"/>
    <p:sldId id="311" r:id="rId63"/>
    <p:sldId id="312" r:id="rId64"/>
    <p:sldId id="316" r:id="rId68"/>
    <p:sldId id="317" r:id="rId69"/>
    <p:sldId id="318" r:id="rId70"/>
    <p:sldId id="319" r:id="rId71"/>
    <p:sldId id="320" r:id="rId72"/>
    <p:sldId id="367" r:id="rId80"/>
    <p:sldId id="368" r:id="rId78"/>
    <p:sldId id="321" r:id="rId73"/>
    <p:sldId id="323" r:id="rId75"/>
    <p:sldId id="325" r:id="rId77"/>
    <p:sldId id="327" r:id="rId79"/>
    <p:sldId id="329" r:id="rId81"/>
    <p:sldId id="330" r:id="rId82"/>
    <p:sldId id="332" r:id="rId84"/>
    <p:sldId id="333" r:id="rId85"/>
    <p:sldId id="334" r:id="rId86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6" r:id="rId1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3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2" Type="http://schemas.openxmlformats.org/officeDocument/2006/relationships/slide" Target="slides/slide18.xml"/><Relationship Id="rId33" Type="http://schemas.openxmlformats.org/officeDocument/2006/relationships/slide" Target="slides/slide19.xml"/><Relationship Id="rId34" Type="http://schemas.openxmlformats.org/officeDocument/2006/relationships/slide" Target="slides/slide20.xml"/><Relationship Id="rId39" Type="http://schemas.openxmlformats.org/officeDocument/2006/relationships/slide" Target="slides/slide21.xml"/><Relationship Id="rId41" Type="http://schemas.openxmlformats.org/officeDocument/2006/relationships/slide" Target="slides/slide22.xml"/><Relationship Id="rId42" Type="http://schemas.openxmlformats.org/officeDocument/2006/relationships/slide" Target="slides/slide23.xml"/><Relationship Id="rId44" Type="http://schemas.openxmlformats.org/officeDocument/2006/relationships/slide" Target="slides/slide24.xml"/><Relationship Id="rId47" Type="http://schemas.openxmlformats.org/officeDocument/2006/relationships/slide" Target="slides/slide25.xml"/><Relationship Id="rId50" Type="http://schemas.openxmlformats.org/officeDocument/2006/relationships/slide" Target="slides/slide26.xml"/><Relationship Id="rId53" Type="http://schemas.openxmlformats.org/officeDocument/2006/relationships/slide" Target="slides/slide27.xml"/><Relationship Id="rId56" Type="http://schemas.openxmlformats.org/officeDocument/2006/relationships/slide" Target="slides/slide28.xml"/><Relationship Id="rId63" Type="http://schemas.openxmlformats.org/officeDocument/2006/relationships/slide" Target="slides/slide29.xml"/><Relationship Id="rId64" Type="http://schemas.openxmlformats.org/officeDocument/2006/relationships/slide" Target="slides/slide30.xml"/><Relationship Id="rId68" Type="http://schemas.openxmlformats.org/officeDocument/2006/relationships/slide" Target="slides/slide31.xml"/><Relationship Id="rId69" Type="http://schemas.openxmlformats.org/officeDocument/2006/relationships/slide" Target="slides/slide32.xml"/><Relationship Id="rId70" Type="http://schemas.openxmlformats.org/officeDocument/2006/relationships/slide" Target="slides/slide33.xml"/><Relationship Id="rId71" Type="http://schemas.openxmlformats.org/officeDocument/2006/relationships/slide" Target="slides/slide34.xml"/><Relationship Id="rId72" Type="http://schemas.openxmlformats.org/officeDocument/2006/relationships/slide" Target="slides/slide35.xml"/><Relationship Id="rId73" Type="http://schemas.openxmlformats.org/officeDocument/2006/relationships/slide" Target="slides/slide38.xml"/><Relationship Id="rId75" Type="http://schemas.openxmlformats.org/officeDocument/2006/relationships/slide" Target="slides/slide39.xml"/><Relationship Id="rId77" Type="http://schemas.openxmlformats.org/officeDocument/2006/relationships/slide" Target="slides/slide40.xml"/><Relationship Id="rId78" Type="http://schemas.openxmlformats.org/officeDocument/2006/relationships/slide" Target="slides/slide37.xml"/><Relationship Id="rId79" Type="http://schemas.openxmlformats.org/officeDocument/2006/relationships/slide" Target="slides/slide41.xml"/><Relationship Id="rId80" Type="http://schemas.openxmlformats.org/officeDocument/2006/relationships/slide" Target="slides/slide36.xml"/><Relationship Id="rId81" Type="http://schemas.openxmlformats.org/officeDocument/2006/relationships/slide" Target="slides/slide42.xml"/><Relationship Id="rId82" Type="http://schemas.openxmlformats.org/officeDocument/2006/relationships/slide" Target="slides/slide43.xml"/><Relationship Id="rId84" Type="http://schemas.openxmlformats.org/officeDocument/2006/relationships/slide" Target="slides/slide44.xml"/><Relationship Id="rId85" Type="http://schemas.openxmlformats.org/officeDocument/2006/relationships/slide" Target="slides/slide45.xml"/><Relationship Id="rId86" Type="http://schemas.openxmlformats.org/officeDocument/2006/relationships/slide" Target="slides/slide46.xml"/><Relationship Id="rId88" Type="http://schemas.openxmlformats.org/officeDocument/2006/relationships/slide" Target="slides/slide47.xml"/><Relationship Id="rId89" Type="http://schemas.openxmlformats.org/officeDocument/2006/relationships/slide" Target="slides/slide48.xml"/><Relationship Id="rId90" Type="http://schemas.openxmlformats.org/officeDocument/2006/relationships/slide" Target="slides/slide49.xml"/><Relationship Id="rId91" Type="http://schemas.openxmlformats.org/officeDocument/2006/relationships/slide" Target="slides/slide50.xml"/><Relationship Id="rId92" Type="http://schemas.openxmlformats.org/officeDocument/2006/relationships/slide" Target="slides/slide51.xml"/><Relationship Id="rId93" Type="http://schemas.openxmlformats.org/officeDocument/2006/relationships/slide" Target="slides/slide52.xml"/><Relationship Id="rId94" Type="http://schemas.openxmlformats.org/officeDocument/2006/relationships/slide" Target="slides/slide53.xml"/><Relationship Id="rId95" Type="http://schemas.openxmlformats.org/officeDocument/2006/relationships/slide" Target="slides/slide54.xml"/><Relationship Id="rId96" Type="http://schemas.openxmlformats.org/officeDocument/2006/relationships/slide" Target="slides/slide55.xml"/><Relationship Id="rId97" Type="http://schemas.openxmlformats.org/officeDocument/2006/relationships/slide" Target="slides/slide56.xml"/><Relationship Id="rId98" Type="http://schemas.openxmlformats.org/officeDocument/2006/relationships/slide" Target="slides/slide57.xml"/><Relationship Id="rId99" Type="http://schemas.openxmlformats.org/officeDocument/2006/relationships/slide" Target="slides/slide58.xml"/><Relationship Id="rId100" Type="http://schemas.openxmlformats.org/officeDocument/2006/relationships/slide" Target="slides/slide59.xml"/><Relationship Id="rId101" Type="http://schemas.openxmlformats.org/officeDocument/2006/relationships/slide" Target="slides/slide60.xml"/><Relationship Id="rId102" Type="http://schemas.openxmlformats.org/officeDocument/2006/relationships/slide" Target="slides/slide61.xml"/><Relationship Id="rId103" Type="http://schemas.openxmlformats.org/officeDocument/2006/relationships/slide" Target="slides/slide62.xml"/><Relationship Id="rId104" Type="http://schemas.openxmlformats.org/officeDocument/2006/relationships/slide" Target="slides/slide63.xml"/><Relationship Id="rId105" Type="http://schemas.openxmlformats.org/officeDocument/2006/relationships/slide" Target="slides/slide64.xml"/><Relationship Id="rId106" Type="http://schemas.openxmlformats.org/officeDocument/2006/relationships/slide" Target="slides/slide65.xml"/><Relationship Id="rId107" Type="http://schemas.openxmlformats.org/officeDocument/2006/relationships/slide" Target="slides/slide66.xml"/><Relationship Id="rId108" Type="http://schemas.openxmlformats.org/officeDocument/2006/relationships/slide" Target="slides/slide67.xml"/><Relationship Id="rId109" Type="http://schemas.openxmlformats.org/officeDocument/2006/relationships/slide" Target="slides/slide68.xml"/><Relationship Id="rId110" Type="http://schemas.openxmlformats.org/officeDocument/2006/relationships/slide" Target="slides/slide69.xml"/><Relationship Id="rId111" Type="http://schemas.openxmlformats.org/officeDocument/2006/relationships/slide" Target="slides/slide70.xml"/><Relationship Id="rId112" Type="http://schemas.openxmlformats.org/officeDocument/2006/relationships/slide" Target="slides/slide71.xml"/><Relationship Id="rId113" Type="http://schemas.openxmlformats.org/officeDocument/2006/relationships/slide" Target="slides/slide72.xml"/><Relationship Id="rId114" Type="http://schemas.openxmlformats.org/officeDocument/2006/relationships/slide" Target="slides/slide73.xml"/><Relationship Id="rId118" Type="http://schemas.openxmlformats.org/officeDocument/2006/relationships/slide" Target="slides/slide7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开场30秒：本次课《项目终验联调与预答辩》，80分钟＝2课时×40分钟。课前已发工单+starter+微课知识卡，资讯·计划线上完成。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目录页：给学生'地图感'——翻到哪部分干什么，30秒。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分支详解二：强调'技能=今天的验收口径'，评价权重即打分表。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课证赛岗对照：说明本课工单在证书/竞赛中的对应考点，30秒。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决策10→实施30→检查5→实施25→评价10；评价环节不压缩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预习检查页：左栏布置下次课教材预习（下次quiz从中出）；右栏抽查上次课检查知识点——随机2人白板/口述，答对记过程分。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逐题精讲：只讲错得最多的题——其余对答案即可。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情境说书（30秒，口头讲，不必逐字念）：答辩日。王主任、方总监和平台吴工都坐在台下。你要交付的，是把12周所学装进一个完整的《工业互联网数据处理系统》——第23次课终验预答辩，第24次课正式答辩。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剧情拆解：把情境页的故事拆成三要素，让学生明确'解决什么'。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目标对照页：逐维读目标，指读达标口径=评分表，目标可测可评。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详解B1·checklist三清单：先读定义→场景为什么用它→看代码实例→扩展给A层。C/D层掌握前三格，A层加扩展格。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应用页1：把知识点放回产线场景——先看代码输出，再回看定义，强化'学以致用'。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详解B2·答辩四段结构：先读定义→场景为什么用它→看代码实例→扩展给A层。C/D层掌握前三格，A层加扩展格。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详解B3·bad-case预案：先读定义→场景为什么用它→看代码实例→扩展给A层。C/D层掌握前三格，A层加扩展格。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详解B4·贡献表与Git核对：先读定义→场景为什么用它→看代码实例→扩展给A层。C/D层掌握前三格，A层加扩展格。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详解B5·个人问责制：先读定义→场景为什么用它→看代码实例→扩展给A层。C/D层掌握前三格，A层加扩展格。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详解B6·时间盒弹性：先读定义→场景为什么用它→看代码实例→扩展给A层。C/D层掌握前三格，A层加扩展格。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现场演示《项目骨架(四类分工)》：三步走——先整段跑通看结果，再逐行讲关键语句，最后现场改一个参数看输出变化（演10分钟的核心素材）。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架构分层讲解：自下而上过一遍数据流向，答辩时按此图讲'系统架构'。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方案对比：三问框架通用——以后每个决策环节都用这三问。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工单发布话术：'精密制造事业部发来工单Z《综合项目终验与预答辩》，及格线是可，优秀线看A层标准'——念完发starter。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错误速查：现场演示第一条——制造「现场装依赖」，带着学生按'现象→原因→解决'三步排查。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四层总览：一页看全四层目标与达标线——学生选层前先看全局。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核对清单：把工单步骤变成checklist，做完勾选——防漏做。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最后一查：五项90秒自查——退回率最低的五个点。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项目6 点滴过往，趣味报告 | 预习知识点：综合项目：数据采集→处理→可视化(matplotlib基础) | 课中检查知识点：能串联12周知识完成综合项目并答辩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评分细则：四级量表逐行读——学生知道自己'到哪条线得多少分'。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FAQ三题：覆盖装包/启动/规范三大高频问题——贴在工单背面。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资源导航：五级求助顺序=工单→starter→指南→notebook→教师。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部分小结：评价收束。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拓展部分：A层必看，B层选看，C/D层课后看——差异化作业。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产业案例：讲一个真实岗位场景，把课堂技能挂到职业坐标系。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思政页：结合本课内容点一个真实案例，30秒即可，不贴标签。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学习策略：四个方法贯穿全学期——第一周讲透，以后每周复用。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进阶路线：把一门课放进三年坐标系——学完这周能走到哪。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达标预期：四层的预期比例——D层100%保底是底线承诺。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预习清单：三项任务5-15分钟——闭环从课前开始。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口袋书：三条概念卡——期末汇总成全册，学生自查工具。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好差对比：两份同功能输出对比——规范分不是白给的。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图谱回顾：回到开课的地图——现在每条分支都走过了。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场景应对：四种状态四种动作——课堂自主运转的说明书。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微课资源：四个自学入口——补弱看微课，拓强看多解法。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答辩预演：每周2分钟练一环——期末不慌。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实录清单：过程性考核的取证清单——学生自查，教师抽查。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多解法页：同一工单三种深度——层不同，解法不同，都算对。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自测答案：逐题讲'为什么'——错题定位到知识卡编号。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一图流总结：五句话收束全天——知识/技能/交付/习惯/明日。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9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0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1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Python编程基础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项目终验联调与预答辩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第十二周 · 第23次课（2课时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CE（编码）+ Jupyter（Pandas数据实验）+ Git/GitHub（每周提交）</a:t>
            </a:r>
          </a:p>
        </p:txBody>
      </p:sp>
      <p:pic>
        <p:nvPicPr>
          <p:cNvPr id="7" name="Picture 6" descr="W12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80分钟时间盒与ABCD分层节奏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带着目标进课堂+两江智造本课剧情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基础知识大卡+代码演示（先例后理）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工单发布·分层执行·避坑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 / 74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本课目录（结构速览）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①课程定位：定位/知识地图/课证赛岗——为什么学这门课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②课堂流程：80分钟时间盒/分层节奏——今天怎么安排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③目标与情境：三维目标/剧情拆解/随堂自测——学什么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④知识精讲：知识卡×应用×深化×代码走读——怎么教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⑤任务实施：工单/四层任务/避坑/核对清单——怎么做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⑥检查评价+⑦拓展：质检/评分/工具箱/一图流——怎么收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74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74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课程定位：Python编程基础（课程标准摘录）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专业核心基础课：面向零基础新生的编程第一课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工业数据采集技术员、边缘计算运维、平台运维员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Python开发（工信部）、AI应用实践、企业应用实施工程师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前：计算机文化基础 → 本课(第1-12周) → 后：AI应用基础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74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项目终验联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调与预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checklist三清单：功能/规范/演示——应用：见工单starter与教师参考实现 · 答辩结构：1分工+5演示+2总结——应用：见工单starter与教师参考实现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bad-case预案：评委必点脏数据——应用：见工单starter与教师参考实现 · 贡献表与Git交叉核对——应用：见工单starter与教师参考实现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按checklist完成终验自查——应用：见工单starter与教师参考实现 · 组内预答辩互问热身——应用：见工单starter与教师参考实现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74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技能线：按checklist完成终验自查——应用：见工单starter与教师参考实现；组内预答辩互问热身——应用：见工单starter与教师参考实现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 / 74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精密制造事业部：工业数据采集技术员、边缘计算运维员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Z《综合项目终验与预答辩》——本课工单即考核单元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Python开发职业技能等级证书（工信部）——本课对应初级操作题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世界职业院校技能大赛（人工智能赛道）数据采集/处理赛项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 / 74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 / 74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123444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74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74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目标：综合运用OOP、容器、文件、第三方库、网络编程知识构建完整系统；理解工业数据处理全流程。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74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目标：能够独立完成系统设计、开发、调试与展示答辩；代码规范率≥90%（优秀≥95%）；能够清晰表达设计思路并回答技术问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达标线：代码能跑+输出符合工单样例=过关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74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目标：体验完整项目交付流程，培养团队协作、时间管理与成果表达的综合职业素养。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怎么养：规范命名/及时提交/报错必究——每个工单都在练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达标线：提交记录连续+命名规范=过关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74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checklist三清单(功能/规范/演示)你组还差哪几项？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预习微课已观看；跟打练习截图已交；PyCharm CE环境正常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74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课前预习与检查（教材衔接 · 上次课回顾）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4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5300000" cy="7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1880000"/>
            <a:ext cx="48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📖 课前预习｜下次课教材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000" y="2650000"/>
            <a:ext cx="4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《Python程序设计项目化教》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项目6 点滴过往，趣味报告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0000" y="376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40000" y="3700000"/>
            <a:ext cx="450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综合项目：数据采集→处理→可视化(matplotli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0000" y="1800000"/>
            <a:ext cx="5360000" cy="44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0000" y="1800000"/>
            <a:ext cx="536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0000" y="1880000"/>
            <a:ext cx="49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✓ 课中检查｜上次课（W11）抽查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00000" y="2800000"/>
            <a:ext cx="900000" cy="4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00000" y="2840000"/>
            <a:ext cx="8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抽查1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50000" y="2760000"/>
            <a:ext cx="386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能写PLC子类继承Device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00000" y="3580000"/>
            <a:ext cx="900000" cy="4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00000" y="3620000"/>
            <a:ext cx="8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抽查2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50000" y="3540000"/>
            <a:ext cx="386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能说出继承复用的好处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380000"/>
            <a:ext cx="4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44546A"/>
                </a:solidFill>
                <a:latin typeface="微软雅黑"/>
              </a:rPr>
              <a:t>抽查方式：随机2人白板演示/口述——答对记过程分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74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题目：checklist三清单(功能/规范/演示)你组还差哪几项？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常见错误：背概念不看场景；看到代码就慌，先读注释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本课回收：这道题的考点会在知识卡X和随堂自测中再次出现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74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答辩日。王主任、方总监和平台吴工都坐在台下。你要交付的，是把12周所学装进一个完整的《工业互联网数据处理系统》——第23次课终验预答辩，第24次课正式答辩。</a:t>
            </a:r>
          </a:p>
        </p:txBody>
      </p:sp>
      <p:pic>
        <p:nvPicPr>
          <p:cNvPr id="9" name="Picture 8" descr="W12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74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任务背景：答辩日。王主任、方总监和平台吴工都坐在台下。你要交付的，是把12周所学装进一个完整的《工业互联网数据处理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冲突点：产线数据量大/格式杂/时限紧——手工做不完，必须编程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决策点：先做什么再做什么？数据从哪来？输出给谁看？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带着这三个问题进入知识精讲——每个知识点都是解药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74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三维目标 → 怎么算达标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综合运用OOP、容器、文件、第三方库、网络编程知识构建完整系统；理解工业数据处理全流程。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能够独立完成系统设计、开发、调试与展示答辩；代码规范率≥90%（优秀≥95%）；能够清晰表达设计思路并回答技术问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体验完整项目交付流程，培养团队协作、时间管理与成果表达的综合职业素养。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达标口径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对应工单Z评分：功能40%+技术25%+规范20%+素养15%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74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74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知识详解：checklist三清单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B01 · checklist三清单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checklist=飞行前检查单：功能/规范/演示逐项打勾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终验不靠记忆靠清单——工程师与飞行员同一套方法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□全部功能可跑 □PEP8规范 □运行截图齐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误区：靠'我觉得都OK'——清单逐项过，漏一项扣一项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74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知识应用（1）：checklist三清单：功能/规范/演示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checklist三清单：功能/规范/演示。在两江智造产线上的用法：见工单starter与教师参考实现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74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知识详解：答辩四段结构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B02 · 答辩四段结构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四段=时间盒：1分钟分工+5分钟演示+2分钟总结+提问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小组答辩8分钟时间盒——超时直接打断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'我们4人分工…→现在演示…→收获是…'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误区：先讲代码再演示——先跑通给结果，评委要有耐心阈值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74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知识详解：bad-case预案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B03 · bad-case预案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bad-case预案=答辩灭火器：评委必点脏数据，提前备好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预演评委可能的刁钻输入——温度=abc不能崩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输入'温度=abc'→友好报错并提示重输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误区：崩溃不扣死分，崩溃无预案才扣——兜底体现工程态度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74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知识详解：贡献表与Git核对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B04 · 贡献表与Git核对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贡献表对Git=口头对台账——谁写的代码提交记录说了算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搭便车识别——贡献与commit交叉验证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贡献表写'数据清洗'→Git查确有对应commit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误区：临时补commit痕迹——时间戳造不了假，证据链闭环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74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知识详解：个人问责制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B05 · 个人问责制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个人问责=随机点名必答题——组分与个人分分开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防止一人干活全组得分——费曼带徒的最终检验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评委点任意成员：'这段函数讲讲为什么这样写'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误区：平时不听答辩现学——讲不清个人分扣，日常费曼才是本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74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知识详解：时间盒弹性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B06 · 时间盒弹性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时间盒弹性=人多就切5+3分钟——超时打断不解释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&gt;6组的答辩时间管理——超时是答辩大忌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提前掐表彩排一遍——5分钟演示里只放亮点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误区：超时想讲完——果断收尾比讲完更得分，评委记节奏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74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项目终验联调与预答辩（1）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综合项目《工业互联网完整数据处理系统》终验联调：按checklist（功能项+规范项+演示项）逐项自查互查；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预答辩热身：组内互问互评（答辩必答题演练：架构、数据流、异常处理）；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完善演示材料（PPT与演示视频第24次课课前提交）；开发主体工作已于第11周启动、课后推进。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74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关键代码：项目骨架(四类分工)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class Collector:      # A: 采集(Modbus/文件)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def collect(self): ...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class Cleaner:        # B: 清洗(三维验证)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def clean(self, rows): ...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class Analyzer:       # C: 分析(阈值+统计)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def analyze(self, rows): ...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class Reporter:       # D: 文档(PDF报告)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def build(self, stats): ...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74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综合系统架构（分层）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2200000" cy="8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040000"/>
            <a:ext cx="22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展示层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000" y="186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10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40000" y="192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仪表盘</a:t>
            </a:r>
          </a:p>
        </p:txBody>
      </p:sp>
      <p:sp>
        <p:nvSpPr>
          <p:cNvPr id="9" name="Rectangle 8"/>
          <p:cNvSpPr/>
          <p:nvPr/>
        </p:nvSpPr>
        <p:spPr>
          <a:xfrm>
            <a:off x="8001000" y="1860000"/>
            <a:ext cx="393192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10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37575" y="1920000"/>
            <a:ext cx="3858768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PDF报告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2760000"/>
            <a:ext cx="220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3000000"/>
            <a:ext cx="22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分析层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000" y="282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0000" y="288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阈值检测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1000" y="2820000"/>
            <a:ext cx="393192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37575" y="2880000"/>
            <a:ext cx="3858768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统计聚合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3720000"/>
            <a:ext cx="2200000" cy="8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3960000"/>
            <a:ext cx="22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数据层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000" y="378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40000" y="384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清洗管道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01000" y="3780000"/>
            <a:ext cx="393192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37575" y="3840000"/>
            <a:ext cx="3858768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SQLite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0000" y="4680000"/>
            <a:ext cx="2200000" cy="88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000" y="4920000"/>
            <a:ext cx="22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采集层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000" y="474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40000" y="480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Modbus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01000" y="4740000"/>
            <a:ext cx="3931920" cy="760000"/>
          </a:xfrm>
          <a:prstGeom prst="rect">
            <a:avLst/>
          </a:prstGeom>
          <a:solidFill>
            <a:srgbClr val="F3F6FD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37575" y="4800000"/>
            <a:ext cx="3858768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文件/模拟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000" y="1800000"/>
            <a:ext cx="20000" cy="374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74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74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答辩预演：必答题分工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题目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主答人</a:t>
            </a:r>
          </a:p>
        </p:txBody>
      </p:sp>
      <p:sp>
        <p:nvSpPr>
          <p:cNvPr id="9" name="Rectangle 8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系统架构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数据流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异常处理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组内每人至少主答1题(个人问责)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74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本课决策题：答辩预演：必答题分工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问②值吗——开发时间/运行速度/可维护性三角权衡（工程账）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74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实施任务：工单Z《综合项目终验与预答辩》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分段验收: 采集→处理→报告模块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checklist自查互查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组内预答辩互问热身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可演示版本+checklist过半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终验全过+演示材料课前提交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74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先看终点（本课目标预览）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参考实现真实运行输出（本课工单·完成态）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=== 综合系统演示 ===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清洗报告: 总60 成功51 问题9 {'缺失': 4, '类型': 3, '范围': 2}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[提示] 21:00:50 运行正常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[警告] 21:00:50 温度80℃/压力0.5MPa超预警线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[警告] 21:00:50 温度94.9℃/压力0.5MPa超预警线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[停机] 21:00:50 温度95℃/压力0.5MPa超危险线, 立即停机!  ×2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报告生成复用 w10() ...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四级达标线（当堂评分）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D·学徒 ≥60 跟做完成核心步骤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C·操作员 ≥70 基础功能完成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B·组长 ≥80 全功能+规范+帮带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关键自检点（对照工单逐项核对）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代码从头跑到尾不报错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输出格式符合工单样例（对齐/单位/小数位）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文件名 学号_姓名_工单号.py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提交规范（过程性证据）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运行截图贴工单过程记录栏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Git 本次课≥1条 commit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互查签字后提交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74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本工单的工程化项目 · 第三种代码形态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项目位置与一键运行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工程化项目/w12_capstone/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python run.py          # 输出 output/report.txt + result.json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python -m pytest -q    # 全量测试应全绿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国标与 TOGAF 落地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GB/T 9385 需求规格 / 15532 测试 / 8567 文档 / 8566 过程组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TOGAF 四域：业务 · 数据 · 应用 · 技术架构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docs/07 ADR-001 架构决策记录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目录结构（23 个文件）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config/rules.yaml      规则外置：改配置不改代码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src/capstone/  config · core · io_utils · report · pipeline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tests/      正常 / 边界 / 异常三档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验收口径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pytest 全绿；run.py 产出报告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改配置不改代码；二次运行结果一致（种子固定）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8 份过程文档齐全 → 可直接构成答辩材料链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74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参与汇报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说清自己做了什么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回答1基础题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反思一页纸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能答基础问题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74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模块讲解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负责模块演示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答1个模块问题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过程记录提交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讲清自己模块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74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答辩主力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8分钟演示彩排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必答题准备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分工说明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答问准确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74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脱稿架构讲解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画架构图脱稿讲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bad-case演示准备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创新点陈述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2分钟讲清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口头架构讲解限时2分钟脱稿——图在心中)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74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分段验收: 采集→处理→报告模块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checklist自查互查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组内预答辩互问热身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演示视频课前提交（≤3分钟），教师预看带问题入场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&gt;6组切换5+3分钟制，超时扣表达分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脏数据bad-case演示必准备（评委必点）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74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现场装依赖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没提前试跑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答辩机预演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只讲不演示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空谈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必须现场运行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超时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没掐表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按5+3彩排两遍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74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D·学徒（≥60）：参与汇报——跟做保底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C·操作员（≥70）：模块讲解——基础完成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B·组长（≥80）：答辩主力——标准达成+帮带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A·师傅（≥90）：脱稿架构讲解——进阶拓展+费曼讲解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规则：每人按工单勾选自己的层；每4周按达标情况动态升降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74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操作核对清单（做完一条勾一条）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步骤1：分段验收: 采集→处理→报告模块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步骤2：checklist自查互查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步骤3：组内预答辩互问热身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全部勾完→同桌互查签字→提交工单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74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输出格式符合工单样例（对齐/单位/小数位）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文件命名：学号_姓名_工单号.py（不对=扣规范分）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运行截图已贴工单过程记录栏（过程性证据）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conda环境正确（提示符显示(py02）再运行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74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74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74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提交物与评分（工单Z）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学号_姓名_Z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74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提交综合项目完整材料：代码、报告、演示视频；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完成课程学习反思（一页纸总结）；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了解后续《AI应用基础》课程衔接内容。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74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工匠精神：规范命名、及时保存、报错必究的编码习惯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工程伦理：数据安全与隐私保护, 不抄代码、引用注明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协作素养：ABCD角色轮换履职, 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74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完成后长这样（真实运行 · 参考实现） · 课末对照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参考实现真实运行输出（本课工单·完成态）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=== 综合系统演示 ===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清洗报告: 总60 成功51 问题9 {'缺失': 4, '类型': 3, '范围': 2}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[提示] 21:00:50 运行正常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[警告] 21:00:50 温度80℃/压力0.5MPa超预警线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[警告] 21:00:50 温度94.9℃/压力0.5MPa超预警线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[停机] 21:00:50 温度95℃/压力0.5MPa超危险线, 立即停机!  ×2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报告生成复用 w10() ...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四级达标线（当堂评分）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D·学徒 ≥60 跟做完成核心步骤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C·操作员 ≥70 基础功能完成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B·组长 ≥80 全功能+规范+帮带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关键自检点（对照工单逐项核对）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代码从头跑到尾不报错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输出格式符合工单样例（对齐/单位/小数位）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文件名 学号_姓名_工单号.py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提交规范（过程性证据）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运行截图贴工单过程记录栏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Git 本次课≥1条 commit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互查签字后提交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74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74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pip装包很慢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配清华镜像：pip config set global.index-url https://pypi.tuna.tsinghua.edu.cn/simple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Jupyter启动不了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先conda activate py02再jupyter notebook；看报错第一行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代码能跑但不规范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对照PEP 8卡：snake_case命名+4空格缩进+f-string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74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Z任务书——步骤/及格线/评分细则都在里面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学生代码框架/——TODO注释即步骤提示，未填也能跑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Jupyter实训/——本周notebook师生版，先跑教师版看答案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做完按Ctrl+K提交推送——每周至少1次，工程素养分依据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74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检查与评价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三层质检：自检→互查签字→教师抽查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评分四级量表+四权重已明确，24小时内平台反馈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课后任务+下次课预告形成学习闭环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74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74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车间设备台账还靠Excel手抄，格式天天错、查找靠肉眼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Python变量+f-string+文件读写，30行代码生成规范台账卡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Z的技能点即其最小实现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下一步：把台账接到数据库（03课P5）/自动采集（02课W11）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74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报错必究——每个红色报错都是产线隐患的预演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协作素养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ABCD轮换履职——师傅带徒弟，贡献表如实填报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代码抄作业=岗位上的'无证驾驶'，害人害己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74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学习策略：这门课怎么学最有效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先例后理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先跑代码看结果，再回头懂原理——PRIMM教学法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费曼技巧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错题资产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每个报错记入错误速查表——期末它是你的复习宝典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提交习惯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小步提交（每完成一步就commit）——回退不求人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74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进阶路线图（从今天的课往哪走）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本周：工单核心技能→下周：组合应用→期末：综合项目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横向：本课技能在03课P项目链中的位置（工程化/全栈）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纵向：证书线——初级操作题→中级工程题（1+X/工信部）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竞赛线：校级选拔→世界职业院校技能大赛（人工智能赛道）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岗位线：跟做学徒→独立操作→带组师傅→产线负责人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74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本周各层达标预期（%）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2600000"/>
            <a:ext cx="1400000" cy="28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D层·跟做保底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3160000"/>
            <a:ext cx="1400000" cy="224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6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C层·基础完成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3720000"/>
            <a:ext cx="1400000" cy="1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316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B层·标准达成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560000"/>
            <a:ext cx="1400000" cy="8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40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A层·进阶拓展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预期≠上限：动态升降制下人人可冲上一层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74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课前预习清单（下次课前完成）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微课知识卡：按checklist完成终验自查——应用：见工单starter与（5分钟视频+导学单）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Jupyter实训notebook：先跑教师版看答案，再试学生版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预习快问：下次课quiz从微课与导学单出题——带着答案来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Git推送本周工单：还没提交的课后补上（周达标率依据）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74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知识口袋书（本课概念速记）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 checklist三清单：功能/规范/演示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 答辩结构：1分工+5演示+2总结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 bad-case预案：评委必点脏数据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用法：睡前30秒过一遍——口袋书越翻越薄，技能越练越厚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74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输出对比：好的 vs 差的（规范从第一课开始）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好的输出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表头对齐·单位齐全·小数位统一·命名规范（snake_case）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差的输出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数字裸奔无单位·列不对齐·temp1/temp2乱命名·中文引号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差多少分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同样的功能——规范20%+素养15%两项就能差出35分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车间台账要给人看——读不懂的输出=没交付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74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项目终验联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调与预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checklist三清单：功能/规范/演示——应用：见工单starter与教师参考实现 · 答辩结构：1分工+5演示+2总结——应用：见工单starter与教师参考实现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按checklist完成终验自查——应用：见工单starter与教师参考实现 · 组内预答辩互问热身——应用：见工单starter与教师参考实现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现场装依赖 · 只讲不演示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工单Z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66 / 74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常见场景应对（卡住了怎么办）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场景①代码报错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读报错最后一行→查错误速查表→还没解决举手（附截图）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场景②不知道做啥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回看操作核对清单□——第一个没勾的就是下一步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场景③做完了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90秒最后一查→Git提交→帮同组D/C层（B层职责）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场景④提前全完成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A层拓展任务→费曼准备→预习下次课微课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67 / 74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微课与自学资源（课后补弱/拓强）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微课知识卡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本周主题：按checklist完成终验自查——应用：见工单starter与——5分钟视频+导学单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数字人版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同内容数字人讲解——喜欢听的换着看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Jupyter师生版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教师版有完整答案——先看懂再独立做学生版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多解法手册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教师参考/多解法手册——同一任务三种深度解法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68 / 74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答辩预演（期末综合项目的彩排）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①30秒讲需求：这个工单解决什么问题、给谁用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②60秒讲方案：数据从哪来→怎么处理→输出什么（三段式）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③60秒讲亮点：我踩过的坑+怎么爬出来的（错误速查表就是素材）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④答辩礼仪：指着屏幕讲，不念稿；被问住就说'这个我课后验证'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从本周开始练——期末答辩=12周彩排的总和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69 / 74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课堂实录清单（过程性考核证据）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运行截图：代码+输出同框（截全不截半）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工单过程栏：步骤勾选+决策理由+自查记录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Git提交：本次课至少1条commit（message规范）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同伴签字：互查通过后签名（讲得清才算会）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四项齐全=过程分满分；缺一项课后24小时内补齐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70 / 74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函数封装+异常处理——可复用，B层路线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向量化/推导式/设计模式——性能优雅，A层路线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先让它跑起来→再让它对→最后让它快（KISS原则）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71 / 74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自测答案与讲解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checklist三清单(功能/规范/演示)你组还差哪几项？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排错题：出现「现场装依赖」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原因：没提前试跑；解决：答辩机预演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checklist三清单：功能/规范/演示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错题怎么办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回看对应知识卡+应用页，再跑一遍starter验证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72 / 74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知识：checklist三清单：功能/规范/演；答辩结构：1分工+5演示+2总结；bad-case预案：评委必点脏数据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技能：按checklist完成终验自查——应用：见工单starter与教师参考实现；组内预答辩互问热身——应用：见工单starter与教师参考实现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交付：工单Z《综合项目终验与预答辩》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习惯：做完就Ctrl+K提交Git——每周至少1次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73 / 74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