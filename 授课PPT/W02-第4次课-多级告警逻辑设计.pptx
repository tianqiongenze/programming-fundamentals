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6" r:id="rId48"/>
    <p:sldId id="298" r:id="rId50"/>
    <p:sldId id="299" r:id="rId51"/>
    <p:sldId id="301" r:id="rId53"/>
    <p:sldId id="304" r:id="rId56"/>
    <p:sldId id="309" r:id="rId61"/>
    <p:sldId id="311" r:id="rId63"/>
    <p:sldId id="312" r:id="rId64"/>
    <p:sldId id="314" r:id="rId66"/>
    <p:sldId id="316" r:id="rId68"/>
    <p:sldId id="318" r:id="rId70"/>
    <p:sldId id="319" r:id="rId71"/>
    <p:sldId id="367" r:id="rId82"/>
    <p:sldId id="368" r:id="rId79"/>
    <p:sldId id="369" r:id="rId77"/>
    <p:sldId id="370" r:id="rId86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2" r:id="rId84"/>
    <p:sldId id="333" r:id="rId85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1" Type="http://schemas.openxmlformats.org/officeDocument/2006/relationships/slide" Target="slides/slide28.xml"/><Relationship Id="rId53" Type="http://schemas.openxmlformats.org/officeDocument/2006/relationships/slide" Target="slides/slide29.xml"/><Relationship Id="rId56" Type="http://schemas.openxmlformats.org/officeDocument/2006/relationships/slide" Target="slides/slide30.xml"/><Relationship Id="rId61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6" Type="http://schemas.openxmlformats.org/officeDocument/2006/relationships/slide" Target="slides/slide34.xml"/><Relationship Id="rId68" Type="http://schemas.openxmlformats.org/officeDocument/2006/relationships/slide" Target="slides/slide35.xml"/><Relationship Id="rId70" Type="http://schemas.openxmlformats.org/officeDocument/2006/relationships/slide" Target="slides/slide36.xml"/><Relationship Id="rId71" Type="http://schemas.openxmlformats.org/officeDocument/2006/relationships/slide" Target="slides/slide37.xml"/><Relationship Id="rId72" Type="http://schemas.openxmlformats.org/officeDocument/2006/relationships/slide" Target="slides/slide40.xml"/><Relationship Id="rId74" Type="http://schemas.openxmlformats.org/officeDocument/2006/relationships/slide" Target="slides/slide41.xml"/><Relationship Id="rId76" Type="http://schemas.openxmlformats.org/officeDocument/2006/relationships/slide" Target="slides/slide42.xml"/><Relationship Id="rId77" Type="http://schemas.openxmlformats.org/officeDocument/2006/relationships/slide" Target="slides/slide78.xml"/><Relationship Id="rId78" Type="http://schemas.openxmlformats.org/officeDocument/2006/relationships/slide" Target="slides/slide43.xml"/><Relationship Id="rId79" Type="http://schemas.openxmlformats.org/officeDocument/2006/relationships/slide" Target="slides/slide39.xml"/><Relationship Id="rId80" Type="http://schemas.openxmlformats.org/officeDocument/2006/relationships/slide" Target="slides/slide44.xml"/><Relationship Id="rId81" Type="http://schemas.openxmlformats.org/officeDocument/2006/relationships/slide" Target="slides/slide45.xml"/><Relationship Id="rId82" Type="http://schemas.openxmlformats.org/officeDocument/2006/relationships/slide" Target="slides/slide38.xml"/><Relationship Id="rId83" Type="http://schemas.openxmlformats.org/officeDocument/2006/relationships/slide" Target="slides/slide46.xml"/><Relationship Id="rId84" Type="http://schemas.openxmlformats.org/officeDocument/2006/relationships/slide" Target="slides/slide47.xml"/><Relationship Id="rId85" Type="http://schemas.openxmlformats.org/officeDocument/2006/relationships/slide" Target="slides/slide48.xml"/><Relationship Id="rId86" Type="http://schemas.openxmlformats.org/officeDocument/2006/relationships/slide" Target="slides/slide79.xml"/><Relationship Id="rId87" Type="http://schemas.openxmlformats.org/officeDocument/2006/relationships/slide" Target="slides/slide49.xml"/><Relationship Id="rId88" Type="http://schemas.openxmlformats.org/officeDocument/2006/relationships/slide" Target="slides/slide50.xml"/><Relationship Id="rId89" Type="http://schemas.openxmlformats.org/officeDocument/2006/relationships/slide" Target="slides/slide51.xml"/><Relationship Id="rId90" Type="http://schemas.openxmlformats.org/officeDocument/2006/relationships/slide" Target="slides/slide52.xml"/><Relationship Id="rId91" Type="http://schemas.openxmlformats.org/officeDocument/2006/relationships/slide" Target="slides/slide53.xml"/><Relationship Id="rId92" Type="http://schemas.openxmlformats.org/officeDocument/2006/relationships/slide" Target="slides/slide54.xml"/><Relationship Id="rId93" Type="http://schemas.openxmlformats.org/officeDocument/2006/relationships/slide" Target="slides/slide55.xml"/><Relationship Id="rId94" Type="http://schemas.openxmlformats.org/officeDocument/2006/relationships/slide" Target="slides/slide56.xml"/><Relationship Id="rId95" Type="http://schemas.openxmlformats.org/officeDocument/2006/relationships/slide" Target="slides/slide57.xml"/><Relationship Id="rId96" Type="http://schemas.openxmlformats.org/officeDocument/2006/relationships/slide" Target="slides/slide58.xml"/><Relationship Id="rId97" Type="http://schemas.openxmlformats.org/officeDocument/2006/relationships/slide" Target="slides/slide59.xml"/><Relationship Id="rId98" Type="http://schemas.openxmlformats.org/officeDocument/2006/relationships/slide" Target="slides/slide60.xml"/><Relationship Id="rId99" Type="http://schemas.openxmlformats.org/officeDocument/2006/relationships/slide" Target="slides/slide61.xml"/><Relationship Id="rId100" Type="http://schemas.openxmlformats.org/officeDocument/2006/relationships/slide" Target="slides/slide62.xml"/><Relationship Id="rId101" Type="http://schemas.openxmlformats.org/officeDocument/2006/relationships/slide" Target="slides/slide63.xml"/><Relationship Id="rId102" Type="http://schemas.openxmlformats.org/officeDocument/2006/relationships/slide" Target="slides/slide64.xml"/><Relationship Id="rId103" Type="http://schemas.openxmlformats.org/officeDocument/2006/relationships/slide" Target="slides/slide65.xml"/><Relationship Id="rId104" Type="http://schemas.openxmlformats.org/officeDocument/2006/relationships/slide" Target="slides/slide66.xml"/><Relationship Id="rId105" Type="http://schemas.openxmlformats.org/officeDocument/2006/relationships/slide" Target="slides/slide67.xml"/><Relationship Id="rId106" Type="http://schemas.openxmlformats.org/officeDocument/2006/relationships/slide" Target="slides/slide68.xml"/><Relationship Id="rId107" Type="http://schemas.openxmlformats.org/officeDocument/2006/relationships/slide" Target="slides/slide69.xml"/><Relationship Id="rId108" Type="http://schemas.openxmlformats.org/officeDocument/2006/relationships/slide" Target="slides/slide70.xml"/><Relationship Id="rId109" Type="http://schemas.openxmlformats.org/officeDocument/2006/relationships/slide" Target="slides/slide71.xml"/><Relationship Id="rId110" Type="http://schemas.openxmlformats.org/officeDocument/2006/relationships/slide" Target="slides/slide72.xml"/><Relationship Id="rId111" Type="http://schemas.openxmlformats.org/officeDocument/2006/relationships/slide" Target="slides/slide73.xml"/><Relationship Id="rId112" Type="http://schemas.openxmlformats.org/officeDocument/2006/relationships/slide" Target="slides/slide74.xml"/><Relationship Id="rId113" Type="http://schemas.openxmlformats.org/officeDocument/2006/relationships/slide" Target="slides/slide75.xml"/><Relationship Id="rId117" Type="http://schemas.openxmlformats.org/officeDocument/2006/relationships/slide" Target="slides/slide76.xml"/><Relationship Id="rId118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开场30秒：本次课《多级告警逻辑设计》，80分钟＝2课时×40分钟。课前已发工单+starter+微课知识卡，资讯·计划线上完成。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详解B1·if/elif/else分支：先读定义→场景为什么用它→看代码实例→扩展给A层。C/D层掌握前三格，A层加扩展格。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详解B2·比较与赋值：先读定义→场景为什么用它→看代码实例→扩展给A层。C/D层掌握前三格，A层加扩展格。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详解B3·逻辑运算and/or/not：先读定义→场景为什么用它→看代码实例→扩展给A层。C/D层掌握前三格，A层加扩展格。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详解B4·嵌套判断：先读定义→场景为什么用它→看代码实例→扩展给A层。C/D层掌握前三格，A层加扩展格。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详解B5·边界值三测法：先读定义→场景为什么用它→看代码实例→扩展给A层。C/D层掌握前三格，A层加扩展格。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详解B6·告警三级分级：先读定义→场景为什么用它→看代码实例→扩展给A层。C/D层掌握前三格，A层加扩展格。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现场演示《两级判断》：三步走——先整段跑通看结果，再逐行讲关键语句，最后现场改一个参数看输出变化（演10分钟的核心素材）。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工单发布话术：'精密制造事业部发来工单0.2a《工业实时告警系统Ⅰ》，及格线是≥，优秀线看A层标准'——念完发starter。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错误速查：现场演示第一条——制造「95分支永不执行」，带着学生按'现象→原因→解决'三步排查。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初来乍到，请多关照 | 预习知识点：字符串格式化(f-string/format)；运算符与表达式 | 课中检查知识点：能写出f'{dev}温度{temp:.1f}℃'；能区分==与is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多级告警逻辑设计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多级告警逻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辑设计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and/or/not组合条件(加括号)——应用：if temp&gt;=80 and vib&gt;4.5: 报警——两个条件同时满足才触发 · 嵌套判断：先危险后预警的顺序——应用：先if level=='alarm'再if device=='PUMP'——先筛高危再定位设备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0.2a《工业实时告警系统Ⅰ》——本课工单即考核单元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目标：能够编写含多条件嵌套判断的工业监测程序；能够设计≥1个告警函数；代码规范率≥70%。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目标：培养严谨的逻辑思维（边界条件全覆盖），树立工业安全“宁可信其有”的告警意识。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elif顺序写反会发生什么？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项目1 初来乍到，请多关照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字符串格式化(f-string/format)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运算符与表达式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课中检查｜上次课（W1）抽查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能独立打开IDE并运行print('hello'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能说出int/float/str的区别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题目：elif顺序写反会发生什么？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夜班险情：2号注塑机温度悄悄爬过95℃没人察觉，幸亏李姐巡逻撞见。王主任后怕：'机器得自己会喊疼。'——工单0.2a：写多级温度/压力告警判断，先让程序学会'什么时候该喊'。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任务背景：夜班险情：2号注塑机温度悄悄爬过95℃没人察觉，幸亏李姐巡逻撞见。王主任后怕：'机器得自己会喊疼。'——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掌握if/elif/else条件判断结构；掌握逻辑运算符组合条件的方法；理解多级告警的业务分级逻辑。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能够编写含多条件嵌套判断的工业监测程序；能够设计≥1个告警函数；代码规范率≥70%。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培养严谨的逻辑思维（边界条件全覆盖），树立工业安全“宁可信其有”的告警意识。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对应工单0.2a评分：功能40%+技术25%+规范20%+素养15%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知识详解：if/elif/else分支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if/elif/else分支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程序岔路口：if问一句'满不满足'，满足走这条路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温度超限告警/振动分级——车间判断全走岔路口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temp&gt;=80: print('报警') else: print('正常')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误区：缩进漏4空格→IndentationError——缩进即语法不是美观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知识应用（1）：if/elif/else分支；缩进即语法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if/elif/else分支；缩进即语法。在两江智造产线上的用法：见工单starter与教师参考实现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知识详解：比较与赋值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比较与赋值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=是'装进去'，==是'比一比'——一横之差意思全变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告警判断写错=误操作——if temp=80直接语法错误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temp == 80: print('到限')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误区：=写进if→SyntaxError；比较浮点用差值&lt;1e-6不用==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知识详解：逻辑运算and/or/not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逻辑运算and/or/not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and同真才真/or一真即真/not翻面——复杂条件加括号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温度高且振动大才停机——多条件联锁判断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(temp&gt;=80) and (vib&gt;4.5): 停机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误区：优先级记不清就全加括号——and比or优先，加括号最稳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知识应用（3）：and/or/not组合条件(加括号)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and/or/not组合条件(加括号)。在两江智造产线上的用法：if temp&gt;=80 and vib&gt;4.5: 报警——两个条件同时满足才触发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temp&gt;=80 and vib&gt;4.5: 报警——两个条件同时满足才触发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知识详解：嵌套判断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嵌套判断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if里套if=先粗筛再细筛——像分拣机先挑大类再细分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先筛高危设备再定位具体泵——排查有先后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level=='alarm': 里层 if device=='PUMP-03'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误区：嵌套超2层读不动——再深就抽函数（下节课）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知识应用（4）：嵌套判断：先危险后预警的顺序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嵌套判断：先危险后预警的顺序。在两江智造产线上的用法：先if level=='alarm'再if device=='PUMP'——先筛高危再定位设备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先if level=='alarm'再if device=='PUMP'——先筛高危再定位设备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知识详解：边界值三测法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边界值三测法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边界三测：限值前/限值上/限值后各测一遍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阈值80到底&gt;=还是&gt;——79.9/80/80.1三发子弹裁决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80报不报？&gt;=80报 → 与'≥80报警'工艺单一致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误区：只测中间值——工业验收规定边界必测，&gt;=和&gt;差一台停机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知识详解：告警三级分级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告警三级分级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提示=记本子/警告=喊人/停机=自动断——轻重分级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车间告警不能一刀切——分级响应才能不漏不大惊小怪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&gt;=90停机 / &gt;=80警告 / &gt;=70提示（elif顺序）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误区：elif从严到窄写——先写&gt;=70会把90也截走，顺序即逻辑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设计alarm告警函数——应用：见工单starter与教师参考实现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边界五组全覆盖测试——应用：见工单starter与教师参考实现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用流程图先行梳理分支——应用：见工单starter与教师参考实现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多级告警逻辑设计（1）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工业实时告警场景分析：阈值设定、告警分级、响应措施；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工单项目0.2（上）实操：实现≥2个if条件判断的设备监测程序；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常见错误预防：缩进错误、条件覆盖遗漏、“=”与“==”混淆。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关键代码：两级判断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if temp &gt;= 95: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alarm(3, f"温度{temp}℃超危险线，停机！")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elif temp &gt;= 80: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alarm(2, f"温度{temp}℃超预警线")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else: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alarm(1, "运行正常")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实施任务：工单0.2a《工业实时告警系统Ⅰ》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温度+压力组合条件(and/or加括号)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同时超限升级“紧急”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整理边界条件覆盖表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≥2个if判断+1个告警函数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嵌套清晰；边界表完整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AST if 4 处 + alarm(level,msg) 1 个 ｜ 边界五组实测 5/5 全对 ｜ 嵌套深度 2 层 ｜ 提示/警告/停机实测 3/3 ｜ 循环实测设备 3 台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规范率门槛≥70% [达标] ｜ 功能OK ｜ ≥2 个 if 判断 + 1 个告警函数 alarm(level, msg)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规范率门槛: 工单未设 [达标] ｜ 功能OK ｜ 边界五组测试全对（79.9/80/94.9/95/100 逐组核对）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规范率门槛≥85% [达标] ｜ 功能OK ｜ 多条件嵌套（提示/警告/停机三级）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规范率门槛≥85% [达标] ｜ 功能OK ｜ 达 B 且循环测试 3 台设备（为 W3 铺垫）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紧急级告警必须立即停机并回填工单；去重抑制 2 条属预期行为（防刷屏）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嵌套三级实测覆盖级别: emergency/normal/warning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A 档循环测试设备 3 台；边界用例 10 组（温度 5 + 压力 5）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工程化项目/w02_alarm_engine/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src/alarm_engine/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跟做改值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把80改成75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观察输出变化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能改阈值再跑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规范率门槛≥70%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单级判断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温度≥80判断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输出告警信息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测试79.9/80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两组边界通过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规范率门槛: 工单未设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两级判断完整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80/95双阈值判断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alarm函数封装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五组边界测试输出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边界五组通过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三级告警+去重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温度压力同时超限升紧急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同设备同级10秒去重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告警写alarm.log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边界全对+日志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为alarm加日志级别参数，输出同时写文件alarm.log)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规范率门槛≥85%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温度+压力组合条件(and/or加括号)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同时超限升级“紧急”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整理边界条件覆盖表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函数定义放循环外，别在循环里重复定义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return没写=返回None，打印结果注意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日志时间戳用time.strftime('%H:%M:%S')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95分支永不执行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elif顺序反了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先判危险再预警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=用在条件里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语法错误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改==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边界80落错分支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用了&gt;而非&gt;=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按需求选&gt;=/&gt;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D·学徒（≥60）：跟做改值——跟做保底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C·操作员（≥70）：单级判断——基础完成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B·组长（≥80）：两级判断完整——标准达成+帮带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A·师傅（≥90）：三级告警+去重——进阶拓展+费曼讲解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步骤1：温度+压力组合条件(and/or加括号)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步骤2：同时超限升级“紧急”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步骤3：整理边界条件覆盖表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完成工单项目0.2（上）：实现≥2个if条件判断、设计≥1个告警函数；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手绘多级告警流程图一张并标注边界条件；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预习for/while循环结构。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[提示] 21:00:37 运行正常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温度80℃/压力0.5MPa超预警线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[警告] 21:00:37 温度94.9℃/压力0.5MPa超预警线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[停机] 21:00:37 温度95℃/压力0.5MPa超危险线, 立即停机!  ×2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0.2a的技能点即其最小实现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微课知识卡：编写多级阈值判断逻辑——应用：见工单starter与教师参考实现（5分钟视频+导学单）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if/elif/else分支；缩进即语法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比较运算==/!=/&gt;=/&lt;=；=是赋值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and/or/not组合条件(加括号)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79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79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多级告警逻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辑设计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if/elif/else分支；缩进即语法——应用：见工单starter与教师参考实现 · 比较运算==/!=/&gt;=/&lt;=；=是赋值——应用：见工单starter与教师参考实现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编写多级阈值判断逻辑——应用：见工单starter与教师参考实现 · 设计alarm告警函数——应用：见工单starter与教师参考实现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95分支永不执行 · =用在条件里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79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79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本周主题：编写多级阈值判断逻辑——应用：见工单starter与教师参考实现——5分钟视频+导学单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79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79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79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79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elif顺序写反会发生什么？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排错题：出现「95分支永不执行」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原因：elif顺序反了；解决：先判危险再预警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if/elif/else分支；缩进即语法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79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知识：if/elif/else分支；缩进即语法；比较运算==/!=/&gt;=/&lt;=；=是赋值；and/or/not组合条件(加括号)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技能：编写多级阈值判断逻辑——应用：见工单starter与教师参考实现；设计alarm告警函数——应用：见工单starter与教师参考实现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交付：工单0.2a《工业实时告警系统Ⅰ》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79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79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双层循环模拟多设备多周期——应用：见工单star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w02_alarm_engine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AST if 4 处 + alarm(level,msg) 1 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边界五组实测 5/5 全对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嵌套深度 2 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提示/警告/停机实测 3/3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循环实测设备 3 台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≥2 个 if 判断 + 1 个告警函数 alarm(level, msg)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规范率门槛≥70%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边界五组测试全对（79.9/80/94.9/95/100 逐组核对）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规范率门槛: 工单未设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多条件嵌套（提示/警告/停机三级）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 B 且循环测试 3 台设备（为 W3 铺垫）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规范率门槛≥85%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4E16"/>
                </a:solidFill>
                <a:latin typeface="微软雅黑"/>
              </a:rPr>
              <a:t>人工答辩项 0 条：四档门槛均由代码实测判定</a:t>
            </a:r>
          </a:p>
          <a:p>
            <a:r>
              <a:rPr sz="10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w02_alarm_engine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项目：02-程序设计基础/工程化项目/w02_alarm_engine/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10:46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工具/ppt97/evidence/w02_alarm_engine/（capture97.py 真跑捕获，未改写数字）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